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5" roundtripDataSignature="AMtx7miuCAetMeNetJ8RfDlrTTLQgOsX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7dca1176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7dca1176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7dca11763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7dca11763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 name="Shape 9"/>
        <p:cNvGrpSpPr/>
        <p:nvPr/>
      </p:nvGrpSpPr>
      <p:grpSpPr>
        <a:xfrm>
          <a:off x="0" y="0"/>
          <a:ext cx="0" cy="0"/>
          <a:chOff x="0" y="0"/>
          <a:chExt cx="0" cy="0"/>
        </a:xfrm>
      </p:grpSpPr>
      <p:sp>
        <p:nvSpPr>
          <p:cNvPr id="10" name="Google Shape;10;p1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1" name="Google Shape;1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 name="Google Shape;14;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5" name="Google Shape;15;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2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8" name="Google Shape;18;p2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9" name="Google Shape;19;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title"/>
          </p:nvPr>
        </p:nvSpPr>
        <p:spPr>
          <a:xfrm>
            <a:off x="311700" y="1828950"/>
            <a:ext cx="8520600" cy="148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4400"/>
              <a:t>Chapter 3 - Knowledge Sharing</a:t>
            </a:r>
            <a:endParaRPr sz="4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Contents:</a:t>
            </a:r>
            <a:endParaRPr b="1"/>
          </a:p>
        </p:txBody>
      </p:sp>
      <p:sp>
        <p:nvSpPr>
          <p:cNvPr id="60" name="Google Shape;60;p2"/>
          <p:cNvSpPr txBox="1"/>
          <p:nvPr>
            <p:ph idx="1" type="body"/>
          </p:nvPr>
        </p:nvSpPr>
        <p:spPr>
          <a:xfrm>
            <a:off x="311700" y="961275"/>
            <a:ext cx="8520600" cy="39774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Clr>
                <a:schemeClr val="dk1"/>
              </a:buClr>
              <a:buSzPts val="2400"/>
              <a:buChar char="➢"/>
            </a:pPr>
            <a:r>
              <a:rPr lang="en" sz="2400">
                <a:solidFill>
                  <a:schemeClr val="dk1"/>
                </a:solidFill>
              </a:rPr>
              <a:t>Challenges to learning</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 sz="2400">
                <a:solidFill>
                  <a:schemeClr val="dk1"/>
                </a:solidFill>
              </a:rPr>
              <a:t>Philosophy of Software Engineering</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 sz="2400">
                <a:solidFill>
                  <a:schemeClr val="dk1"/>
                </a:solidFill>
              </a:rPr>
              <a:t>Psychological Safety and Mentorship in Software Teams</a:t>
            </a:r>
            <a:endParaRPr sz="2400">
              <a:solidFill>
                <a:schemeClr val="dk1"/>
              </a:solidFill>
            </a:endParaRPr>
          </a:p>
          <a:p>
            <a:pPr indent="-381000" lvl="0" marL="457200" rtl="0" algn="l">
              <a:lnSpc>
                <a:spcPct val="100000"/>
              </a:lnSpc>
              <a:spcBef>
                <a:spcPts val="0"/>
              </a:spcBef>
              <a:spcAft>
                <a:spcPts val="0"/>
              </a:spcAft>
              <a:buClr>
                <a:schemeClr val="dk1"/>
              </a:buClr>
              <a:buSzPts val="2400"/>
              <a:buChar char="➢"/>
            </a:pPr>
            <a:r>
              <a:rPr lang="en" sz="2400">
                <a:solidFill>
                  <a:schemeClr val="dk1"/>
                </a:solidFill>
              </a:rPr>
              <a:t>Growing Your Knowledge: A Culture of Continuous Learning</a:t>
            </a:r>
            <a:endParaRPr sz="2400">
              <a:solidFill>
                <a:schemeClr val="dk1"/>
              </a:solidFill>
            </a:endParaRPr>
          </a:p>
          <a:p>
            <a:pPr indent="-381000" lvl="0" marL="457200" rtl="0" algn="l">
              <a:lnSpc>
                <a:spcPct val="100000"/>
              </a:lnSpc>
              <a:spcBef>
                <a:spcPts val="0"/>
              </a:spcBef>
              <a:spcAft>
                <a:spcPts val="0"/>
              </a:spcAft>
              <a:buClr>
                <a:schemeClr val="dk1"/>
              </a:buClr>
              <a:buSzPts val="2400"/>
              <a:buChar char="➢"/>
            </a:pPr>
            <a:r>
              <a:rPr lang="en" sz="2400">
                <a:solidFill>
                  <a:schemeClr val="dk1"/>
                </a:solidFill>
              </a:rPr>
              <a:t>Scaling Your Questions – Ask the Community</a:t>
            </a:r>
            <a:endParaRPr sz="2400">
              <a:solidFill>
                <a:schemeClr val="dk1"/>
              </a:solidFill>
            </a:endParaRPr>
          </a:p>
          <a:p>
            <a:pPr indent="-381000" lvl="0" marL="457200" rtl="0" algn="l">
              <a:lnSpc>
                <a:spcPct val="100000"/>
              </a:lnSpc>
              <a:spcBef>
                <a:spcPts val="0"/>
              </a:spcBef>
              <a:spcAft>
                <a:spcPts val="0"/>
              </a:spcAft>
              <a:buClr>
                <a:schemeClr val="dk1"/>
              </a:buClr>
              <a:buSzPts val="2400"/>
              <a:buChar char="➢"/>
            </a:pPr>
            <a:r>
              <a:rPr lang="en" sz="2400">
                <a:solidFill>
                  <a:schemeClr val="dk1"/>
                </a:solidFill>
              </a:rPr>
              <a:t>What is Documentation?</a:t>
            </a:r>
            <a:endParaRPr sz="2400">
              <a:solidFill>
                <a:schemeClr val="dk1"/>
              </a:solidFill>
            </a:endParaRPr>
          </a:p>
          <a:p>
            <a:pPr indent="-381000" lvl="0" marL="457200" rtl="0" algn="l">
              <a:lnSpc>
                <a:spcPct val="100000"/>
              </a:lnSpc>
              <a:spcBef>
                <a:spcPts val="0"/>
              </a:spcBef>
              <a:spcAft>
                <a:spcPts val="0"/>
              </a:spcAft>
              <a:buClr>
                <a:schemeClr val="dk1"/>
              </a:buClr>
              <a:buSzPts val="2400"/>
              <a:buChar char="➢"/>
            </a:pPr>
            <a:r>
              <a:rPr lang="en" sz="2400">
                <a:solidFill>
                  <a:schemeClr val="dk1"/>
                </a:solidFill>
              </a:rPr>
              <a:t>Code as a Knowledge - Sharing Tool</a:t>
            </a:r>
            <a:endParaRPr sz="2400">
              <a:solidFill>
                <a:schemeClr val="dk1"/>
              </a:solidFill>
            </a:endParaRPr>
          </a:p>
          <a:p>
            <a:pPr indent="-381000" lvl="0" marL="457200" rtl="0" algn="l">
              <a:lnSpc>
                <a:spcPct val="100000"/>
              </a:lnSpc>
              <a:spcBef>
                <a:spcPts val="0"/>
              </a:spcBef>
              <a:spcAft>
                <a:spcPts val="0"/>
              </a:spcAft>
              <a:buClr>
                <a:schemeClr val="dk1"/>
              </a:buClr>
              <a:buSzPts val="2400"/>
              <a:buChar char="➢"/>
            </a:pPr>
            <a:r>
              <a:rPr lang="en" sz="2400">
                <a:solidFill>
                  <a:schemeClr val="dk1"/>
                </a:solidFill>
              </a:rPr>
              <a:t>Readability at Google: Mentorship Through Code Review</a:t>
            </a:r>
            <a:endParaRPr sz="24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b="1" lang="en"/>
              <a:t>Overview:</a:t>
            </a:r>
            <a:endParaRPr/>
          </a:p>
        </p:txBody>
      </p:sp>
      <p:sp>
        <p:nvSpPr>
          <p:cNvPr id="66" name="Google Shape;66;p3"/>
          <p:cNvSpPr txBox="1"/>
          <p:nvPr>
            <p:ph idx="1" type="body"/>
          </p:nvPr>
        </p:nvSpPr>
        <p:spPr>
          <a:xfrm>
            <a:off x="311700" y="1061725"/>
            <a:ext cx="8520600" cy="35073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b="1" lang="en" sz="1600">
                <a:solidFill>
                  <a:srgbClr val="0000FF"/>
                </a:solidFill>
              </a:rPr>
              <a:t>This chapter deals with leveraging expertise, creating mechanisms for knowledge distribution, and fostering a culture of learning built on psychological safety.</a:t>
            </a:r>
            <a:endParaRPr b="1" sz="1600">
              <a:solidFill>
                <a:srgbClr val="0000FF"/>
              </a:solidFill>
            </a:endParaRPr>
          </a:p>
          <a:p>
            <a:pPr indent="-342900" lvl="0" marL="457200" rtl="0" algn="l">
              <a:lnSpc>
                <a:spcPct val="115000"/>
              </a:lnSpc>
              <a:spcBef>
                <a:spcPts val="1200"/>
              </a:spcBef>
              <a:spcAft>
                <a:spcPts val="0"/>
              </a:spcAft>
              <a:buClr>
                <a:schemeClr val="dk1"/>
              </a:buClr>
              <a:buSzPts val="1800"/>
              <a:buChar char="●"/>
            </a:pPr>
            <a:r>
              <a:rPr lang="en">
                <a:solidFill>
                  <a:schemeClr val="dk1"/>
                </a:solidFill>
              </a:rPr>
              <a:t>Organizations understand their </a:t>
            </a:r>
            <a:r>
              <a:rPr b="1" lang="en">
                <a:solidFill>
                  <a:schemeClr val="dk1"/>
                </a:solidFill>
              </a:rPr>
              <a:t>problem domain</a:t>
            </a:r>
            <a:r>
              <a:rPr lang="en">
                <a:solidFill>
                  <a:schemeClr val="dk1"/>
                </a:solidFill>
              </a:rPr>
              <a:t> better than outsiders.</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Most questions can be answered </a:t>
            </a:r>
            <a:r>
              <a:rPr b="1" lang="en">
                <a:solidFill>
                  <a:schemeClr val="dk1"/>
                </a:solidFill>
              </a:rPr>
              <a:t>internally</a:t>
            </a:r>
            <a:r>
              <a:rPr lang="en">
                <a:solidFill>
                  <a:schemeClr val="dk1"/>
                </a:solidFill>
              </a:rPr>
              <a:t> with the right expertise.</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Key requirements:</a:t>
            </a:r>
            <a:endParaRPr>
              <a:solidFill>
                <a:schemeClr val="dk1"/>
              </a:solidFill>
            </a:endParaRPr>
          </a:p>
          <a:p>
            <a:pPr indent="-342900" lvl="1" marL="914400" rtl="0" algn="l">
              <a:lnSpc>
                <a:spcPct val="115000"/>
              </a:lnSpc>
              <a:spcBef>
                <a:spcPts val="0"/>
              </a:spcBef>
              <a:spcAft>
                <a:spcPts val="0"/>
              </a:spcAft>
              <a:buClr>
                <a:schemeClr val="dk1"/>
              </a:buClr>
              <a:buSzPts val="1800"/>
              <a:buChar char="○"/>
            </a:pPr>
            <a:r>
              <a:rPr b="1" lang="en" sz="1800">
                <a:solidFill>
                  <a:schemeClr val="dk1"/>
                </a:solidFill>
              </a:rPr>
              <a:t>Experts</a:t>
            </a:r>
            <a:r>
              <a:rPr lang="en" sz="1800">
                <a:solidFill>
                  <a:schemeClr val="dk1"/>
                </a:solidFill>
              </a:rPr>
              <a:t> who know the answers.</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b="1" lang="en" sz="1800">
                <a:solidFill>
                  <a:schemeClr val="dk1"/>
                </a:solidFill>
              </a:rPr>
              <a:t>Knowledge-sharing mechanisms</a:t>
            </a:r>
            <a:r>
              <a:rPr lang="en" sz="1800">
                <a:solidFill>
                  <a:schemeClr val="dk1"/>
                </a:solidFill>
              </a:rPr>
              <a:t> (Q&amp;A, documentation, tutorials, classes).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Success depends on building a </a:t>
            </a:r>
            <a:r>
              <a:rPr b="1" lang="en">
                <a:solidFill>
                  <a:schemeClr val="dk1"/>
                </a:solidFill>
              </a:rPr>
              <a:t>culture of learning</a:t>
            </a:r>
            <a:r>
              <a:rPr lang="en">
                <a:solidFill>
                  <a:schemeClr val="dk1"/>
                </a:solidFill>
              </a:rPr>
              <a:t>, supported by </a:t>
            </a:r>
            <a:r>
              <a:rPr b="1" lang="en">
                <a:solidFill>
                  <a:schemeClr val="dk1"/>
                </a:solidFill>
              </a:rPr>
              <a:t>psychological safety</a:t>
            </a:r>
            <a:r>
              <a:rPr lang="en">
                <a:solidFill>
                  <a:schemeClr val="dk1"/>
                </a:solidFill>
              </a:rPr>
              <a:t> that allows people to admit gaps in knowledge.</a:t>
            </a:r>
            <a:endParaRPr>
              <a:solidFill>
                <a:schemeClr val="dk1"/>
              </a:solidFill>
            </a:endParaRPr>
          </a:p>
          <a:p>
            <a:pPr indent="0" lvl="0" marL="0" rtl="0" algn="l">
              <a:lnSpc>
                <a:spcPct val="115000"/>
              </a:lnSpc>
              <a:spcBef>
                <a:spcPts val="0"/>
              </a:spcBef>
              <a:spcAft>
                <a:spcPts val="1200"/>
              </a:spcAft>
              <a:buSzPts val="1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Challenges to Learning:</a:t>
            </a:r>
            <a:endParaRPr b="1"/>
          </a:p>
        </p:txBody>
      </p:sp>
      <p:sp>
        <p:nvSpPr>
          <p:cNvPr id="72" name="Google Shape;72;p4"/>
          <p:cNvSpPr txBox="1"/>
          <p:nvPr>
            <p:ph idx="1" type="body"/>
          </p:nvPr>
        </p:nvSpPr>
        <p:spPr>
          <a:xfrm>
            <a:off x="311700" y="1152475"/>
            <a:ext cx="8520600" cy="404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rPr b="1" lang="en" sz="1900">
                <a:solidFill>
                  <a:srgbClr val="0000FF"/>
                </a:solidFill>
              </a:rPr>
              <a:t>Sharing expertise across an organization is not an easy task. Without a strong culture of learning, challenges can emerge: </a:t>
            </a:r>
            <a:endParaRPr b="1" sz="1900">
              <a:solidFill>
                <a:srgbClr val="0000FF"/>
              </a:solidFill>
            </a:endParaRPr>
          </a:p>
          <a:p>
            <a:pPr indent="-349250" lvl="0" marL="457200" rtl="0" algn="l">
              <a:lnSpc>
                <a:spcPct val="115000"/>
              </a:lnSpc>
              <a:spcBef>
                <a:spcPts val="1200"/>
              </a:spcBef>
              <a:spcAft>
                <a:spcPts val="0"/>
              </a:spcAft>
              <a:buClr>
                <a:schemeClr val="dk1"/>
              </a:buClr>
              <a:buSzPts val="1900"/>
              <a:buChar char="➢"/>
            </a:pPr>
            <a:r>
              <a:rPr b="1" lang="en" sz="1900">
                <a:solidFill>
                  <a:srgbClr val="0000FF"/>
                </a:solidFill>
              </a:rPr>
              <a:t>Lack of psychological safety</a:t>
            </a:r>
            <a:r>
              <a:rPr lang="en" sz="1900">
                <a:solidFill>
                  <a:srgbClr val="0000FF"/>
                </a:solidFill>
              </a:rPr>
              <a:t>:</a:t>
            </a:r>
            <a:r>
              <a:rPr lang="en" sz="1900">
                <a:solidFill>
                  <a:schemeClr val="dk1"/>
                </a:solidFill>
              </a:rPr>
              <a:t> An environment in which people are afraid to take risks or make mistakes in front of others because they fear being punished for it.</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 sz="1900">
                <a:solidFill>
                  <a:srgbClr val="0000FF"/>
                </a:solidFill>
              </a:rPr>
              <a:t>Information islands</a:t>
            </a:r>
            <a:r>
              <a:rPr lang="en" sz="1900">
                <a:solidFill>
                  <a:srgbClr val="0000FF"/>
                </a:solidFill>
              </a:rPr>
              <a:t>:</a:t>
            </a:r>
            <a:r>
              <a:rPr lang="en" sz="1900">
                <a:solidFill>
                  <a:schemeClr val="dk1"/>
                </a:solidFill>
              </a:rPr>
              <a:t> Knowledge fragmentation that occurs in different parts of an organization that don’t communicate with one another or use shared resources. In such an environment, each group develops its own way of doing things.</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 sz="1900">
                <a:solidFill>
                  <a:srgbClr val="0000FF"/>
                </a:solidFill>
              </a:rPr>
              <a:t>Single point of failure (SPOF)</a:t>
            </a:r>
            <a:r>
              <a:rPr lang="en" sz="1900">
                <a:solidFill>
                  <a:srgbClr val="0000FF"/>
                </a:solidFill>
              </a:rPr>
              <a:t>:</a:t>
            </a:r>
            <a:r>
              <a:rPr lang="en" sz="1900">
                <a:solidFill>
                  <a:schemeClr val="dk1"/>
                </a:solidFill>
              </a:rPr>
              <a:t> A bottleneck that occurs when critical information is available from only a single person.</a:t>
            </a:r>
            <a:endParaRPr sz="1900">
              <a:solidFill>
                <a:schemeClr val="dk1"/>
              </a:solidFill>
            </a:endParaRPr>
          </a:p>
          <a:p>
            <a:pPr indent="0" lvl="0" marL="0" rtl="0" algn="l">
              <a:lnSpc>
                <a:spcPct val="115000"/>
              </a:lnSpc>
              <a:spcBef>
                <a:spcPts val="1200"/>
              </a:spcBef>
              <a:spcAft>
                <a:spcPts val="0"/>
              </a:spcAft>
              <a:buSzPts val="1800"/>
              <a:buNone/>
            </a:pPr>
            <a:r>
              <a:t/>
            </a:r>
            <a:endParaRPr sz="1700">
              <a:solidFill>
                <a:schemeClr val="dk1"/>
              </a:solidFill>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b="1" lang="en"/>
              <a:t>Challenges to Learning (cont…):</a:t>
            </a:r>
            <a:endParaRPr b="1"/>
          </a:p>
        </p:txBody>
      </p:sp>
      <p:sp>
        <p:nvSpPr>
          <p:cNvPr id="78" name="Google Shape;78;p5"/>
          <p:cNvSpPr txBox="1"/>
          <p:nvPr>
            <p:ph idx="1" type="body"/>
          </p:nvPr>
        </p:nvSpPr>
        <p:spPr>
          <a:xfrm>
            <a:off x="311700" y="1152475"/>
            <a:ext cx="8520600" cy="41040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1200"/>
              </a:spcBef>
              <a:spcAft>
                <a:spcPts val="0"/>
              </a:spcAft>
              <a:buClr>
                <a:schemeClr val="dk1"/>
              </a:buClr>
              <a:buSzPts val="1900"/>
              <a:buChar char="➢"/>
            </a:pPr>
            <a:r>
              <a:rPr b="1" lang="en" sz="1900">
                <a:solidFill>
                  <a:srgbClr val="0000FF"/>
                </a:solidFill>
              </a:rPr>
              <a:t>All-or-nothing expertise</a:t>
            </a:r>
            <a:r>
              <a:rPr lang="en" sz="1900">
                <a:solidFill>
                  <a:srgbClr val="0000FF"/>
                </a:solidFill>
              </a:rPr>
              <a:t>:</a:t>
            </a:r>
            <a:r>
              <a:rPr lang="en" sz="1900">
                <a:solidFill>
                  <a:schemeClr val="dk1"/>
                </a:solidFill>
              </a:rPr>
              <a:t> A group of people that is split between people who know “everything” and who are “new”, with little middle ground. This problem often reinforces itself if experts always do everything themselves and don’t take the time to develop new experts through mentoring or documentation.</a:t>
            </a:r>
            <a:endParaRPr b="1"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 sz="1900">
                <a:solidFill>
                  <a:srgbClr val="0000FF"/>
                </a:solidFill>
              </a:rPr>
              <a:t>Parroting</a:t>
            </a:r>
            <a:r>
              <a:rPr lang="en" sz="1900">
                <a:solidFill>
                  <a:srgbClr val="0000FF"/>
                </a:solidFill>
              </a:rPr>
              <a:t>:</a:t>
            </a:r>
            <a:r>
              <a:rPr lang="en" sz="1900">
                <a:solidFill>
                  <a:schemeClr val="dk1"/>
                </a:solidFill>
              </a:rPr>
              <a:t> Mimicry without understanding. This is typically characterized by mindlessly copying patterns or code without understanding their purpose.</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 sz="1900">
                <a:solidFill>
                  <a:srgbClr val="0000FF"/>
                </a:solidFill>
              </a:rPr>
              <a:t>Haunted graveyards</a:t>
            </a:r>
            <a:r>
              <a:rPr lang="en" sz="1900">
                <a:solidFill>
                  <a:srgbClr val="0000FF"/>
                </a:solidFill>
              </a:rPr>
              <a:t>:</a:t>
            </a:r>
            <a:r>
              <a:rPr lang="en" sz="1900">
                <a:solidFill>
                  <a:schemeClr val="dk1"/>
                </a:solidFill>
              </a:rPr>
              <a:t> Places, often in code, that people avoid touching or changing because they are afraid that something might go wrong.</a:t>
            </a:r>
            <a:endParaRPr sz="1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900">
                <a:solidFill>
                  <a:schemeClr val="dk1"/>
                </a:solidFill>
              </a:rPr>
              <a:t>An enormous part of learning is being able to try things and feeling safe to fail.</a:t>
            </a:r>
            <a:endParaRPr sz="1900">
              <a:solidFill>
                <a:schemeClr val="dk1"/>
              </a:solidFill>
            </a:endParaRPr>
          </a:p>
          <a:p>
            <a:pPr indent="0" lvl="0" marL="0" rtl="0" algn="l">
              <a:lnSpc>
                <a:spcPct val="115000"/>
              </a:lnSpc>
              <a:spcBef>
                <a:spcPts val="1200"/>
              </a:spcBef>
              <a:spcAft>
                <a:spcPts val="1200"/>
              </a:spcAft>
              <a:buSzPts val="1800"/>
              <a:buNone/>
            </a:pPr>
            <a:r>
              <a:t/>
            </a:r>
            <a:endParaRPr sz="17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g37dca11763f_0_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Haunting Graveyard </a:t>
            </a:r>
            <a:endParaRPr/>
          </a:p>
        </p:txBody>
      </p:sp>
      <p:sp>
        <p:nvSpPr>
          <p:cNvPr id="84" name="Google Shape;84;g37dca11763f_0_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H</a:t>
            </a:r>
            <a:r>
              <a:rPr lang="en"/>
              <a:t>aunted graveyards in code  is a powerful metaphor that developers often use when talking about the remnants of old, forgotten, or dangerous code  that continue to live in a project, quietly causing problems.</a:t>
            </a:r>
            <a:endParaRPr/>
          </a:p>
          <a:p>
            <a:pPr indent="0" lvl="0" marL="0" rtl="0" algn="l">
              <a:spcBef>
                <a:spcPts val="0"/>
              </a:spcBef>
              <a:spcAft>
                <a:spcPts val="0"/>
              </a:spcAft>
              <a:buNone/>
            </a:pPr>
            <a:r>
              <a:t/>
            </a:r>
            <a:endParaRPr/>
          </a:p>
          <a:p>
            <a:pPr indent="-325755" lvl="0" marL="457200" rtl="0" algn="l">
              <a:spcBef>
                <a:spcPts val="0"/>
              </a:spcBef>
              <a:spcAft>
                <a:spcPts val="0"/>
              </a:spcAft>
              <a:buSzPct val="100000"/>
              <a:buChar char="●"/>
            </a:pPr>
            <a:r>
              <a:rPr lang="en"/>
              <a:t>Dead Code: Functions, classes, or modules no one calls anymore, but still linger in the repo.  They waste space, confuse new developers, and </a:t>
            </a:r>
            <a:r>
              <a:rPr lang="en"/>
              <a:t>s</a:t>
            </a:r>
            <a:r>
              <a:rPr lang="en"/>
              <a:t>ometimes get accidentally revived.</a:t>
            </a:r>
            <a:endParaRPr/>
          </a:p>
          <a:p>
            <a:pPr indent="-325755" lvl="0" marL="457200" rtl="0" algn="l">
              <a:spcBef>
                <a:spcPts val="0"/>
              </a:spcBef>
              <a:spcAft>
                <a:spcPts val="0"/>
              </a:spcAft>
              <a:buSzPct val="100000"/>
              <a:buChar char="●"/>
            </a:pPr>
            <a:r>
              <a:rPr lang="en"/>
              <a:t>Zombie Features: Half-built features hidden behind flags or commented-out code, never fully removed. Developers keep tripping over them, unsure if they should be revived or buried.</a:t>
            </a:r>
            <a:endParaRPr/>
          </a:p>
          <a:p>
            <a:pPr indent="-325755" lvl="0" marL="457200" rtl="0" algn="l">
              <a:spcBef>
                <a:spcPts val="0"/>
              </a:spcBef>
              <a:spcAft>
                <a:spcPts val="0"/>
              </a:spcAft>
              <a:buSzPct val="100000"/>
              <a:buChar char="●"/>
            </a:pPr>
            <a:r>
              <a:rPr lang="en"/>
              <a:t>Ghost Dependencies: </a:t>
            </a:r>
            <a:r>
              <a:rPr lang="en"/>
              <a:t>O</a:t>
            </a:r>
            <a:r>
              <a:rPr lang="en"/>
              <a:t>ld libraries or packages still listed in `requirements.txt` or `package.json`, but not really used.  These ghosts can bring in security vulnerabilities or bloat builds.</a:t>
            </a:r>
            <a:endParaRPr/>
          </a:p>
          <a:p>
            <a:pPr indent="-325755" lvl="0" marL="457200" rtl="0" algn="l">
              <a:spcBef>
                <a:spcPts val="0"/>
              </a:spcBef>
              <a:spcAft>
                <a:spcPts val="0"/>
              </a:spcAft>
              <a:buSzPct val="100000"/>
              <a:buChar char="●"/>
            </a:pPr>
            <a:r>
              <a:t/>
            </a:r>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g37dca11763f_0_12"/>
          <p:cNvSpPr txBox="1"/>
          <p:nvPr>
            <p:ph type="title"/>
          </p:nvPr>
        </p:nvSpPr>
        <p:spPr>
          <a:xfrm>
            <a:off x="311700" y="0"/>
            <a:ext cx="8520600" cy="105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720"/>
              <a:t>Haunting Graveyard Contd…</a:t>
            </a:r>
            <a:endParaRPr sz="2720"/>
          </a:p>
          <a:p>
            <a:pPr indent="0" lvl="0" marL="0" rtl="0" algn="l">
              <a:spcBef>
                <a:spcPts val="0"/>
              </a:spcBef>
              <a:spcAft>
                <a:spcPts val="0"/>
              </a:spcAft>
              <a:buSzPts val="990"/>
              <a:buNone/>
            </a:pPr>
            <a:r>
              <a:rPr lang="en" sz="2720"/>
              <a:t>                 </a:t>
            </a:r>
            <a:r>
              <a:rPr lang="en" sz="2720"/>
              <a:t>Why they’re haunted</a:t>
            </a:r>
            <a:endParaRPr sz="2720"/>
          </a:p>
        </p:txBody>
      </p:sp>
      <p:sp>
        <p:nvSpPr>
          <p:cNvPr id="90" name="Google Shape;90;g37dca11763f_0_12"/>
          <p:cNvSpPr txBox="1"/>
          <p:nvPr>
            <p:ph idx="1" type="body"/>
          </p:nvPr>
        </p:nvSpPr>
        <p:spPr>
          <a:xfrm>
            <a:off x="0" y="1152475"/>
            <a:ext cx="9144000" cy="3416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 sz="2400"/>
              <a:t>Fear of touching them: “If I delete this, will the whole system break?”</a:t>
            </a:r>
            <a:endParaRPr sz="2400"/>
          </a:p>
          <a:p>
            <a:pPr indent="-381000" lvl="0" marL="457200" rtl="0" algn="l">
              <a:spcBef>
                <a:spcPts val="0"/>
              </a:spcBef>
              <a:spcAft>
                <a:spcPts val="0"/>
              </a:spcAft>
              <a:buSzPts val="2400"/>
              <a:buChar char="●"/>
            </a:pPr>
            <a:r>
              <a:rPr lang="en" sz="2400"/>
              <a:t>Knowledge gap: Original authors are long gone.</a:t>
            </a:r>
            <a:endParaRPr sz="2400"/>
          </a:p>
          <a:p>
            <a:pPr indent="-381000" lvl="0" marL="457200" rtl="0" algn="l">
              <a:spcBef>
                <a:spcPts val="0"/>
              </a:spcBef>
              <a:spcAft>
                <a:spcPts val="0"/>
              </a:spcAft>
              <a:buSzPts val="2400"/>
              <a:buChar char="●"/>
            </a:pPr>
            <a:r>
              <a:rPr lang="en" sz="2400"/>
              <a:t>Unexpected side effects: Removing one “dead” function sometimes wakes up hidden dependencies.</a:t>
            </a:r>
            <a:endParaRPr sz="2400"/>
          </a:p>
          <a:p>
            <a:pPr indent="-381000" lvl="0" marL="457200" rtl="0" algn="l">
              <a:spcBef>
                <a:spcPts val="0"/>
              </a:spcBef>
              <a:spcAft>
                <a:spcPts val="0"/>
              </a:spcAft>
              <a:buSzPts val="2400"/>
              <a:buChar char="●"/>
            </a:pPr>
            <a:r>
              <a:rPr lang="en" sz="2400"/>
              <a:t>Accumulated technical debt:  Slows development, increases bugs.</a:t>
            </a:r>
            <a:endParaRPr sz="2400"/>
          </a:p>
          <a:p>
            <a:pPr indent="0" lvl="0" marL="457200" rtl="0" algn="l">
              <a:spcBef>
                <a:spcPts val="12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6"/>
          <p:cNvSpPr txBox="1"/>
          <p:nvPr>
            <p:ph type="title"/>
          </p:nvPr>
        </p:nvSpPr>
        <p:spPr>
          <a:xfrm>
            <a:off x="311700" y="139025"/>
            <a:ext cx="8520600" cy="878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b="1" lang="en"/>
              <a:t>Philosophy of Software Engineering</a:t>
            </a:r>
            <a:endParaRPr b="1"/>
          </a:p>
        </p:txBody>
      </p:sp>
      <p:sp>
        <p:nvSpPr>
          <p:cNvPr id="96" name="Google Shape;96;p6"/>
          <p:cNvSpPr txBox="1"/>
          <p:nvPr>
            <p:ph idx="1" type="body"/>
          </p:nvPr>
        </p:nvSpPr>
        <p:spPr>
          <a:xfrm>
            <a:off x="0" y="851450"/>
            <a:ext cx="9070500" cy="4292100"/>
          </a:xfrm>
          <a:prstGeom prst="rect">
            <a:avLst/>
          </a:prstGeom>
          <a:noFill/>
          <a:ln>
            <a:noFill/>
          </a:ln>
        </p:spPr>
        <p:txBody>
          <a:bodyPr anchorCtr="0" anchor="t" bIns="91425" lIns="91425" spcFirstLastPara="1" rIns="91425" wrap="square" tIns="91425">
            <a:noAutofit/>
          </a:bodyPr>
          <a:lstStyle/>
          <a:p>
            <a:pPr indent="-355600" lvl="0" marL="457200" rtl="0" algn="l">
              <a:lnSpc>
                <a:spcPct val="100000"/>
              </a:lnSpc>
              <a:spcBef>
                <a:spcPts val="0"/>
              </a:spcBef>
              <a:spcAft>
                <a:spcPts val="0"/>
              </a:spcAft>
              <a:buClr>
                <a:schemeClr val="dk1"/>
              </a:buClr>
              <a:buSzPts val="2000"/>
              <a:buChar char="●"/>
            </a:pPr>
            <a:r>
              <a:rPr lang="en" sz="2000">
                <a:solidFill>
                  <a:schemeClr val="dk1"/>
                </a:solidFill>
              </a:rPr>
              <a:t>Every expert was once a new to organization, and organization must invest in developing their people.</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b="1" lang="en" sz="2000">
                <a:solidFill>
                  <a:schemeClr val="dk1"/>
                </a:solidFill>
              </a:rPr>
              <a:t>One-on-one expert knowledge -</a:t>
            </a:r>
            <a:r>
              <a:rPr lang="en" sz="2000">
                <a:solidFill>
                  <a:schemeClr val="dk1"/>
                </a:solidFill>
              </a:rPr>
              <a:t> help is valuable but doesn’t scale effectively as if expert is unavailable the knowledge cannot be provided by others, and thus requires different ways to share knowledge among the people of organization.</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b="1" lang="en" sz="2000">
                <a:solidFill>
                  <a:schemeClr val="dk1"/>
                </a:solidFill>
              </a:rPr>
              <a:t>Documented Knowledge</a:t>
            </a:r>
            <a:r>
              <a:rPr lang="en" sz="2000">
                <a:solidFill>
                  <a:schemeClr val="dk1"/>
                </a:solidFill>
              </a:rPr>
              <a:t> - Written documentation (e.g., team wikis) scales better, but requires maintenance and may lack personalization to one area.</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b="1" lang="en" sz="2000">
                <a:solidFill>
                  <a:schemeClr val="dk1"/>
                </a:solidFill>
              </a:rPr>
              <a:t>Tribal knowledge - </a:t>
            </a:r>
            <a:r>
              <a:rPr lang="en" sz="2000">
                <a:solidFill>
                  <a:schemeClr val="dk1"/>
                </a:solidFill>
              </a:rPr>
              <a:t>is the gap that exists in between what individual team members know and what’s documented - it's vital to capture and share it.</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lang="en" sz="2000">
                <a:solidFill>
                  <a:schemeClr val="dk1"/>
                </a:solidFill>
              </a:rPr>
              <a:t>Tribal and written documentation </a:t>
            </a:r>
            <a:r>
              <a:rPr b="1" lang="en" sz="2000">
                <a:solidFill>
                  <a:schemeClr val="dk1"/>
                </a:solidFill>
              </a:rPr>
              <a:t>complement each other</a:t>
            </a:r>
            <a:r>
              <a:rPr lang="en" sz="2000">
                <a:solidFill>
                  <a:schemeClr val="dk1"/>
                </a:solidFill>
              </a:rPr>
              <a:t>; both are necessary.</a:t>
            </a:r>
            <a:endParaRPr sz="75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b="1" lang="en" sz="2420"/>
              <a:t>Psychological Safety and Mentorship in Software Teams</a:t>
            </a:r>
            <a:endParaRPr b="1" sz="2420"/>
          </a:p>
        </p:txBody>
      </p:sp>
      <p:sp>
        <p:nvSpPr>
          <p:cNvPr id="102" name="Google Shape;102;p7"/>
          <p:cNvSpPr txBox="1"/>
          <p:nvPr>
            <p:ph idx="1" type="body"/>
          </p:nvPr>
        </p:nvSpPr>
        <p:spPr>
          <a:xfrm>
            <a:off x="311700" y="1152475"/>
            <a:ext cx="8520600" cy="4060500"/>
          </a:xfrm>
          <a:prstGeom prst="rect">
            <a:avLst/>
          </a:prstGeom>
          <a:noFill/>
          <a:ln>
            <a:noFill/>
          </a:ln>
        </p:spPr>
        <p:txBody>
          <a:bodyPr anchorCtr="0" anchor="t" bIns="91425" lIns="91425" spcFirstLastPara="1" rIns="91425" wrap="square" tIns="91425">
            <a:normAutofit fontScale="70000" lnSpcReduction="10000"/>
          </a:bodyPr>
          <a:lstStyle/>
          <a:p>
            <a:pPr indent="0" lvl="0" marL="0" rtl="0" algn="l">
              <a:lnSpc>
                <a:spcPct val="100000"/>
              </a:lnSpc>
              <a:spcBef>
                <a:spcPts val="1400"/>
              </a:spcBef>
              <a:spcAft>
                <a:spcPts val="0"/>
              </a:spcAft>
              <a:buSzPct val="122448"/>
              <a:buNone/>
            </a:pPr>
            <a:r>
              <a:rPr b="1" lang="en" sz="2100">
                <a:solidFill>
                  <a:schemeClr val="dk1"/>
                </a:solidFill>
              </a:rPr>
              <a:t>🔹</a:t>
            </a:r>
            <a:r>
              <a:rPr b="1" lang="en" sz="2475">
                <a:solidFill>
                  <a:schemeClr val="dk1"/>
                </a:solidFill>
              </a:rPr>
              <a:t> </a:t>
            </a:r>
            <a:r>
              <a:rPr b="1" lang="en" sz="2475">
                <a:solidFill>
                  <a:srgbClr val="0000FF"/>
                </a:solidFill>
              </a:rPr>
              <a:t>Why Psychological Safety Matters</a:t>
            </a:r>
            <a:endParaRPr sz="2475">
              <a:solidFill>
                <a:schemeClr val="dk1"/>
              </a:solidFill>
            </a:endParaRPr>
          </a:p>
          <a:p>
            <a:pPr indent="-337924" lvl="0" marL="914400" rtl="0" algn="l">
              <a:lnSpc>
                <a:spcPct val="100000"/>
              </a:lnSpc>
              <a:spcBef>
                <a:spcPts val="1200"/>
              </a:spcBef>
              <a:spcAft>
                <a:spcPts val="0"/>
              </a:spcAft>
              <a:buClr>
                <a:schemeClr val="dk1"/>
              </a:buClr>
              <a:buSzPct val="100000"/>
              <a:buChar char="●"/>
            </a:pPr>
            <a:r>
              <a:rPr lang="en" sz="2458">
                <a:solidFill>
                  <a:schemeClr val="dk1"/>
                </a:solidFill>
              </a:rPr>
              <a:t>Learning begins by acknowledging knowledge gaps - honesty must be welcomed.</a:t>
            </a:r>
            <a:endParaRPr sz="2458">
              <a:solidFill>
                <a:schemeClr val="dk1"/>
              </a:solidFill>
            </a:endParaRPr>
          </a:p>
          <a:p>
            <a:pPr indent="-337924" lvl="0" marL="914400" rtl="0" algn="l">
              <a:lnSpc>
                <a:spcPct val="100000"/>
              </a:lnSpc>
              <a:spcBef>
                <a:spcPts val="0"/>
              </a:spcBef>
              <a:spcAft>
                <a:spcPts val="0"/>
              </a:spcAft>
              <a:buClr>
                <a:schemeClr val="dk1"/>
              </a:buClr>
              <a:buSzPct val="100000"/>
              <a:buChar char="●"/>
            </a:pPr>
            <a:r>
              <a:rPr lang="en" sz="2458">
                <a:solidFill>
                  <a:schemeClr val="dk1"/>
                </a:solidFill>
              </a:rPr>
              <a:t>Safe environments encourage risk-taking, asking questions, and admitting mistakes.</a:t>
            </a:r>
            <a:endParaRPr sz="2458">
              <a:solidFill>
                <a:schemeClr val="dk1"/>
              </a:solidFill>
            </a:endParaRPr>
          </a:p>
          <a:p>
            <a:pPr indent="-337924" lvl="0" marL="914400" rtl="0" algn="l">
              <a:lnSpc>
                <a:spcPct val="100000"/>
              </a:lnSpc>
              <a:spcBef>
                <a:spcPts val="0"/>
              </a:spcBef>
              <a:spcAft>
                <a:spcPts val="0"/>
              </a:spcAft>
              <a:buClr>
                <a:schemeClr val="dk1"/>
              </a:buClr>
              <a:buSzPct val="100000"/>
              <a:buChar char="●"/>
            </a:pPr>
            <a:r>
              <a:rPr lang="en" sz="2458">
                <a:solidFill>
                  <a:schemeClr val="dk1"/>
                </a:solidFill>
              </a:rPr>
              <a:t>Google research shows psychological safety is the </a:t>
            </a:r>
            <a:r>
              <a:rPr b="1" lang="en" sz="2458">
                <a:solidFill>
                  <a:schemeClr val="dk1"/>
                </a:solidFill>
              </a:rPr>
              <a:t>#1 factor for team effectiveness</a:t>
            </a:r>
            <a:r>
              <a:rPr lang="en" sz="2458">
                <a:solidFill>
                  <a:schemeClr val="dk1"/>
                </a:solidFill>
              </a:rPr>
              <a:t>.</a:t>
            </a:r>
            <a:endParaRPr sz="2458">
              <a:solidFill>
                <a:schemeClr val="dk1"/>
              </a:solidFill>
            </a:endParaRPr>
          </a:p>
          <a:p>
            <a:pPr indent="-337924" lvl="0" marL="914400" rtl="0" algn="l">
              <a:lnSpc>
                <a:spcPct val="100000"/>
              </a:lnSpc>
              <a:spcBef>
                <a:spcPts val="0"/>
              </a:spcBef>
              <a:spcAft>
                <a:spcPts val="0"/>
              </a:spcAft>
              <a:buClr>
                <a:schemeClr val="dk1"/>
              </a:buClr>
              <a:buSzPct val="100000"/>
              <a:buChar char="●"/>
            </a:pPr>
            <a:r>
              <a:rPr lang="en" sz="2458">
                <a:solidFill>
                  <a:schemeClr val="dk1"/>
                </a:solidFill>
              </a:rPr>
              <a:t>Psychological safety is the foundation for fostering a knowledge-sharing environment.</a:t>
            </a:r>
            <a:endParaRPr sz="2458">
              <a:solidFill>
                <a:schemeClr val="dk1"/>
              </a:solidFill>
            </a:endParaRPr>
          </a:p>
          <a:p>
            <a:pPr indent="0" lvl="0" marL="0" rtl="0" algn="l">
              <a:lnSpc>
                <a:spcPct val="100000"/>
              </a:lnSpc>
              <a:spcBef>
                <a:spcPts val="1400"/>
              </a:spcBef>
              <a:spcAft>
                <a:spcPts val="0"/>
              </a:spcAft>
              <a:buSzPct val="104614"/>
              <a:buNone/>
            </a:pPr>
            <a:r>
              <a:rPr b="1" lang="en" sz="2458">
                <a:solidFill>
                  <a:schemeClr val="dk1"/>
                </a:solidFill>
              </a:rPr>
              <a:t>🔹  </a:t>
            </a:r>
            <a:r>
              <a:rPr b="1" lang="en" sz="2458">
                <a:solidFill>
                  <a:srgbClr val="0000FF"/>
                </a:solidFill>
              </a:rPr>
              <a:t>Mentorship as a Foundation</a:t>
            </a:r>
            <a:endParaRPr b="1" sz="2458">
              <a:solidFill>
                <a:srgbClr val="0000FF"/>
              </a:solidFill>
            </a:endParaRPr>
          </a:p>
          <a:p>
            <a:pPr indent="-337924" lvl="0" marL="914400" rtl="0" algn="l">
              <a:lnSpc>
                <a:spcPct val="100000"/>
              </a:lnSpc>
              <a:spcBef>
                <a:spcPts val="1200"/>
              </a:spcBef>
              <a:spcAft>
                <a:spcPts val="0"/>
              </a:spcAft>
              <a:buClr>
                <a:schemeClr val="dk1"/>
              </a:buClr>
              <a:buSzPct val="100000"/>
              <a:buChar char="●"/>
            </a:pPr>
            <a:r>
              <a:rPr lang="en" sz="2458">
                <a:solidFill>
                  <a:schemeClr val="dk1"/>
                </a:solidFill>
              </a:rPr>
              <a:t>New members are paired with </a:t>
            </a:r>
            <a:r>
              <a:rPr b="1" lang="en" sz="2458">
                <a:solidFill>
                  <a:schemeClr val="dk1"/>
                </a:solidFill>
              </a:rPr>
              <a:t>non-manager mentors</a:t>
            </a:r>
            <a:r>
              <a:rPr lang="en" sz="2458">
                <a:solidFill>
                  <a:schemeClr val="dk1"/>
                </a:solidFill>
              </a:rPr>
              <a:t> for guidance and safety.</a:t>
            </a:r>
            <a:endParaRPr sz="2458">
              <a:solidFill>
                <a:schemeClr val="dk1"/>
              </a:solidFill>
            </a:endParaRPr>
          </a:p>
          <a:p>
            <a:pPr indent="-337924" lvl="0" marL="914400" rtl="0" algn="l">
              <a:lnSpc>
                <a:spcPct val="100000"/>
              </a:lnSpc>
              <a:spcBef>
                <a:spcPts val="0"/>
              </a:spcBef>
              <a:spcAft>
                <a:spcPts val="0"/>
              </a:spcAft>
              <a:buClr>
                <a:schemeClr val="dk1"/>
              </a:buClr>
              <a:buSzPct val="100000"/>
              <a:buChar char="●"/>
            </a:pPr>
            <a:r>
              <a:rPr lang="en" sz="2458">
                <a:solidFill>
                  <a:schemeClr val="dk1"/>
                </a:solidFill>
              </a:rPr>
              <a:t>Mentors help navigate tech, tools, and company culture without judgment.</a:t>
            </a:r>
            <a:endParaRPr sz="2458">
              <a:solidFill>
                <a:schemeClr val="dk1"/>
              </a:solidFill>
            </a:endParaRPr>
          </a:p>
          <a:p>
            <a:pPr indent="-337924" lvl="0" marL="914400" rtl="0" algn="l">
              <a:lnSpc>
                <a:spcPct val="100000"/>
              </a:lnSpc>
              <a:spcBef>
                <a:spcPts val="0"/>
              </a:spcBef>
              <a:spcAft>
                <a:spcPts val="0"/>
              </a:spcAft>
              <a:buClr>
                <a:schemeClr val="dk1"/>
              </a:buClr>
              <a:buSzPct val="100000"/>
              <a:buChar char="●"/>
            </a:pPr>
            <a:r>
              <a:rPr lang="en" sz="2458">
                <a:solidFill>
                  <a:schemeClr val="dk1"/>
                </a:solidFill>
              </a:rPr>
              <a:t>Encourages continual learning across all levels, not just newcomers.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8"/>
          <p:cNvSpPr txBox="1"/>
          <p:nvPr>
            <p:ph type="title"/>
          </p:nvPr>
        </p:nvSpPr>
        <p:spPr>
          <a:xfrm>
            <a:off x="272388" y="1383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990"/>
              <a:buFont typeface="Arial"/>
              <a:buNone/>
            </a:pPr>
            <a:r>
              <a:rPr b="1" lang="en" sz="2320"/>
              <a:t>Psychological Safety and Mentorship in Software Teams</a:t>
            </a:r>
            <a:endParaRPr b="1" sz="2320"/>
          </a:p>
        </p:txBody>
      </p:sp>
      <p:sp>
        <p:nvSpPr>
          <p:cNvPr id="108" name="Google Shape;108;p8"/>
          <p:cNvSpPr txBox="1"/>
          <p:nvPr>
            <p:ph idx="1" type="body"/>
          </p:nvPr>
        </p:nvSpPr>
        <p:spPr>
          <a:xfrm>
            <a:off x="225175" y="641275"/>
            <a:ext cx="8520600" cy="4447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400"/>
              </a:spcBef>
              <a:spcAft>
                <a:spcPts val="0"/>
              </a:spcAft>
              <a:buSzPts val="1800"/>
              <a:buNone/>
            </a:pPr>
            <a:r>
              <a:rPr b="1" lang="en" sz="1600">
                <a:solidFill>
                  <a:srgbClr val="0000FF"/>
                </a:solidFill>
              </a:rPr>
              <a:t>🔹 Scaling Safety in Large Groups</a:t>
            </a:r>
            <a:endParaRPr b="1" sz="1600">
              <a:solidFill>
                <a:srgbClr val="0000FF"/>
              </a:solidFill>
            </a:endParaRPr>
          </a:p>
          <a:p>
            <a:pPr indent="-330200" lvl="0" marL="914400" rtl="0" algn="l">
              <a:lnSpc>
                <a:spcPct val="100000"/>
              </a:lnSpc>
              <a:spcBef>
                <a:spcPts val="1400"/>
              </a:spcBef>
              <a:spcAft>
                <a:spcPts val="0"/>
              </a:spcAft>
              <a:buClr>
                <a:schemeClr val="dk1"/>
              </a:buClr>
              <a:buSzPts val="1600"/>
              <a:buChar char="●"/>
            </a:pPr>
            <a:r>
              <a:rPr lang="en" sz="1600">
                <a:solidFill>
                  <a:schemeClr val="dk1"/>
                </a:solidFill>
              </a:rPr>
              <a:t>Asking in large groups can be intimidating; the need for safety is </a:t>
            </a:r>
            <a:r>
              <a:rPr b="1" lang="en" sz="1600">
                <a:solidFill>
                  <a:schemeClr val="dk1"/>
                </a:solidFill>
              </a:rPr>
              <a:t>amplified</a:t>
            </a:r>
            <a:r>
              <a:rPr lang="en" sz="1600">
                <a:solidFill>
                  <a:schemeClr val="dk1"/>
                </a:solidFill>
              </a:rPr>
              <a:t>.</a:t>
            </a:r>
            <a:endParaRPr sz="1600">
              <a:solidFill>
                <a:schemeClr val="dk1"/>
              </a:solidFill>
            </a:endParaRPr>
          </a:p>
          <a:p>
            <a:pPr indent="-330200" lvl="0" marL="914400" rtl="0" algn="l">
              <a:lnSpc>
                <a:spcPct val="100000"/>
              </a:lnSpc>
              <a:spcBef>
                <a:spcPts val="0"/>
              </a:spcBef>
              <a:spcAft>
                <a:spcPts val="0"/>
              </a:spcAft>
              <a:buClr>
                <a:schemeClr val="dk1"/>
              </a:buClr>
              <a:buSzPts val="1600"/>
              <a:buChar char="●"/>
            </a:pPr>
            <a:r>
              <a:rPr lang="en" sz="1600">
                <a:solidFill>
                  <a:schemeClr val="dk1"/>
                </a:solidFill>
              </a:rPr>
              <a:t>Group culture must be </a:t>
            </a:r>
            <a:r>
              <a:rPr b="1" lang="en" sz="1600">
                <a:solidFill>
                  <a:schemeClr val="dk1"/>
                </a:solidFill>
              </a:rPr>
              <a:t>cooperative, not adversarial</a:t>
            </a:r>
            <a:r>
              <a:rPr lang="en" sz="1600">
                <a:solidFill>
                  <a:schemeClr val="dk1"/>
                </a:solidFill>
              </a:rPr>
              <a:t>.</a:t>
            </a:r>
            <a:endParaRPr sz="1600">
              <a:solidFill>
                <a:schemeClr val="dk1"/>
              </a:solidFill>
            </a:endParaRPr>
          </a:p>
          <a:p>
            <a:pPr indent="-330200" lvl="0" marL="914400" rtl="0" algn="l">
              <a:lnSpc>
                <a:spcPct val="100000"/>
              </a:lnSpc>
              <a:spcBef>
                <a:spcPts val="0"/>
              </a:spcBef>
              <a:spcAft>
                <a:spcPts val="0"/>
              </a:spcAft>
              <a:buClr>
                <a:schemeClr val="dk1"/>
              </a:buClr>
              <a:buSzPts val="1600"/>
              <a:buChar char="●"/>
            </a:pPr>
            <a:r>
              <a:rPr lang="en" sz="1600">
                <a:solidFill>
                  <a:schemeClr val="dk1"/>
                </a:solidFill>
              </a:rPr>
              <a:t>The following must be followed for group interaction patterns:</a:t>
            </a:r>
            <a:endParaRPr sz="1600">
              <a:solidFill>
                <a:schemeClr val="dk1"/>
              </a:solidFill>
            </a:endParaRPr>
          </a:p>
          <a:p>
            <a:pPr indent="0" lvl="0" marL="0" rtl="0" algn="l">
              <a:lnSpc>
                <a:spcPct val="100000"/>
              </a:lnSpc>
              <a:spcBef>
                <a:spcPts val="1200"/>
              </a:spcBef>
              <a:spcAft>
                <a:spcPts val="0"/>
              </a:spcAft>
              <a:buSzPts val="1800"/>
              <a:buNone/>
            </a:pPr>
            <a:r>
              <a:t/>
            </a:r>
            <a:endParaRPr>
              <a:solidFill>
                <a:schemeClr val="dk1"/>
              </a:solidFill>
            </a:endParaRPr>
          </a:p>
          <a:p>
            <a:pPr indent="0" lvl="0" marL="0" rtl="0" algn="l">
              <a:lnSpc>
                <a:spcPct val="115000"/>
              </a:lnSpc>
              <a:spcBef>
                <a:spcPts val="1200"/>
              </a:spcBef>
              <a:spcAft>
                <a:spcPts val="1200"/>
              </a:spcAft>
              <a:buSzPts val="1800"/>
              <a:buNone/>
            </a:pPr>
            <a:r>
              <a:t/>
            </a:r>
            <a:endParaRPr/>
          </a:p>
        </p:txBody>
      </p:sp>
      <p:pic>
        <p:nvPicPr>
          <p:cNvPr id="109" name="Google Shape;109;p8" title="SEA-ch3-1.png"/>
          <p:cNvPicPr preferRelativeResize="0"/>
          <p:nvPr/>
        </p:nvPicPr>
        <p:blipFill rotWithShape="1">
          <a:blip r:embed="rId3">
            <a:alphaModFix/>
          </a:blip>
          <a:srcRect b="0" l="0" r="0" t="0"/>
          <a:stretch/>
        </p:blipFill>
        <p:spPr>
          <a:xfrm>
            <a:off x="1112100" y="1975677"/>
            <a:ext cx="5925451" cy="3071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9"/>
          <p:cNvSpPr txBox="1"/>
          <p:nvPr>
            <p:ph type="title"/>
          </p:nvPr>
        </p:nvSpPr>
        <p:spPr>
          <a:xfrm>
            <a:off x="311700" y="3906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2200"/>
              <a:t>Growing Your Knowledge: A Culture of Continuous Learning</a:t>
            </a:r>
            <a:endParaRPr sz="3900"/>
          </a:p>
        </p:txBody>
      </p:sp>
      <p:sp>
        <p:nvSpPr>
          <p:cNvPr id="115" name="Google Shape;115;p9"/>
          <p:cNvSpPr txBox="1"/>
          <p:nvPr>
            <p:ph idx="1" type="body"/>
          </p:nvPr>
        </p:nvSpPr>
        <p:spPr>
          <a:xfrm>
            <a:off x="311700" y="1152475"/>
            <a:ext cx="8520600" cy="3930000"/>
          </a:xfrm>
          <a:prstGeom prst="rect">
            <a:avLst/>
          </a:prstGeom>
          <a:noFill/>
          <a:ln>
            <a:noFill/>
          </a:ln>
        </p:spPr>
        <p:txBody>
          <a:bodyPr anchorCtr="0" anchor="t" bIns="91425" lIns="91425" spcFirstLastPara="1" rIns="91425" wrap="square" tIns="91425">
            <a:normAutofit fontScale="70000" lnSpcReduction="10000"/>
          </a:bodyPr>
          <a:lstStyle/>
          <a:p>
            <a:pPr indent="0" lvl="0" marL="0" rtl="0" algn="l">
              <a:lnSpc>
                <a:spcPct val="115000"/>
              </a:lnSpc>
              <a:spcBef>
                <a:spcPts val="1400"/>
              </a:spcBef>
              <a:spcAft>
                <a:spcPts val="0"/>
              </a:spcAft>
              <a:buClr>
                <a:schemeClr val="dk1"/>
              </a:buClr>
              <a:buSzPct val="40492"/>
              <a:buFont typeface="Arial"/>
              <a:buNone/>
            </a:pPr>
            <a:r>
              <a:rPr b="1" lang="en" sz="2716">
                <a:solidFill>
                  <a:schemeClr val="dk1"/>
                </a:solidFill>
              </a:rPr>
              <a:t>🔹</a:t>
            </a:r>
            <a:r>
              <a:rPr b="1" lang="en" sz="2716">
                <a:solidFill>
                  <a:srgbClr val="0000FF"/>
                </a:solidFill>
              </a:rPr>
              <a:t> Always Be Learning</a:t>
            </a:r>
            <a:endParaRPr b="1" sz="2716">
              <a:solidFill>
                <a:srgbClr val="0000FF"/>
              </a:solidFill>
            </a:endParaRPr>
          </a:p>
          <a:p>
            <a:pPr indent="-349363" lvl="0" marL="914400" rtl="0" algn="l">
              <a:lnSpc>
                <a:spcPct val="115000"/>
              </a:lnSpc>
              <a:spcBef>
                <a:spcPts val="1200"/>
              </a:spcBef>
              <a:spcAft>
                <a:spcPts val="0"/>
              </a:spcAft>
              <a:buClr>
                <a:schemeClr val="dk1"/>
              </a:buClr>
              <a:buSzPct val="100000"/>
              <a:buChar char="●"/>
            </a:pPr>
            <a:r>
              <a:rPr lang="en" sz="2716">
                <a:solidFill>
                  <a:schemeClr val="dk1"/>
                </a:solidFill>
              </a:rPr>
              <a:t>Learning is ongoing - even senior engineers don’t know everything.</a:t>
            </a:r>
            <a:endParaRPr sz="2716">
              <a:solidFill>
                <a:schemeClr val="dk1"/>
              </a:solidFill>
            </a:endParaRPr>
          </a:p>
          <a:p>
            <a:pPr indent="-349363" lvl="0" marL="914400" rtl="0" algn="l">
              <a:lnSpc>
                <a:spcPct val="115000"/>
              </a:lnSpc>
              <a:spcBef>
                <a:spcPts val="0"/>
              </a:spcBef>
              <a:spcAft>
                <a:spcPts val="0"/>
              </a:spcAft>
              <a:buClr>
                <a:schemeClr val="dk1"/>
              </a:buClr>
              <a:buSzPct val="100000"/>
              <a:buChar char="●"/>
            </a:pPr>
            <a:r>
              <a:rPr lang="en" sz="2716">
                <a:solidFill>
                  <a:schemeClr val="dk1"/>
                </a:solidFill>
              </a:rPr>
              <a:t>Asking questions is essential; don't fear appearing inexperienced.</a:t>
            </a:r>
            <a:endParaRPr sz="2716">
              <a:solidFill>
                <a:schemeClr val="dk1"/>
              </a:solidFill>
            </a:endParaRPr>
          </a:p>
          <a:p>
            <a:pPr indent="-349363" lvl="0" marL="914400" rtl="0" algn="l">
              <a:lnSpc>
                <a:spcPct val="115000"/>
              </a:lnSpc>
              <a:spcBef>
                <a:spcPts val="0"/>
              </a:spcBef>
              <a:spcAft>
                <a:spcPts val="0"/>
              </a:spcAft>
              <a:buClr>
                <a:schemeClr val="dk1"/>
              </a:buClr>
              <a:buSzPct val="100000"/>
              <a:buChar char="●"/>
            </a:pPr>
            <a:r>
              <a:rPr lang="en" sz="2716">
                <a:solidFill>
                  <a:schemeClr val="dk1"/>
                </a:solidFill>
              </a:rPr>
              <a:t>Rely on coworkers as a valuable source of knowledge.</a:t>
            </a:r>
            <a:endParaRPr sz="2716">
              <a:solidFill>
                <a:schemeClr val="dk1"/>
              </a:solidFill>
            </a:endParaRPr>
          </a:p>
          <a:p>
            <a:pPr indent="-349363" lvl="0" marL="914400" rtl="0" algn="l">
              <a:lnSpc>
                <a:spcPct val="115000"/>
              </a:lnSpc>
              <a:spcBef>
                <a:spcPts val="0"/>
              </a:spcBef>
              <a:spcAft>
                <a:spcPts val="0"/>
              </a:spcAft>
              <a:buClr>
                <a:schemeClr val="dk1"/>
              </a:buClr>
              <a:buSzPct val="100000"/>
              <a:buChar char="●"/>
            </a:pPr>
            <a:r>
              <a:rPr lang="en" sz="2716">
                <a:solidFill>
                  <a:schemeClr val="dk1"/>
                </a:solidFill>
              </a:rPr>
              <a:t>Leaders must model curiosity and vulnerability to normalize learning.</a:t>
            </a:r>
            <a:endParaRPr sz="2716">
              <a:solidFill>
                <a:schemeClr val="dk1"/>
              </a:solidFill>
            </a:endParaRPr>
          </a:p>
          <a:p>
            <a:pPr indent="0" lvl="0" marL="0" rtl="0" algn="l">
              <a:lnSpc>
                <a:spcPct val="115000"/>
              </a:lnSpc>
              <a:spcBef>
                <a:spcPts val="1400"/>
              </a:spcBef>
              <a:spcAft>
                <a:spcPts val="0"/>
              </a:spcAft>
              <a:buSzPct val="94677"/>
              <a:buNone/>
            </a:pPr>
            <a:r>
              <a:rPr b="1" lang="en" sz="2716">
                <a:solidFill>
                  <a:schemeClr val="dk1"/>
                </a:solidFill>
              </a:rPr>
              <a:t>🔹 </a:t>
            </a:r>
            <a:r>
              <a:rPr b="1" lang="en" sz="2716">
                <a:solidFill>
                  <a:srgbClr val="0000FF"/>
                </a:solidFill>
              </a:rPr>
              <a:t>Create a Safe Space for Questions</a:t>
            </a:r>
            <a:endParaRPr b="1" sz="2716">
              <a:solidFill>
                <a:srgbClr val="0000FF"/>
              </a:solidFill>
            </a:endParaRPr>
          </a:p>
          <a:p>
            <a:pPr indent="-349363" lvl="0" marL="914400" rtl="0" algn="l">
              <a:lnSpc>
                <a:spcPct val="115000"/>
              </a:lnSpc>
              <a:spcBef>
                <a:spcPts val="1200"/>
              </a:spcBef>
              <a:spcAft>
                <a:spcPts val="0"/>
              </a:spcAft>
              <a:buClr>
                <a:schemeClr val="dk1"/>
              </a:buClr>
              <a:buSzPct val="100000"/>
              <a:buChar char="●"/>
            </a:pPr>
            <a:r>
              <a:rPr lang="en" sz="2716">
                <a:solidFill>
                  <a:schemeClr val="dk1"/>
                </a:solidFill>
              </a:rPr>
              <a:t>Normalize asking “trivial” questions without shame.</a:t>
            </a:r>
            <a:endParaRPr sz="2716">
              <a:solidFill>
                <a:schemeClr val="dk1"/>
              </a:solidFill>
            </a:endParaRPr>
          </a:p>
          <a:p>
            <a:pPr indent="-349363" lvl="0" marL="914400" rtl="0" algn="l">
              <a:lnSpc>
                <a:spcPct val="115000"/>
              </a:lnSpc>
              <a:spcBef>
                <a:spcPts val="0"/>
              </a:spcBef>
              <a:spcAft>
                <a:spcPts val="0"/>
              </a:spcAft>
              <a:buClr>
                <a:schemeClr val="dk1"/>
              </a:buClr>
              <a:buSzPct val="100000"/>
              <a:buChar char="●"/>
            </a:pPr>
            <a:r>
              <a:rPr lang="en" sz="2716">
                <a:solidFill>
                  <a:schemeClr val="dk1"/>
                </a:solidFill>
              </a:rPr>
              <a:t>Kindness and patience when responding foster psychological safety.</a:t>
            </a:r>
            <a:endParaRPr sz="2716">
              <a:solidFill>
                <a:schemeClr val="dk1"/>
              </a:solidFill>
            </a:endParaRPr>
          </a:p>
          <a:p>
            <a:pPr indent="-349363" lvl="0" marL="914400" rtl="0" algn="l">
              <a:lnSpc>
                <a:spcPct val="115000"/>
              </a:lnSpc>
              <a:spcBef>
                <a:spcPts val="0"/>
              </a:spcBef>
              <a:spcAft>
                <a:spcPts val="0"/>
              </a:spcAft>
              <a:buClr>
                <a:schemeClr val="dk1"/>
              </a:buClr>
              <a:buSzPct val="100000"/>
              <a:buChar char="●"/>
            </a:pPr>
            <a:r>
              <a:rPr lang="en" sz="2716">
                <a:solidFill>
                  <a:schemeClr val="dk1"/>
                </a:solidFill>
              </a:rPr>
              <a:t>Targeted help reduces ramp-up time and boosts team productivity.</a:t>
            </a:r>
            <a:endParaRPr sz="1100">
              <a:solidFill>
                <a:schemeClr val="dk1"/>
              </a:solidFill>
            </a:endParaRPr>
          </a:p>
          <a:p>
            <a:pPr indent="0" lvl="0" marL="0" rtl="0" algn="l">
              <a:lnSpc>
                <a:spcPct val="115000"/>
              </a:lnSpc>
              <a:spcBef>
                <a:spcPts val="1200"/>
              </a:spcBef>
              <a:spcAft>
                <a:spcPts val="1200"/>
              </a:spcAft>
              <a:buSzPct val="142857"/>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2300"/>
              <a:t>Growing Your Knowledge: A Culture of Continuous Learning (cont…)</a:t>
            </a:r>
            <a:endParaRPr sz="3400"/>
          </a:p>
        </p:txBody>
      </p:sp>
      <p:sp>
        <p:nvSpPr>
          <p:cNvPr id="121" name="Google Shape;121;p10"/>
          <p:cNvSpPr txBox="1"/>
          <p:nvPr>
            <p:ph idx="1" type="body"/>
          </p:nvPr>
        </p:nvSpPr>
        <p:spPr>
          <a:xfrm>
            <a:off x="311700" y="1539625"/>
            <a:ext cx="8520600" cy="35430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l">
              <a:lnSpc>
                <a:spcPct val="115000"/>
              </a:lnSpc>
              <a:spcBef>
                <a:spcPts val="1400"/>
              </a:spcBef>
              <a:spcAft>
                <a:spcPts val="0"/>
              </a:spcAft>
              <a:buClr>
                <a:schemeClr val="dk1"/>
              </a:buClr>
              <a:buSzPct val="52416"/>
              <a:buFont typeface="Arial"/>
              <a:buNone/>
            </a:pPr>
            <a:r>
              <a:rPr b="1" lang="en" sz="2098">
                <a:solidFill>
                  <a:schemeClr val="dk1"/>
                </a:solidFill>
              </a:rPr>
              <a:t>🔹</a:t>
            </a:r>
            <a:r>
              <a:rPr b="1" lang="en" sz="2098">
                <a:solidFill>
                  <a:srgbClr val="0000FF"/>
                </a:solidFill>
              </a:rPr>
              <a:t> Understand the Context Before Acting</a:t>
            </a:r>
            <a:endParaRPr b="1" sz="2098">
              <a:solidFill>
                <a:srgbClr val="0000FF"/>
              </a:solidFill>
            </a:endParaRPr>
          </a:p>
          <a:p>
            <a:pPr indent="-331094" lvl="0" marL="914400" rtl="0" algn="l">
              <a:lnSpc>
                <a:spcPct val="115000"/>
              </a:lnSpc>
              <a:spcBef>
                <a:spcPts val="1200"/>
              </a:spcBef>
              <a:spcAft>
                <a:spcPts val="0"/>
              </a:spcAft>
              <a:buClr>
                <a:schemeClr val="dk1"/>
              </a:buClr>
              <a:buSzPct val="100000"/>
              <a:buChar char="●"/>
            </a:pPr>
            <a:r>
              <a:rPr lang="en" sz="1898">
                <a:solidFill>
                  <a:schemeClr val="dk1"/>
                </a:solidFill>
              </a:rPr>
              <a:t>Learning includes </a:t>
            </a:r>
            <a:r>
              <a:rPr i="1" lang="en" sz="1898">
                <a:solidFill>
                  <a:schemeClr val="dk1"/>
                </a:solidFill>
              </a:rPr>
              <a:t>why</a:t>
            </a:r>
            <a:r>
              <a:rPr lang="en" sz="1898">
                <a:solidFill>
                  <a:schemeClr val="dk1"/>
                </a:solidFill>
              </a:rPr>
              <a:t> something was built a certain way.</a:t>
            </a:r>
            <a:endParaRPr sz="1898">
              <a:solidFill>
                <a:schemeClr val="dk1"/>
              </a:solidFill>
            </a:endParaRPr>
          </a:p>
          <a:p>
            <a:pPr indent="-331094" lvl="0" marL="914400" rtl="0" algn="l">
              <a:lnSpc>
                <a:spcPct val="115000"/>
              </a:lnSpc>
              <a:spcBef>
                <a:spcPts val="0"/>
              </a:spcBef>
              <a:spcAft>
                <a:spcPts val="0"/>
              </a:spcAft>
              <a:buClr>
                <a:schemeClr val="dk1"/>
              </a:buClr>
              <a:buSzPct val="100000"/>
              <a:buChar char="●"/>
            </a:pPr>
            <a:r>
              <a:rPr lang="en" sz="1898">
                <a:solidFill>
                  <a:schemeClr val="dk1"/>
                </a:solidFill>
              </a:rPr>
              <a:t>Don’t rush to change legacy systems — ask: “What problem was this solving?”</a:t>
            </a:r>
            <a:endParaRPr sz="1898">
              <a:solidFill>
                <a:schemeClr val="dk1"/>
              </a:solidFill>
            </a:endParaRPr>
          </a:p>
          <a:p>
            <a:pPr indent="-331094" lvl="0" marL="914400" rtl="0" algn="l">
              <a:lnSpc>
                <a:spcPct val="115000"/>
              </a:lnSpc>
              <a:spcBef>
                <a:spcPts val="0"/>
              </a:spcBef>
              <a:spcAft>
                <a:spcPts val="0"/>
              </a:spcAft>
              <a:buClr>
                <a:schemeClr val="dk1"/>
              </a:buClr>
              <a:buSzPct val="100000"/>
              <a:buChar char="●"/>
            </a:pPr>
            <a:r>
              <a:rPr lang="en" sz="1898">
                <a:solidFill>
                  <a:schemeClr val="dk1"/>
                </a:solidFill>
              </a:rPr>
              <a:t>Apply </a:t>
            </a:r>
            <a:r>
              <a:rPr b="1" lang="en" sz="1898">
                <a:solidFill>
                  <a:schemeClr val="dk1"/>
                </a:solidFill>
              </a:rPr>
              <a:t>Chesterton’s Fence</a:t>
            </a:r>
            <a:r>
              <a:rPr lang="en" sz="1898">
                <a:solidFill>
                  <a:schemeClr val="dk1"/>
                </a:solidFill>
              </a:rPr>
              <a:t>: don’t remove things you don’t yet understand.</a:t>
            </a:r>
            <a:endParaRPr sz="1898">
              <a:solidFill>
                <a:schemeClr val="dk1"/>
              </a:solidFill>
            </a:endParaRPr>
          </a:p>
          <a:p>
            <a:pPr indent="-331094" lvl="0" marL="914400" rtl="0" algn="l">
              <a:lnSpc>
                <a:spcPct val="115000"/>
              </a:lnSpc>
              <a:spcBef>
                <a:spcPts val="0"/>
              </a:spcBef>
              <a:spcAft>
                <a:spcPts val="0"/>
              </a:spcAft>
              <a:buClr>
                <a:schemeClr val="dk1"/>
              </a:buClr>
              <a:buSzPct val="100000"/>
              <a:buChar char="●"/>
            </a:pPr>
            <a:r>
              <a:rPr lang="en" sz="1898">
                <a:solidFill>
                  <a:schemeClr val="dk1"/>
                </a:solidFill>
              </a:rPr>
              <a:t>Evaluate changes </a:t>
            </a:r>
            <a:r>
              <a:rPr i="1" lang="en" sz="1898">
                <a:solidFill>
                  <a:schemeClr val="dk1"/>
                </a:solidFill>
              </a:rPr>
              <a:t>after</a:t>
            </a:r>
            <a:r>
              <a:rPr lang="en" sz="1898">
                <a:solidFill>
                  <a:schemeClr val="dk1"/>
                </a:solidFill>
              </a:rPr>
              <a:t> understanding the historical and technical rationale.</a:t>
            </a:r>
            <a:endParaRPr sz="1898">
              <a:solidFill>
                <a:schemeClr val="dk1"/>
              </a:solidFill>
            </a:endParaRPr>
          </a:p>
          <a:p>
            <a:pPr indent="0" lvl="0" marL="0" rtl="0" algn="l">
              <a:lnSpc>
                <a:spcPct val="115000"/>
              </a:lnSpc>
              <a:spcBef>
                <a:spcPts val="1400"/>
              </a:spcBef>
              <a:spcAft>
                <a:spcPts val="0"/>
              </a:spcAft>
              <a:buSzPct val="100936"/>
              <a:buNone/>
            </a:pPr>
            <a:r>
              <a:rPr b="1" lang="en" sz="2098">
                <a:solidFill>
                  <a:schemeClr val="dk1"/>
                </a:solidFill>
              </a:rPr>
              <a:t>🔹 </a:t>
            </a:r>
            <a:r>
              <a:rPr b="1" lang="en" sz="2098">
                <a:solidFill>
                  <a:srgbClr val="0000FF"/>
                </a:solidFill>
              </a:rPr>
              <a:t>Make Learning Scalable</a:t>
            </a:r>
            <a:endParaRPr b="1" sz="2098">
              <a:solidFill>
                <a:srgbClr val="0000FF"/>
              </a:solidFill>
            </a:endParaRPr>
          </a:p>
          <a:p>
            <a:pPr indent="-331094" lvl="0" marL="914400" rtl="0" algn="l">
              <a:lnSpc>
                <a:spcPct val="115000"/>
              </a:lnSpc>
              <a:spcBef>
                <a:spcPts val="1200"/>
              </a:spcBef>
              <a:spcAft>
                <a:spcPts val="0"/>
              </a:spcAft>
              <a:buClr>
                <a:schemeClr val="dk1"/>
              </a:buClr>
              <a:buSzPct val="100000"/>
              <a:buChar char="●"/>
            </a:pPr>
            <a:r>
              <a:rPr lang="en" sz="1898">
                <a:solidFill>
                  <a:schemeClr val="dk1"/>
                </a:solidFill>
              </a:rPr>
              <a:t>Document context and rationale behind decisions, not just the decisions.</a:t>
            </a:r>
            <a:endParaRPr sz="1898">
              <a:solidFill>
                <a:schemeClr val="dk1"/>
              </a:solidFill>
            </a:endParaRPr>
          </a:p>
          <a:p>
            <a:pPr indent="-331094" lvl="0" marL="914400" rtl="0" algn="l">
              <a:lnSpc>
                <a:spcPct val="115000"/>
              </a:lnSpc>
              <a:spcBef>
                <a:spcPts val="0"/>
              </a:spcBef>
              <a:spcAft>
                <a:spcPts val="0"/>
              </a:spcAft>
              <a:buClr>
                <a:schemeClr val="dk1"/>
              </a:buClr>
              <a:buSzPct val="100000"/>
              <a:buChar char="●"/>
            </a:pPr>
            <a:r>
              <a:rPr lang="en" sz="1898">
                <a:solidFill>
                  <a:schemeClr val="dk1"/>
                </a:solidFill>
              </a:rPr>
              <a:t>Context-aware engineers contribute more effectively to long-term design and stability.</a:t>
            </a:r>
            <a:endParaRPr sz="1898">
              <a:solidFill>
                <a:schemeClr val="dk1"/>
              </a:solidFill>
            </a:endParaRPr>
          </a:p>
          <a:p>
            <a:pPr indent="0" lvl="0" marL="0" rtl="0" algn="l">
              <a:lnSpc>
                <a:spcPct val="115000"/>
              </a:lnSpc>
              <a:spcBef>
                <a:spcPts val="1200"/>
              </a:spcBef>
              <a:spcAft>
                <a:spcPts val="1200"/>
              </a:spcAft>
              <a:buSzPct val="117647"/>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b="1" lang="en" sz="2620"/>
              <a:t>Scaling Your Questions – Ask the Community</a:t>
            </a:r>
            <a:endParaRPr b="1" sz="2620"/>
          </a:p>
        </p:txBody>
      </p:sp>
      <p:sp>
        <p:nvSpPr>
          <p:cNvPr id="127" name="Google Shape;127;p11"/>
          <p:cNvSpPr txBox="1"/>
          <p:nvPr>
            <p:ph idx="1" type="body"/>
          </p:nvPr>
        </p:nvSpPr>
        <p:spPr>
          <a:xfrm>
            <a:off x="311700" y="1152475"/>
            <a:ext cx="8520600" cy="3832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Clr>
                <a:schemeClr val="dk1"/>
              </a:buClr>
              <a:buSzPts val="2200"/>
              <a:buChar char="●"/>
            </a:pPr>
            <a:r>
              <a:rPr lang="en" sz="2200">
                <a:solidFill>
                  <a:schemeClr val="dk1"/>
                </a:solidFill>
              </a:rPr>
              <a:t>Write down what you learn - for your future self and others.</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lang="en" sz="2200">
                <a:solidFill>
                  <a:schemeClr val="dk1"/>
                </a:solidFill>
              </a:rPr>
              <a:t>Seek help from the </a:t>
            </a:r>
            <a:r>
              <a:rPr b="1" lang="en" sz="2200">
                <a:solidFill>
                  <a:schemeClr val="dk1"/>
                </a:solidFill>
              </a:rPr>
              <a:t>community</a:t>
            </a:r>
            <a:r>
              <a:rPr lang="en" sz="2200">
                <a:solidFill>
                  <a:schemeClr val="dk1"/>
                </a:solidFill>
              </a:rPr>
              <a:t>, not just individuals.</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lang="en" sz="2200">
                <a:solidFill>
                  <a:schemeClr val="dk1"/>
                </a:solidFill>
              </a:rPr>
              <a:t>Sharing knowledge makes it accessible to a broader audience.</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lang="en" sz="2200">
                <a:solidFill>
                  <a:schemeClr val="dk1"/>
                </a:solidFill>
              </a:rPr>
              <a:t>Community-Based Learning Tools</a:t>
            </a:r>
            <a:endParaRPr sz="2200">
              <a:solidFill>
                <a:schemeClr val="dk1"/>
              </a:solidFill>
            </a:endParaRPr>
          </a:p>
          <a:p>
            <a:pPr indent="-368300" lvl="1" marL="914400" rtl="0" algn="l">
              <a:lnSpc>
                <a:spcPct val="115000"/>
              </a:lnSpc>
              <a:spcBef>
                <a:spcPts val="0"/>
              </a:spcBef>
              <a:spcAft>
                <a:spcPts val="0"/>
              </a:spcAft>
              <a:buClr>
                <a:schemeClr val="dk1"/>
              </a:buClr>
              <a:buSzPts val="2200"/>
              <a:buChar char="○"/>
            </a:pPr>
            <a:r>
              <a:rPr b="1" lang="en" sz="2200">
                <a:solidFill>
                  <a:schemeClr val="dk1"/>
                </a:solidFill>
              </a:rPr>
              <a:t>Group Chats</a:t>
            </a:r>
            <a:endParaRPr b="1" sz="2200">
              <a:solidFill>
                <a:schemeClr val="dk1"/>
              </a:solidFill>
            </a:endParaRPr>
          </a:p>
          <a:p>
            <a:pPr indent="-368300" lvl="1" marL="914400" rtl="0" algn="l">
              <a:lnSpc>
                <a:spcPct val="115000"/>
              </a:lnSpc>
              <a:spcBef>
                <a:spcPts val="0"/>
              </a:spcBef>
              <a:spcAft>
                <a:spcPts val="0"/>
              </a:spcAft>
              <a:buClr>
                <a:schemeClr val="dk1"/>
              </a:buClr>
              <a:buSzPts val="2200"/>
              <a:buChar char="○"/>
            </a:pPr>
            <a:r>
              <a:rPr b="1" lang="en" sz="2200">
                <a:solidFill>
                  <a:schemeClr val="dk1"/>
                </a:solidFill>
              </a:rPr>
              <a:t>Mailing Lists</a:t>
            </a:r>
            <a:endParaRPr b="1" sz="2200">
              <a:solidFill>
                <a:schemeClr val="dk1"/>
              </a:solidFill>
            </a:endParaRPr>
          </a:p>
          <a:p>
            <a:pPr indent="-368300" lvl="1" marL="914400" rtl="0" algn="l">
              <a:lnSpc>
                <a:spcPct val="115000"/>
              </a:lnSpc>
              <a:spcBef>
                <a:spcPts val="0"/>
              </a:spcBef>
              <a:spcAft>
                <a:spcPts val="0"/>
              </a:spcAft>
              <a:buClr>
                <a:schemeClr val="dk1"/>
              </a:buClr>
              <a:buSzPts val="2200"/>
              <a:buChar char="○"/>
            </a:pPr>
            <a:r>
              <a:rPr b="1" lang="en" sz="2200">
                <a:solidFill>
                  <a:schemeClr val="dk1"/>
                </a:solidFill>
              </a:rPr>
              <a:t>YAQS (Internal Q&amp;A Platform)</a:t>
            </a:r>
            <a:endParaRPr sz="2200">
              <a:solidFill>
                <a:schemeClr val="dk1"/>
              </a:solidFill>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What is Documentation?</a:t>
            </a:r>
            <a:endParaRPr b="1"/>
          </a:p>
        </p:txBody>
      </p:sp>
      <p:sp>
        <p:nvSpPr>
          <p:cNvPr id="133" name="Google Shape;133;p12"/>
          <p:cNvSpPr txBox="1"/>
          <p:nvPr>
            <p:ph idx="1" type="body"/>
          </p:nvPr>
        </p:nvSpPr>
        <p:spPr>
          <a:xfrm>
            <a:off x="311700" y="1200500"/>
            <a:ext cx="8520600" cy="3942900"/>
          </a:xfrm>
          <a:prstGeom prst="rect">
            <a:avLst/>
          </a:prstGeom>
          <a:noFill/>
          <a:ln>
            <a:noFill/>
          </a:ln>
        </p:spPr>
        <p:txBody>
          <a:bodyPr anchorCtr="0" anchor="t" bIns="91425" lIns="91425" spcFirstLastPara="1" rIns="91425" wrap="square" tIns="91425">
            <a:normAutofit fontScale="62500" lnSpcReduction="20000"/>
          </a:bodyPr>
          <a:lstStyle/>
          <a:p>
            <a:pPr indent="-348112" lvl="0" marL="457200" rtl="0" algn="l">
              <a:lnSpc>
                <a:spcPct val="115000"/>
              </a:lnSpc>
              <a:spcBef>
                <a:spcPts val="0"/>
              </a:spcBef>
              <a:spcAft>
                <a:spcPts val="0"/>
              </a:spcAft>
              <a:buClr>
                <a:schemeClr val="dk1"/>
              </a:buClr>
              <a:buSzPct val="100000"/>
              <a:buChar char="●"/>
            </a:pPr>
            <a:r>
              <a:rPr lang="en" sz="3010">
                <a:solidFill>
                  <a:schemeClr val="dk1"/>
                </a:solidFill>
              </a:rPr>
              <a:t>Written knowledge aimed at helping readers learn.</a:t>
            </a:r>
            <a:endParaRPr sz="3010">
              <a:solidFill>
                <a:schemeClr val="dk1"/>
              </a:solidFill>
            </a:endParaRPr>
          </a:p>
          <a:p>
            <a:pPr indent="-348112" lvl="0" marL="457200" rtl="0" algn="l">
              <a:lnSpc>
                <a:spcPct val="115000"/>
              </a:lnSpc>
              <a:spcBef>
                <a:spcPts val="0"/>
              </a:spcBef>
              <a:spcAft>
                <a:spcPts val="0"/>
              </a:spcAft>
              <a:buClr>
                <a:schemeClr val="dk1"/>
              </a:buClr>
              <a:buSzPct val="100000"/>
              <a:buChar char="●"/>
            </a:pPr>
            <a:r>
              <a:rPr lang="en" sz="3010">
                <a:solidFill>
                  <a:schemeClr val="dk1"/>
                </a:solidFill>
              </a:rPr>
              <a:t>Not all written content qualifie - e.g., mailing list threads may not count.</a:t>
            </a:r>
            <a:endParaRPr sz="3010">
              <a:solidFill>
                <a:schemeClr val="dk1"/>
              </a:solidFill>
            </a:endParaRPr>
          </a:p>
          <a:p>
            <a:pPr indent="-348112" lvl="0" marL="457200" rtl="0" algn="l">
              <a:lnSpc>
                <a:spcPct val="115000"/>
              </a:lnSpc>
              <a:spcBef>
                <a:spcPts val="0"/>
              </a:spcBef>
              <a:spcAft>
                <a:spcPts val="0"/>
              </a:spcAft>
              <a:buClr>
                <a:schemeClr val="dk1"/>
              </a:buClr>
              <a:buSzPct val="100000"/>
              <a:buChar char="●"/>
            </a:pPr>
            <a:r>
              <a:rPr lang="en" sz="3010">
                <a:solidFill>
                  <a:schemeClr val="dk1"/>
                </a:solidFill>
              </a:rPr>
              <a:t>Focus: contributing to and creating </a:t>
            </a:r>
            <a:r>
              <a:rPr b="1" lang="en" sz="3010">
                <a:solidFill>
                  <a:schemeClr val="dk1"/>
                </a:solidFill>
              </a:rPr>
              <a:t>formal documentation</a:t>
            </a:r>
            <a:r>
              <a:rPr lang="en" sz="3010">
                <a:solidFill>
                  <a:schemeClr val="dk1"/>
                </a:solidFill>
              </a:rPr>
              <a:t>.</a:t>
            </a:r>
            <a:endParaRPr sz="3010">
              <a:solidFill>
                <a:schemeClr val="dk1"/>
              </a:solidFill>
            </a:endParaRPr>
          </a:p>
          <a:p>
            <a:pPr indent="-348112" lvl="0" marL="457200" rtl="0" algn="l">
              <a:lnSpc>
                <a:spcPct val="115000"/>
              </a:lnSpc>
              <a:spcBef>
                <a:spcPts val="0"/>
              </a:spcBef>
              <a:spcAft>
                <a:spcPts val="0"/>
              </a:spcAft>
              <a:buClr>
                <a:schemeClr val="dk1"/>
              </a:buClr>
              <a:buSzPct val="100000"/>
              <a:buChar char="●"/>
            </a:pPr>
            <a:r>
              <a:rPr lang="en" sz="3010">
                <a:solidFill>
                  <a:schemeClr val="dk1"/>
                </a:solidFill>
              </a:rPr>
              <a:t>Ranges from fixing typos to documenting complex tribal knowledge.</a:t>
            </a:r>
            <a:endParaRPr b="1" sz="2690">
              <a:solidFill>
                <a:schemeClr val="dk1"/>
              </a:solidFill>
            </a:endParaRPr>
          </a:p>
          <a:p>
            <a:pPr indent="0" lvl="0" marL="0" rtl="0" algn="l">
              <a:lnSpc>
                <a:spcPct val="115000"/>
              </a:lnSpc>
              <a:spcBef>
                <a:spcPts val="1200"/>
              </a:spcBef>
              <a:spcAft>
                <a:spcPts val="0"/>
              </a:spcAft>
              <a:buSzPct val="107063"/>
              <a:buNone/>
            </a:pPr>
            <a:r>
              <a:rPr b="1" lang="en" sz="2690">
                <a:solidFill>
                  <a:srgbClr val="0000FF"/>
                </a:solidFill>
              </a:rPr>
              <a:t>Creating Documentation:</a:t>
            </a:r>
            <a:endParaRPr b="1" sz="2690">
              <a:solidFill>
                <a:srgbClr val="0000FF"/>
              </a:solidFill>
            </a:endParaRPr>
          </a:p>
          <a:p>
            <a:pPr indent="-376266" lvl="1" marL="914400" rtl="0" algn="l">
              <a:lnSpc>
                <a:spcPct val="115000"/>
              </a:lnSpc>
              <a:spcBef>
                <a:spcPts val="1200"/>
              </a:spcBef>
              <a:spcAft>
                <a:spcPts val="0"/>
              </a:spcAft>
              <a:buClr>
                <a:schemeClr val="dk1"/>
              </a:buClr>
              <a:buSzPct val="119226"/>
              <a:buChar char="○"/>
            </a:pPr>
            <a:r>
              <a:rPr lang="en" sz="3120">
                <a:solidFill>
                  <a:schemeClr val="dk1"/>
                </a:solidFill>
              </a:rPr>
              <a:t>As expertise grows, document new workflows or processes.</a:t>
            </a:r>
            <a:endParaRPr sz="3120">
              <a:solidFill>
                <a:schemeClr val="dk1"/>
              </a:solidFill>
            </a:endParaRPr>
          </a:p>
          <a:p>
            <a:pPr indent="-376266" lvl="1" marL="914400" rtl="0" algn="l">
              <a:lnSpc>
                <a:spcPct val="115000"/>
              </a:lnSpc>
              <a:spcBef>
                <a:spcPts val="0"/>
              </a:spcBef>
              <a:spcAft>
                <a:spcPts val="0"/>
              </a:spcAft>
              <a:buClr>
                <a:schemeClr val="dk1"/>
              </a:buClr>
              <a:buSzPct val="119226"/>
              <a:buChar char="○"/>
            </a:pPr>
            <a:r>
              <a:rPr lang="en" sz="3120">
                <a:solidFill>
                  <a:schemeClr val="dk1"/>
                </a:solidFill>
              </a:rPr>
              <a:t>Share your learning with others through well-written guides.</a:t>
            </a:r>
            <a:endParaRPr sz="3120">
              <a:solidFill>
                <a:schemeClr val="dk1"/>
              </a:solidFill>
            </a:endParaRPr>
          </a:p>
          <a:p>
            <a:pPr indent="-376266" lvl="1" marL="914400" rtl="0" algn="l">
              <a:lnSpc>
                <a:spcPct val="115000"/>
              </a:lnSpc>
              <a:spcBef>
                <a:spcPts val="0"/>
              </a:spcBef>
              <a:spcAft>
                <a:spcPts val="0"/>
              </a:spcAft>
              <a:buClr>
                <a:schemeClr val="dk1"/>
              </a:buClr>
              <a:buSzPct val="119226"/>
              <a:buChar char="○"/>
            </a:pPr>
            <a:r>
              <a:rPr lang="en" sz="3120">
                <a:solidFill>
                  <a:schemeClr val="dk1"/>
                </a:solidFill>
              </a:rPr>
              <a:t>Make docs </a:t>
            </a:r>
            <a:r>
              <a:rPr b="1" lang="en" sz="3120">
                <a:solidFill>
                  <a:schemeClr val="dk1"/>
                </a:solidFill>
              </a:rPr>
              <a:t>discoverable</a:t>
            </a:r>
            <a:r>
              <a:rPr lang="en" sz="3120">
                <a:solidFill>
                  <a:schemeClr val="dk1"/>
                </a:solidFill>
              </a:rPr>
              <a:t> - unsearchable docs are ineffective.</a:t>
            </a:r>
            <a:endParaRPr sz="3120">
              <a:solidFill>
                <a:schemeClr val="dk1"/>
              </a:solidFill>
            </a:endParaRPr>
          </a:p>
          <a:p>
            <a:pPr indent="-376266" lvl="1" marL="914400" rtl="0" algn="l">
              <a:lnSpc>
                <a:spcPct val="115000"/>
              </a:lnSpc>
              <a:spcBef>
                <a:spcPts val="0"/>
              </a:spcBef>
              <a:spcAft>
                <a:spcPts val="0"/>
              </a:spcAft>
              <a:buClr>
                <a:schemeClr val="dk1"/>
              </a:buClr>
              <a:buSzPct val="119226"/>
              <a:buChar char="○"/>
            </a:pPr>
            <a:r>
              <a:rPr lang="en" sz="3120">
                <a:solidFill>
                  <a:schemeClr val="dk1"/>
                </a:solidFill>
              </a:rPr>
              <a:t>g3doc: documentation lives beside source code, improving visibility.</a:t>
            </a:r>
            <a:endParaRPr sz="3120">
              <a:solidFill>
                <a:schemeClr val="dk1"/>
              </a:solidFill>
            </a:endParaRPr>
          </a:p>
          <a:p>
            <a:pPr indent="0" lvl="0" marL="914400" rtl="0" algn="l">
              <a:lnSpc>
                <a:spcPct val="115000"/>
              </a:lnSpc>
              <a:spcBef>
                <a:spcPts val="1200"/>
              </a:spcBef>
              <a:spcAft>
                <a:spcPts val="0"/>
              </a:spcAft>
              <a:buSzPct val="169411"/>
              <a:buNone/>
            </a:pPr>
            <a:r>
              <a:t/>
            </a:r>
            <a:endParaRPr b="1" sz="1700">
              <a:solidFill>
                <a:schemeClr val="dk1"/>
              </a:solidFill>
            </a:endParaRPr>
          </a:p>
          <a:p>
            <a:pPr indent="0" lvl="0" marL="0" rtl="0" algn="l">
              <a:lnSpc>
                <a:spcPct val="115000"/>
              </a:lnSpc>
              <a:spcBef>
                <a:spcPts val="1200"/>
              </a:spcBef>
              <a:spcAft>
                <a:spcPts val="1200"/>
              </a:spcAft>
              <a:buSzPct val="159999"/>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Documentation (cont…)</a:t>
            </a:r>
            <a:endParaRPr b="1"/>
          </a:p>
        </p:txBody>
      </p:sp>
      <p:sp>
        <p:nvSpPr>
          <p:cNvPr id="139" name="Google Shape;139;p13"/>
          <p:cNvSpPr txBox="1"/>
          <p:nvPr>
            <p:ph idx="1" type="body"/>
          </p:nvPr>
        </p:nvSpPr>
        <p:spPr>
          <a:xfrm>
            <a:off x="311700" y="1152475"/>
            <a:ext cx="8520600" cy="38541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1400"/>
              </a:spcBef>
              <a:spcAft>
                <a:spcPts val="0"/>
              </a:spcAft>
              <a:buClr>
                <a:schemeClr val="dk1"/>
              </a:buClr>
              <a:buSzPts val="1100"/>
              <a:buFont typeface="Arial"/>
              <a:buNone/>
            </a:pPr>
            <a:r>
              <a:rPr b="1" lang="en" sz="1700">
                <a:solidFill>
                  <a:srgbClr val="0000FF"/>
                </a:solidFill>
              </a:rPr>
              <a:t>Updating Documentation:</a:t>
            </a:r>
            <a:endParaRPr b="1" sz="1700">
              <a:solidFill>
                <a:srgbClr val="0000FF"/>
              </a:solidFill>
            </a:endParaRPr>
          </a:p>
          <a:p>
            <a:pPr indent="-323850" lvl="0" marL="457200" rtl="0" algn="l">
              <a:lnSpc>
                <a:spcPct val="105000"/>
              </a:lnSpc>
              <a:spcBef>
                <a:spcPts val="1200"/>
              </a:spcBef>
              <a:spcAft>
                <a:spcPts val="0"/>
              </a:spcAft>
              <a:buClr>
                <a:schemeClr val="dk1"/>
              </a:buClr>
              <a:buSzPts val="1500"/>
              <a:buChar char="●"/>
            </a:pPr>
            <a:r>
              <a:rPr b="1" lang="en" sz="1500">
                <a:solidFill>
                  <a:schemeClr val="dk1"/>
                </a:solidFill>
              </a:rPr>
              <a:t>Best time to improve docs:</a:t>
            </a:r>
            <a:r>
              <a:rPr lang="en" sz="1500">
                <a:solidFill>
                  <a:schemeClr val="dk1"/>
                </a:solidFill>
              </a:rPr>
              <a:t> when learning something new.</a:t>
            </a:r>
            <a:endParaRPr sz="1500">
              <a:solidFill>
                <a:schemeClr val="dk1"/>
              </a:solidFill>
            </a:endParaRPr>
          </a:p>
          <a:p>
            <a:pPr indent="-323850" lvl="0" marL="457200" rtl="0" algn="l">
              <a:lnSpc>
                <a:spcPct val="105000"/>
              </a:lnSpc>
              <a:spcBef>
                <a:spcPts val="0"/>
              </a:spcBef>
              <a:spcAft>
                <a:spcPts val="0"/>
              </a:spcAft>
              <a:buClr>
                <a:schemeClr val="dk1"/>
              </a:buClr>
              <a:buSzPts val="1500"/>
              <a:buChar char="●"/>
            </a:pPr>
            <a:r>
              <a:rPr lang="en" sz="1500">
                <a:solidFill>
                  <a:schemeClr val="dk1"/>
                </a:solidFill>
              </a:rPr>
              <a:t>Fix mistakes or missing steps you encounter.</a:t>
            </a:r>
            <a:endParaRPr sz="1500">
              <a:solidFill>
                <a:schemeClr val="dk1"/>
              </a:solidFill>
            </a:endParaRPr>
          </a:p>
          <a:p>
            <a:pPr indent="-323850" lvl="0" marL="457200" rtl="0" algn="l">
              <a:lnSpc>
                <a:spcPct val="105000"/>
              </a:lnSpc>
              <a:spcBef>
                <a:spcPts val="0"/>
              </a:spcBef>
              <a:spcAft>
                <a:spcPts val="0"/>
              </a:spcAft>
              <a:buClr>
                <a:schemeClr val="dk1"/>
              </a:buClr>
              <a:buSzPts val="1500"/>
              <a:buChar char="●"/>
            </a:pPr>
            <a:r>
              <a:rPr lang="en" sz="1500">
                <a:solidFill>
                  <a:schemeClr val="dk1"/>
                </a:solidFill>
              </a:rPr>
              <a:t>Empowered culture: update docs even if owned by another team.</a:t>
            </a:r>
            <a:endParaRPr sz="1500">
              <a:solidFill>
                <a:schemeClr val="dk1"/>
              </a:solidFill>
            </a:endParaRPr>
          </a:p>
          <a:p>
            <a:pPr indent="-323850" lvl="0" marL="457200" rtl="0" algn="l">
              <a:lnSpc>
                <a:spcPct val="105000"/>
              </a:lnSpc>
              <a:spcBef>
                <a:spcPts val="0"/>
              </a:spcBef>
              <a:spcAft>
                <a:spcPts val="0"/>
              </a:spcAft>
              <a:buClr>
                <a:schemeClr val="dk1"/>
              </a:buClr>
              <a:buSzPts val="1500"/>
              <a:buChar char="●"/>
            </a:pPr>
            <a:r>
              <a:rPr lang="en" sz="1500">
                <a:solidFill>
                  <a:schemeClr val="dk1"/>
                </a:solidFill>
              </a:rPr>
              <a:t>Google uses </a:t>
            </a:r>
            <a:r>
              <a:rPr b="1" lang="en" sz="1500">
                <a:solidFill>
                  <a:schemeClr val="dk1"/>
                </a:solidFill>
              </a:rPr>
              <a:t>g3doc</a:t>
            </a:r>
            <a:r>
              <a:rPr lang="en" sz="1500">
                <a:solidFill>
                  <a:schemeClr val="dk1"/>
                </a:solidFill>
              </a:rPr>
              <a:t> to simplify edits and maintain version history.</a:t>
            </a:r>
            <a:endParaRPr sz="1500">
              <a:solidFill>
                <a:schemeClr val="dk1"/>
              </a:solidFill>
            </a:endParaRPr>
          </a:p>
          <a:p>
            <a:pPr indent="0" lvl="0" marL="0" rtl="0" algn="l">
              <a:lnSpc>
                <a:spcPct val="105000"/>
              </a:lnSpc>
              <a:spcBef>
                <a:spcPts val="1400"/>
              </a:spcBef>
              <a:spcAft>
                <a:spcPts val="0"/>
              </a:spcAft>
              <a:buSzPts val="1800"/>
              <a:buNone/>
            </a:pPr>
            <a:r>
              <a:rPr b="1" lang="en" sz="1700">
                <a:solidFill>
                  <a:srgbClr val="0000FF"/>
                </a:solidFill>
              </a:rPr>
              <a:t>Feedback Mechanisms:</a:t>
            </a:r>
            <a:endParaRPr b="1" sz="1700">
              <a:solidFill>
                <a:srgbClr val="0000FF"/>
              </a:solidFill>
            </a:endParaRPr>
          </a:p>
          <a:p>
            <a:pPr indent="-323850" lvl="0" marL="457200" rtl="0" algn="l">
              <a:lnSpc>
                <a:spcPct val="105000"/>
              </a:lnSpc>
              <a:spcBef>
                <a:spcPts val="1200"/>
              </a:spcBef>
              <a:spcAft>
                <a:spcPts val="0"/>
              </a:spcAft>
              <a:buClr>
                <a:schemeClr val="dk1"/>
              </a:buClr>
              <a:buSzPts val="1500"/>
              <a:buChar char="●"/>
            </a:pPr>
            <a:r>
              <a:rPr lang="en" sz="1500">
                <a:solidFill>
                  <a:schemeClr val="dk1"/>
                </a:solidFill>
              </a:rPr>
              <a:t>Important to have a </a:t>
            </a:r>
            <a:r>
              <a:rPr b="1" lang="en" sz="1500">
                <a:solidFill>
                  <a:schemeClr val="dk1"/>
                </a:solidFill>
              </a:rPr>
              <a:t>way to report outdated or incorrect docs</a:t>
            </a:r>
            <a:r>
              <a:rPr lang="en" sz="1500">
                <a:solidFill>
                  <a:schemeClr val="dk1"/>
                </a:solidFill>
              </a:rPr>
              <a:t>.</a:t>
            </a:r>
            <a:endParaRPr sz="1500">
              <a:solidFill>
                <a:schemeClr val="dk1"/>
              </a:solidFill>
            </a:endParaRPr>
          </a:p>
          <a:p>
            <a:pPr indent="-323850" lvl="0" marL="457200" rtl="0" algn="l">
              <a:lnSpc>
                <a:spcPct val="105000"/>
              </a:lnSpc>
              <a:spcBef>
                <a:spcPts val="0"/>
              </a:spcBef>
              <a:spcAft>
                <a:spcPts val="0"/>
              </a:spcAft>
              <a:buClr>
                <a:schemeClr val="dk1"/>
              </a:buClr>
              <a:buSzPts val="1500"/>
              <a:buChar char="●"/>
            </a:pPr>
            <a:r>
              <a:rPr lang="en" sz="1500">
                <a:solidFill>
                  <a:schemeClr val="dk1"/>
                </a:solidFill>
              </a:rPr>
              <a:t>Encourage feedback to prevent recurring issues for others.</a:t>
            </a:r>
            <a:endParaRPr sz="1500">
              <a:solidFill>
                <a:schemeClr val="dk1"/>
              </a:solidFill>
            </a:endParaRPr>
          </a:p>
          <a:p>
            <a:pPr indent="-323850" lvl="0" marL="457200" rtl="0" algn="l">
              <a:lnSpc>
                <a:spcPct val="105000"/>
              </a:lnSpc>
              <a:spcBef>
                <a:spcPts val="0"/>
              </a:spcBef>
              <a:spcAft>
                <a:spcPts val="0"/>
              </a:spcAft>
              <a:buClr>
                <a:schemeClr val="dk1"/>
              </a:buClr>
              <a:buSzPts val="1500"/>
              <a:buChar char="●"/>
            </a:pPr>
            <a:r>
              <a:rPr lang="en" sz="1500">
                <a:solidFill>
                  <a:schemeClr val="dk1"/>
                </a:solidFill>
              </a:rPr>
              <a:t>At Google:</a:t>
            </a:r>
            <a:endParaRPr sz="1500">
              <a:solidFill>
                <a:schemeClr val="dk1"/>
              </a:solidFill>
            </a:endParaRPr>
          </a:p>
          <a:p>
            <a:pPr indent="-323850" lvl="1" marL="914400" rtl="0" algn="l">
              <a:lnSpc>
                <a:spcPct val="105000"/>
              </a:lnSpc>
              <a:spcBef>
                <a:spcPts val="0"/>
              </a:spcBef>
              <a:spcAft>
                <a:spcPts val="0"/>
              </a:spcAft>
              <a:buClr>
                <a:schemeClr val="dk1"/>
              </a:buClr>
              <a:buSzPts val="1500"/>
              <a:buChar char="○"/>
            </a:pPr>
            <a:r>
              <a:rPr lang="en" sz="1500">
                <a:solidFill>
                  <a:schemeClr val="dk1"/>
                </a:solidFill>
              </a:rPr>
              <a:t>Users can file documentation bugs directly.</a:t>
            </a:r>
            <a:endParaRPr sz="1500">
              <a:solidFill>
                <a:schemeClr val="dk1"/>
              </a:solidFill>
            </a:endParaRPr>
          </a:p>
          <a:p>
            <a:pPr indent="-323850" lvl="1" marL="914400" rtl="0" algn="l">
              <a:lnSpc>
                <a:spcPct val="105000"/>
              </a:lnSpc>
              <a:spcBef>
                <a:spcPts val="0"/>
              </a:spcBef>
              <a:spcAft>
                <a:spcPts val="0"/>
              </a:spcAft>
              <a:buClr>
                <a:schemeClr val="dk1"/>
              </a:buClr>
              <a:buSzPts val="1500"/>
              <a:buChar char="○"/>
            </a:pPr>
            <a:r>
              <a:rPr lang="en" sz="1500">
                <a:solidFill>
                  <a:schemeClr val="dk1"/>
                </a:solidFill>
              </a:rPr>
              <a:t>Leave comments on g3doc pages.</a:t>
            </a:r>
            <a:endParaRPr sz="1500">
              <a:solidFill>
                <a:schemeClr val="dk1"/>
              </a:solidFill>
            </a:endParaRPr>
          </a:p>
          <a:p>
            <a:pPr indent="-323850" lvl="1" marL="914400" rtl="0" algn="l">
              <a:lnSpc>
                <a:spcPct val="105000"/>
              </a:lnSpc>
              <a:spcBef>
                <a:spcPts val="0"/>
              </a:spcBef>
              <a:spcAft>
                <a:spcPts val="0"/>
              </a:spcAft>
              <a:buClr>
                <a:schemeClr val="dk1"/>
              </a:buClr>
              <a:buSzPts val="1500"/>
              <a:buChar char="○"/>
            </a:pPr>
            <a:r>
              <a:rPr lang="en" sz="1500">
                <a:solidFill>
                  <a:schemeClr val="dk1"/>
                </a:solidFill>
              </a:rPr>
              <a:t>Comments auto-file bugs to the doc owner - no need to find them.</a:t>
            </a:r>
            <a:endParaRPr sz="1500">
              <a:solidFill>
                <a:schemeClr val="dk1"/>
              </a:solidFill>
            </a:endParaRPr>
          </a:p>
          <a:p>
            <a:pPr indent="0" lvl="0" marL="0" rtl="0" algn="l">
              <a:lnSpc>
                <a:spcPct val="105000"/>
              </a:lnSpc>
              <a:spcBef>
                <a:spcPts val="1200"/>
              </a:spcBef>
              <a:spcAft>
                <a:spcPts val="1200"/>
              </a:spcAft>
              <a:buSzPts val="1800"/>
              <a:buNone/>
            </a:pPr>
            <a:r>
              <a:t/>
            </a:r>
            <a:endParaRPr sz="2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b="1" lang="en"/>
              <a:t>Documentation (cont…)</a:t>
            </a:r>
            <a:endParaRPr b="1"/>
          </a:p>
        </p:txBody>
      </p:sp>
      <p:sp>
        <p:nvSpPr>
          <p:cNvPr id="145" name="Google Shape;145;p14"/>
          <p:cNvSpPr txBox="1"/>
          <p:nvPr>
            <p:ph idx="1" type="body"/>
          </p:nvPr>
        </p:nvSpPr>
        <p:spPr>
          <a:xfrm>
            <a:off x="311700" y="1152475"/>
            <a:ext cx="8520600" cy="3897600"/>
          </a:xfrm>
          <a:prstGeom prst="rect">
            <a:avLst/>
          </a:prstGeom>
          <a:noFill/>
          <a:ln>
            <a:noFill/>
          </a:ln>
        </p:spPr>
        <p:txBody>
          <a:bodyPr anchorCtr="0" anchor="t" bIns="91425" lIns="91425" spcFirstLastPara="1" rIns="91425" wrap="square" tIns="91425">
            <a:normAutofit fontScale="40000" lnSpcReduction="10000"/>
          </a:bodyPr>
          <a:lstStyle/>
          <a:p>
            <a:pPr indent="0" lvl="0" marL="0" rtl="0" algn="l">
              <a:lnSpc>
                <a:spcPct val="115000"/>
              </a:lnSpc>
              <a:spcBef>
                <a:spcPts val="1400"/>
              </a:spcBef>
              <a:spcAft>
                <a:spcPts val="0"/>
              </a:spcAft>
              <a:buSzPct val="113321"/>
              <a:buNone/>
            </a:pPr>
            <a:r>
              <a:rPr b="1" lang="en" sz="3971">
                <a:solidFill>
                  <a:srgbClr val="0000FF"/>
                </a:solidFill>
              </a:rPr>
              <a:t>Promoting Documentation:</a:t>
            </a:r>
            <a:endParaRPr b="1" sz="3971">
              <a:solidFill>
                <a:srgbClr val="0000FF"/>
              </a:solidFill>
            </a:endParaRPr>
          </a:p>
          <a:p>
            <a:pPr indent="-321134" lvl="0" marL="457200" rtl="0" algn="l">
              <a:lnSpc>
                <a:spcPct val="115000"/>
              </a:lnSpc>
              <a:spcBef>
                <a:spcPts val="1400"/>
              </a:spcBef>
              <a:spcAft>
                <a:spcPts val="0"/>
              </a:spcAft>
              <a:buClr>
                <a:schemeClr val="dk1"/>
              </a:buClr>
              <a:buSzPct val="99972"/>
              <a:buChar char="●"/>
            </a:pPr>
            <a:r>
              <a:rPr lang="en" sz="3641">
                <a:solidFill>
                  <a:schemeClr val="dk1"/>
                </a:solidFill>
              </a:rPr>
              <a:t>Engineers often reluctant due to:</a:t>
            </a:r>
            <a:endParaRPr sz="3641">
              <a:solidFill>
                <a:schemeClr val="dk1"/>
              </a:solidFill>
            </a:endParaRPr>
          </a:p>
          <a:p>
            <a:pPr indent="-321134" lvl="1" marL="914400" rtl="0" algn="l">
              <a:lnSpc>
                <a:spcPct val="115000"/>
              </a:lnSpc>
              <a:spcBef>
                <a:spcPts val="0"/>
              </a:spcBef>
              <a:spcAft>
                <a:spcPts val="0"/>
              </a:spcAft>
              <a:buClr>
                <a:schemeClr val="dk1"/>
              </a:buClr>
              <a:buSzPct val="99972"/>
              <a:buChar char="○"/>
            </a:pPr>
            <a:r>
              <a:rPr lang="en" sz="3641">
                <a:solidFill>
                  <a:schemeClr val="dk1"/>
                </a:solidFill>
              </a:rPr>
              <a:t>Time investment</a:t>
            </a:r>
            <a:endParaRPr sz="3641">
              <a:solidFill>
                <a:schemeClr val="dk1"/>
              </a:solidFill>
            </a:endParaRPr>
          </a:p>
          <a:p>
            <a:pPr indent="-321134" lvl="1" marL="914400" rtl="0" algn="l">
              <a:lnSpc>
                <a:spcPct val="115000"/>
              </a:lnSpc>
              <a:spcBef>
                <a:spcPts val="0"/>
              </a:spcBef>
              <a:spcAft>
                <a:spcPts val="0"/>
              </a:spcAft>
              <a:buClr>
                <a:schemeClr val="dk1"/>
              </a:buClr>
              <a:buSzPct val="99972"/>
              <a:buChar char="○"/>
            </a:pPr>
            <a:r>
              <a:rPr lang="en" sz="3641">
                <a:solidFill>
                  <a:schemeClr val="dk1"/>
                </a:solidFill>
              </a:rPr>
              <a:t>Delayed and indirect benefits</a:t>
            </a:r>
            <a:endParaRPr sz="3641">
              <a:solidFill>
                <a:schemeClr val="dk1"/>
              </a:solidFill>
            </a:endParaRPr>
          </a:p>
          <a:p>
            <a:pPr indent="-321134" lvl="0" marL="457200" rtl="0" algn="l">
              <a:lnSpc>
                <a:spcPct val="115000"/>
              </a:lnSpc>
              <a:spcBef>
                <a:spcPts val="0"/>
              </a:spcBef>
              <a:spcAft>
                <a:spcPts val="0"/>
              </a:spcAft>
              <a:buClr>
                <a:schemeClr val="dk1"/>
              </a:buClr>
              <a:buSzPct val="99972"/>
              <a:buChar char="●"/>
            </a:pPr>
            <a:r>
              <a:rPr lang="en" sz="3641">
                <a:solidFill>
                  <a:schemeClr val="dk1"/>
                </a:solidFill>
              </a:rPr>
              <a:t>Structural incentives help - but not always sufficient.</a:t>
            </a:r>
            <a:endParaRPr sz="3641">
              <a:solidFill>
                <a:schemeClr val="dk1"/>
              </a:solidFill>
            </a:endParaRPr>
          </a:p>
          <a:p>
            <a:pPr indent="0" lvl="0" marL="0" rtl="0" algn="l">
              <a:lnSpc>
                <a:spcPct val="115000"/>
              </a:lnSpc>
              <a:spcBef>
                <a:spcPts val="1400"/>
              </a:spcBef>
              <a:spcAft>
                <a:spcPts val="0"/>
              </a:spcAft>
              <a:buSzPct val="107629"/>
              <a:buNone/>
            </a:pPr>
            <a:r>
              <a:rPr b="1" lang="en" sz="4181">
                <a:solidFill>
                  <a:srgbClr val="0000FF"/>
                </a:solidFill>
              </a:rPr>
              <a:t>Personal Benefits of Documentation:</a:t>
            </a:r>
            <a:endParaRPr b="1" sz="4181">
              <a:solidFill>
                <a:srgbClr val="0000FF"/>
              </a:solidFill>
            </a:endParaRPr>
          </a:p>
          <a:p>
            <a:pPr indent="-321134" lvl="0" marL="457200" rtl="0" algn="l">
              <a:lnSpc>
                <a:spcPct val="115000"/>
              </a:lnSpc>
              <a:spcBef>
                <a:spcPts val="1200"/>
              </a:spcBef>
              <a:spcAft>
                <a:spcPts val="0"/>
              </a:spcAft>
              <a:buClr>
                <a:schemeClr val="dk1"/>
              </a:buClr>
              <a:buSzPct val="99972"/>
              <a:buChar char="●"/>
            </a:pPr>
            <a:r>
              <a:rPr lang="en" sz="3641">
                <a:solidFill>
                  <a:schemeClr val="dk1"/>
                </a:solidFill>
              </a:rPr>
              <a:t>Saves time: answer once, then point to the doc later.</a:t>
            </a:r>
            <a:endParaRPr sz="3641">
              <a:solidFill>
                <a:schemeClr val="dk1"/>
              </a:solidFill>
            </a:endParaRPr>
          </a:p>
          <a:p>
            <a:pPr indent="-321134" lvl="0" marL="457200" rtl="0" algn="l">
              <a:lnSpc>
                <a:spcPct val="115000"/>
              </a:lnSpc>
              <a:spcBef>
                <a:spcPts val="0"/>
              </a:spcBef>
              <a:spcAft>
                <a:spcPts val="0"/>
              </a:spcAft>
              <a:buClr>
                <a:schemeClr val="dk1"/>
              </a:buClr>
              <a:buSzPct val="99972"/>
              <a:buChar char="●"/>
            </a:pPr>
            <a:r>
              <a:rPr lang="en" sz="3641">
                <a:solidFill>
                  <a:schemeClr val="dk1"/>
                </a:solidFill>
              </a:rPr>
              <a:t>Helps </a:t>
            </a:r>
            <a:r>
              <a:rPr b="1" lang="en" sz="3641">
                <a:solidFill>
                  <a:schemeClr val="dk1"/>
                </a:solidFill>
              </a:rPr>
              <a:t>team scale</a:t>
            </a:r>
            <a:r>
              <a:rPr lang="en" sz="3641">
                <a:solidFill>
                  <a:schemeClr val="dk1"/>
                </a:solidFill>
              </a:rPr>
              <a:t>:</a:t>
            </a:r>
            <a:endParaRPr sz="3641">
              <a:solidFill>
                <a:schemeClr val="dk1"/>
              </a:solidFill>
            </a:endParaRPr>
          </a:p>
          <a:p>
            <a:pPr indent="-321134" lvl="1" marL="914400" rtl="0" algn="l">
              <a:lnSpc>
                <a:spcPct val="115000"/>
              </a:lnSpc>
              <a:spcBef>
                <a:spcPts val="0"/>
              </a:spcBef>
              <a:spcAft>
                <a:spcPts val="0"/>
              </a:spcAft>
              <a:buClr>
                <a:schemeClr val="dk1"/>
              </a:buClr>
              <a:buSzPct val="99972"/>
              <a:buChar char="○"/>
            </a:pPr>
            <a:r>
              <a:rPr lang="en" sz="3641">
                <a:solidFill>
                  <a:schemeClr val="dk1"/>
                </a:solidFill>
              </a:rPr>
              <a:t>Central reference for repeated questions.</a:t>
            </a:r>
            <a:endParaRPr sz="3641">
              <a:solidFill>
                <a:schemeClr val="dk1"/>
              </a:solidFill>
            </a:endParaRPr>
          </a:p>
          <a:p>
            <a:pPr indent="-321134" lvl="1" marL="914400" rtl="0" algn="l">
              <a:lnSpc>
                <a:spcPct val="115000"/>
              </a:lnSpc>
              <a:spcBef>
                <a:spcPts val="0"/>
              </a:spcBef>
              <a:spcAft>
                <a:spcPts val="0"/>
              </a:spcAft>
              <a:buClr>
                <a:schemeClr val="dk1"/>
              </a:buClr>
              <a:buSzPct val="99972"/>
              <a:buChar char="○"/>
            </a:pPr>
            <a:r>
              <a:rPr lang="en" sz="3641">
                <a:solidFill>
                  <a:schemeClr val="dk1"/>
                </a:solidFill>
              </a:rPr>
              <a:t>Others can update and share the doc.</a:t>
            </a:r>
            <a:endParaRPr sz="3641">
              <a:solidFill>
                <a:schemeClr val="dk1"/>
              </a:solidFill>
            </a:endParaRPr>
          </a:p>
          <a:p>
            <a:pPr indent="-321134" lvl="1" marL="914400" rtl="0" algn="l">
              <a:lnSpc>
                <a:spcPct val="115000"/>
              </a:lnSpc>
              <a:spcBef>
                <a:spcPts val="0"/>
              </a:spcBef>
              <a:spcAft>
                <a:spcPts val="0"/>
              </a:spcAft>
              <a:buClr>
                <a:schemeClr val="dk1"/>
              </a:buClr>
              <a:buSzPct val="99972"/>
              <a:buChar char="○"/>
            </a:pPr>
            <a:r>
              <a:rPr lang="en" sz="3641">
                <a:solidFill>
                  <a:schemeClr val="dk1"/>
                </a:solidFill>
              </a:rPr>
              <a:t>May benefit other teams with similar needs.</a:t>
            </a:r>
            <a:endParaRPr sz="3641">
              <a:solidFill>
                <a:schemeClr val="dk1"/>
              </a:solidFill>
            </a:endParaRPr>
          </a:p>
          <a:p>
            <a:pPr indent="0" lvl="0" marL="457200" rtl="0" algn="l">
              <a:lnSpc>
                <a:spcPct val="115000"/>
              </a:lnSpc>
              <a:spcBef>
                <a:spcPts val="1200"/>
              </a:spcBef>
              <a:spcAft>
                <a:spcPts val="0"/>
              </a:spcAft>
              <a:buSzPts val="1800"/>
              <a:buNone/>
            </a:pPr>
            <a:r>
              <a:t/>
            </a:r>
            <a:endParaRPr sz="1100">
              <a:solidFill>
                <a:schemeClr val="dk1"/>
              </a:solidFill>
            </a:endParaRPr>
          </a:p>
          <a:p>
            <a:pPr indent="0" lvl="0" marL="0" rtl="0" algn="l">
              <a:lnSpc>
                <a:spcPct val="115000"/>
              </a:lnSpc>
              <a:spcBef>
                <a:spcPts val="1200"/>
              </a:spcBef>
              <a:spcAft>
                <a:spcPts val="1200"/>
              </a:spcAft>
              <a:buSzPct val="2500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Code as a Knowledge - Sharing Tool</a:t>
            </a:r>
            <a:endParaRPr b="1"/>
          </a:p>
        </p:txBody>
      </p:sp>
      <p:sp>
        <p:nvSpPr>
          <p:cNvPr id="151" name="Google Shape;151;p15"/>
          <p:cNvSpPr txBox="1"/>
          <p:nvPr>
            <p:ph idx="1" type="body"/>
          </p:nvPr>
        </p:nvSpPr>
        <p:spPr>
          <a:xfrm>
            <a:off x="311700" y="983075"/>
            <a:ext cx="8520600" cy="3837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Clr>
                <a:schemeClr val="dk1"/>
              </a:buClr>
              <a:buSzPts val="1600"/>
              <a:buChar char="●"/>
            </a:pPr>
            <a:r>
              <a:rPr b="1" lang="en" sz="1600">
                <a:solidFill>
                  <a:srgbClr val="0000FF"/>
                </a:solidFill>
              </a:rPr>
              <a:t>Code = Transcribed Knowledge</a:t>
            </a:r>
            <a:r>
              <a:rPr lang="en" sz="1600">
                <a:solidFill>
                  <a:schemeClr val="dk1"/>
                </a:solidFill>
              </a:rPr>
              <a:t>: Even without intent, writing code often shares insights.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 sz="1600">
                <a:solidFill>
                  <a:schemeClr val="dk1"/>
                </a:solidFill>
              </a:rPr>
              <a:t>Readable Code Enhances Knowledge Transfer</a:t>
            </a:r>
            <a:r>
              <a:rPr lang="en" sz="1600">
                <a:solidFill>
                  <a:schemeClr val="dk1"/>
                </a:solidFill>
              </a:rPr>
              <a:t>: Benefits both </a:t>
            </a:r>
            <a:r>
              <a:rPr b="1" lang="en" sz="1600">
                <a:solidFill>
                  <a:schemeClr val="dk1"/>
                </a:solidFill>
              </a:rPr>
              <a:t>consumers</a:t>
            </a:r>
            <a:r>
              <a:rPr lang="en" sz="1600">
                <a:solidFill>
                  <a:schemeClr val="dk1"/>
                </a:solidFill>
              </a:rPr>
              <a:t> and </a:t>
            </a:r>
            <a:r>
              <a:rPr b="1" lang="en" sz="1600">
                <a:solidFill>
                  <a:schemeClr val="dk1"/>
                </a:solidFill>
              </a:rPr>
              <a:t>future maintainers</a:t>
            </a:r>
            <a:r>
              <a:rPr lang="en" sz="1600">
                <a:solidFill>
                  <a:schemeClr val="dk1"/>
                </a:solidFill>
              </a:rPr>
              <a:t>.</a:t>
            </a:r>
            <a:endParaRPr sz="1600">
              <a:solidFill>
                <a:schemeClr val="dk1"/>
              </a:solidFill>
            </a:endParaRPr>
          </a:p>
          <a:p>
            <a:pPr indent="0" lvl="0" marL="0" rtl="0" algn="l">
              <a:lnSpc>
                <a:spcPct val="115000"/>
              </a:lnSpc>
              <a:spcBef>
                <a:spcPts val="1200"/>
              </a:spcBef>
              <a:spcAft>
                <a:spcPts val="0"/>
              </a:spcAft>
              <a:buSzPts val="1800"/>
              <a:buNone/>
            </a:pPr>
            <a:r>
              <a:rPr b="1" lang="en" sz="1600">
                <a:solidFill>
                  <a:srgbClr val="0000FF"/>
                </a:solidFill>
              </a:rPr>
              <a:t>Implementation Comments</a:t>
            </a:r>
            <a:r>
              <a:rPr lang="en" sz="1600">
                <a:solidFill>
                  <a:srgbClr val="0000FF"/>
                </a:solidFill>
              </a:rPr>
              <a:t>:</a:t>
            </a:r>
            <a:endParaRPr sz="1600">
              <a:solidFill>
                <a:srgbClr val="0000FF"/>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Share reasoning and intent with future readers (including “Future You”).</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Risk: Become outdated if not maintained.</a:t>
            </a:r>
            <a:endParaRPr sz="1600">
              <a:solidFill>
                <a:schemeClr val="dk1"/>
              </a:solidFill>
            </a:endParaRPr>
          </a:p>
          <a:p>
            <a:pPr indent="0" lvl="0" marL="0" rtl="0" algn="l">
              <a:lnSpc>
                <a:spcPct val="115000"/>
              </a:lnSpc>
              <a:spcBef>
                <a:spcPts val="1200"/>
              </a:spcBef>
              <a:spcAft>
                <a:spcPts val="0"/>
              </a:spcAft>
              <a:buSzPts val="1800"/>
              <a:buNone/>
            </a:pPr>
            <a:r>
              <a:rPr b="1" lang="en" sz="1600">
                <a:solidFill>
                  <a:srgbClr val="0000FF"/>
                </a:solidFill>
              </a:rPr>
              <a:t>Code Reviews as Learning Platforms</a:t>
            </a:r>
            <a:r>
              <a:rPr lang="en" sz="1600">
                <a:solidFill>
                  <a:srgbClr val="0000FF"/>
                </a:solidFill>
              </a:rPr>
              <a:t>:</a:t>
            </a:r>
            <a:endParaRPr sz="1600">
              <a:solidFill>
                <a:srgbClr val="0000FF"/>
              </a:solidFill>
            </a:endParaRPr>
          </a:p>
          <a:p>
            <a:pPr indent="-330200" lvl="0" marL="457200" rtl="0" algn="l">
              <a:lnSpc>
                <a:spcPct val="115000"/>
              </a:lnSpc>
              <a:spcBef>
                <a:spcPts val="1200"/>
              </a:spcBef>
              <a:spcAft>
                <a:spcPts val="0"/>
              </a:spcAft>
              <a:buClr>
                <a:schemeClr val="dk1"/>
              </a:buClr>
              <a:buSzPts val="1600"/>
              <a:buChar char="●"/>
            </a:pPr>
            <a:r>
              <a:rPr lang="en" sz="1600">
                <a:solidFill>
                  <a:schemeClr val="dk1"/>
                </a:solidFill>
              </a:rPr>
              <a:t>Authors and reviewers gain new techniques and tools.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Review suggestions can reveal new patterns or libraries.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At Google, the </a:t>
            </a:r>
            <a:r>
              <a:rPr b="1" lang="en" sz="1600">
                <a:solidFill>
                  <a:schemeClr val="dk1"/>
                </a:solidFill>
              </a:rPr>
              <a:t>readability process</a:t>
            </a:r>
            <a:r>
              <a:rPr lang="en" sz="1600">
                <a:solidFill>
                  <a:schemeClr val="dk1"/>
                </a:solidFill>
              </a:rPr>
              <a:t> standardizes mentorship through reviews.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b="1" lang="en" sz="2420"/>
              <a:t>Readability at Google: Mentorship Through Code Review</a:t>
            </a:r>
            <a:endParaRPr b="1" sz="2420"/>
          </a:p>
        </p:txBody>
      </p:sp>
      <p:sp>
        <p:nvSpPr>
          <p:cNvPr id="157" name="Google Shape;157;p16"/>
          <p:cNvSpPr txBox="1"/>
          <p:nvPr>
            <p:ph idx="1" type="body"/>
          </p:nvPr>
        </p:nvSpPr>
        <p:spPr>
          <a:xfrm>
            <a:off x="311700" y="1152475"/>
            <a:ext cx="8520600" cy="404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1500">
                <a:solidFill>
                  <a:srgbClr val="0000FF"/>
                </a:solidFill>
              </a:rPr>
              <a:t>What Is Readability? </a:t>
            </a:r>
            <a:r>
              <a:rPr lang="en" sz="1500">
                <a:solidFill>
                  <a:schemeClr val="dk1"/>
                </a:solidFill>
              </a:rPr>
              <a:t> A company-wide mentorship program to ensure </a:t>
            </a:r>
            <a:r>
              <a:rPr b="1" lang="en" sz="1500">
                <a:solidFill>
                  <a:schemeClr val="dk1"/>
                </a:solidFill>
              </a:rPr>
              <a:t>clear, idiomatic, and maintainable code</a:t>
            </a:r>
            <a:r>
              <a:rPr lang="en" sz="1500">
                <a:solidFill>
                  <a:schemeClr val="dk1"/>
                </a:solidFill>
              </a:rPr>
              <a:t> through structured reviews.</a:t>
            </a:r>
            <a:endParaRPr sz="1500">
              <a:solidFill>
                <a:schemeClr val="dk1"/>
              </a:solidFill>
            </a:endParaRPr>
          </a:p>
          <a:p>
            <a:pPr indent="0" lvl="0" marL="0" rtl="0" algn="l">
              <a:lnSpc>
                <a:spcPct val="115000"/>
              </a:lnSpc>
              <a:spcBef>
                <a:spcPts val="1200"/>
              </a:spcBef>
              <a:spcAft>
                <a:spcPts val="0"/>
              </a:spcAft>
              <a:buSzPts val="1800"/>
              <a:buNone/>
            </a:pPr>
            <a:r>
              <a:rPr b="1" lang="en" sz="1500">
                <a:solidFill>
                  <a:srgbClr val="0000FF"/>
                </a:solidFill>
              </a:rPr>
              <a:t>The Readability Process:</a:t>
            </a:r>
            <a:endParaRPr b="1" sz="1500">
              <a:solidFill>
                <a:srgbClr val="0000FF"/>
              </a:solidFill>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rPr>
              <a:t>Mandatory </a:t>
            </a:r>
            <a:r>
              <a:rPr b="1" lang="en" sz="1500">
                <a:solidFill>
                  <a:schemeClr val="dk1"/>
                </a:solidFill>
              </a:rPr>
              <a:t>code review</a:t>
            </a:r>
            <a:r>
              <a:rPr lang="en" sz="1500">
                <a:solidFill>
                  <a:schemeClr val="dk1"/>
                </a:solidFill>
              </a:rPr>
              <a:t> for every changelist (CL)</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Certified engineers</a:t>
            </a:r>
            <a:r>
              <a:rPr lang="en" sz="1500">
                <a:solidFill>
                  <a:schemeClr val="dk1"/>
                </a:solidFill>
              </a:rPr>
              <a:t> approve CLs or act as reviewers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Focus on </a:t>
            </a:r>
            <a:r>
              <a:rPr b="1" lang="en" sz="1500">
                <a:solidFill>
                  <a:schemeClr val="dk1"/>
                </a:solidFill>
              </a:rPr>
              <a:t>mentorship</a:t>
            </a:r>
            <a:r>
              <a:rPr lang="en" sz="1500">
                <a:solidFill>
                  <a:schemeClr val="dk1"/>
                </a:solidFill>
              </a:rPr>
              <a:t>, not gatekeeping</a:t>
            </a:r>
            <a:endParaRPr sz="1500">
              <a:solidFill>
                <a:schemeClr val="dk1"/>
              </a:solidFill>
            </a:endParaRPr>
          </a:p>
          <a:p>
            <a:pPr indent="0" lvl="0" marL="0" rtl="0" algn="l">
              <a:lnSpc>
                <a:spcPct val="115000"/>
              </a:lnSpc>
              <a:spcBef>
                <a:spcPts val="1200"/>
              </a:spcBef>
              <a:spcAft>
                <a:spcPts val="0"/>
              </a:spcAft>
              <a:buSzPts val="1800"/>
              <a:buNone/>
            </a:pPr>
            <a:r>
              <a:rPr b="1" lang="en" sz="1500">
                <a:solidFill>
                  <a:srgbClr val="0000FF"/>
                </a:solidFill>
              </a:rPr>
              <a:t>Benefits:</a:t>
            </a:r>
            <a:endParaRPr b="1" sz="1500">
              <a:solidFill>
                <a:srgbClr val="0000FF"/>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Promotes </a:t>
            </a:r>
            <a:r>
              <a:rPr b="1" lang="en" sz="1500">
                <a:solidFill>
                  <a:schemeClr val="dk1"/>
                </a:solidFill>
              </a:rPr>
              <a:t>company-wide code consistency</a:t>
            </a:r>
            <a:endParaRPr b="1"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Scales </a:t>
            </a:r>
            <a:r>
              <a:rPr b="1" lang="en" sz="1500">
                <a:solidFill>
                  <a:schemeClr val="dk1"/>
                </a:solidFill>
              </a:rPr>
              <a:t>best practices and language idioms</a:t>
            </a:r>
            <a:endParaRPr b="1"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Increases </a:t>
            </a:r>
            <a:r>
              <a:rPr b="1" lang="en" sz="1500">
                <a:solidFill>
                  <a:schemeClr val="dk1"/>
                </a:solidFill>
              </a:rPr>
              <a:t>code quality &amp; maintainability</a:t>
            </a:r>
            <a:endParaRPr b="1"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Encourages </a:t>
            </a:r>
            <a:r>
              <a:rPr b="1" lang="en" sz="1500">
                <a:solidFill>
                  <a:schemeClr val="dk1"/>
                </a:solidFill>
              </a:rPr>
              <a:t>collaboration and learning</a:t>
            </a:r>
            <a:endParaRPr b="1"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Engineers report </a:t>
            </a:r>
            <a:r>
              <a:rPr b="1" lang="en" sz="1500">
                <a:solidFill>
                  <a:schemeClr val="dk1"/>
                </a:solidFill>
              </a:rPr>
              <a:t>higher code quality</a:t>
            </a:r>
            <a:r>
              <a:rPr lang="en" sz="1500">
                <a:solidFill>
                  <a:schemeClr val="dk1"/>
                </a:solidFill>
              </a:rPr>
              <a:t> and </a:t>
            </a:r>
            <a:r>
              <a:rPr b="1" lang="en" sz="1500">
                <a:solidFill>
                  <a:schemeClr val="dk1"/>
                </a:solidFill>
              </a:rPr>
              <a:t>learning value</a:t>
            </a:r>
            <a:endParaRPr b="1" sz="1500">
              <a:solidFill>
                <a:schemeClr val="dk1"/>
              </a:solidFill>
            </a:endParaRPr>
          </a:p>
          <a:p>
            <a:pPr indent="0" lvl="0" marL="0" rtl="0" algn="l">
              <a:lnSpc>
                <a:spcPct val="115000"/>
              </a:lnSpc>
              <a:spcBef>
                <a:spcPts val="0"/>
              </a:spcBef>
              <a:spcAft>
                <a:spcPts val="1200"/>
              </a:spcAft>
              <a:buSzPts val="1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990"/>
              <a:buFont typeface="Arial"/>
              <a:buNone/>
            </a:pPr>
            <a:r>
              <a:rPr b="1" lang="en" sz="2420"/>
              <a:t>Readability at Google: Mentorship Through Code Review</a:t>
            </a:r>
            <a:endParaRPr/>
          </a:p>
        </p:txBody>
      </p:sp>
      <p:sp>
        <p:nvSpPr>
          <p:cNvPr id="163" name="Google Shape;163;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2100">
                <a:solidFill>
                  <a:srgbClr val="0000FF"/>
                </a:solidFill>
              </a:rPr>
              <a:t>Challenges:</a:t>
            </a:r>
            <a:endParaRPr b="1" sz="2100">
              <a:solidFill>
                <a:srgbClr val="0000FF"/>
              </a:solidFill>
            </a:endParaRPr>
          </a:p>
          <a:p>
            <a:pPr indent="-361950" lvl="0" marL="457200" rtl="0" algn="l">
              <a:lnSpc>
                <a:spcPct val="115000"/>
              </a:lnSpc>
              <a:spcBef>
                <a:spcPts val="0"/>
              </a:spcBef>
              <a:spcAft>
                <a:spcPts val="0"/>
              </a:spcAft>
              <a:buClr>
                <a:schemeClr val="dk1"/>
              </a:buClr>
              <a:buSzPts val="2100"/>
              <a:buChar char="●"/>
            </a:pPr>
            <a:r>
              <a:rPr lang="en" sz="2100">
                <a:solidFill>
                  <a:schemeClr val="dk1"/>
                </a:solidFill>
              </a:rPr>
              <a:t>Requires external reviewers if team lacks readability-certified members.</a:t>
            </a: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b="1" lang="en" sz="2100">
                <a:solidFill>
                  <a:schemeClr val="dk1"/>
                </a:solidFill>
              </a:rPr>
              <a:t>Human-driven</a:t>
            </a:r>
            <a:r>
              <a:rPr lang="en" sz="2100">
                <a:solidFill>
                  <a:schemeClr val="dk1"/>
                </a:solidFill>
              </a:rPr>
              <a:t> → scales linearly</a:t>
            </a: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b="1" lang="en" sz="2100">
                <a:solidFill>
                  <a:schemeClr val="dk1"/>
                </a:solidFill>
              </a:rPr>
              <a:t>Short-term latency</a:t>
            </a:r>
            <a:r>
              <a:rPr lang="en" sz="2100">
                <a:solidFill>
                  <a:schemeClr val="dk1"/>
                </a:solidFill>
              </a:rPr>
              <a:t> vs. </a:t>
            </a:r>
            <a:r>
              <a:rPr b="1" lang="en" sz="2100">
                <a:solidFill>
                  <a:schemeClr val="dk1"/>
                </a:solidFill>
              </a:rPr>
              <a:t>long-term quality gains</a:t>
            </a:r>
            <a:endParaRPr sz="28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
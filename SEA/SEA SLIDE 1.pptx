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 id="2147483684" r:id="rId2"/>
    <p:sldMasterId id="2147483685" r:id="rId3"/>
  </p:sldMasterIdLst>
  <p:notesMasterIdLst>
    <p:notesMasterId r:id="rId3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Lst>
  <p:sldSz cx="9144000" cy="5143500" type="screen16x9"/>
  <p:notesSz cx="6858000" cy="9144000"/>
  <p:embeddedFontLst>
    <p:embeddedFont>
      <p:font typeface="Aharoni" panose="02010803020104030203" pitchFamily="2" charset="-79"/>
      <p:bold r:id="rId39"/>
    </p:embeddedFont>
    <p:embeddedFont>
      <p:font typeface="Balthazar" panose="020B0604020202020204" charset="0"/>
      <p:regular r:id="rId40"/>
    </p:embeddedFont>
    <p:embeddedFont>
      <p:font typeface="Candara" panose="020E0502030303020204" pitchFamily="34" charset="0"/>
      <p:regular r:id="rId41"/>
      <p:bold r:id="rId42"/>
      <p:italic r:id="rId43"/>
      <p:boldItalic r:id="rId44"/>
    </p:embeddedFont>
    <p:embeddedFont>
      <p:font typeface="Century Gothic" panose="020B0502020202020204" pitchFamily="34" charset="0"/>
      <p:regular r:id="rId45"/>
      <p:bold r:id="rId46"/>
      <p:italic r:id="rId47"/>
      <p:boldItalic r:id="rId48"/>
    </p:embeddedFont>
    <p:embeddedFont>
      <p:font typeface="Comic Sans MS" panose="030F0702030302020204" pitchFamily="66" charset="0"/>
      <p:regular r:id="rId49"/>
      <p:bold r:id="rId50"/>
      <p:italic r:id="rId51"/>
      <p:boldItalic r:id="rId52"/>
    </p:embeddedFont>
    <p:embeddedFont>
      <p:font typeface="Georgia" panose="02040502050405020303" pitchFamily="18"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A68D31C-F78F-4293-BFBD-2402935DC499}">
  <a:tblStyle styleId="{EA68D31C-F78F-4293-BFBD-2402935DC49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9" d="100"/>
          <a:sy n="139" d="100"/>
        </p:scale>
        <p:origin x="804"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fntdata"/><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viewProps" Target="viewProp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8" Type="http://schemas.openxmlformats.org/officeDocument/2006/relationships/slide" Target="slides/slide5.xml"/><Relationship Id="rId51" Type="http://schemas.openxmlformats.org/officeDocument/2006/relationships/font" Target="fonts/font13.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font" Target="fonts/font3.fntdata"/><Relationship Id="rId54"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11.fntdata"/><Relationship Id="rId57" Type="http://schemas.openxmlformats.org/officeDocument/2006/relationships/presProps" Target="pres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2cb9dc7bc_2_54: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g372cb9dc7bc_2_54: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72cb9dc7bc_2_115: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72cb9dc7bc_2_115: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72cb9dc7bc_2_120: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g372cb9dc7bc_2_120: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72cb9dc7bc_2_125: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g372cb9dc7bc_2_125: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7452189a5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7452189a5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72cb9dc7bc_2_130: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g372cb9dc7bc_2_130: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733483284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73348328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7452189a5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3" name="Google Shape;203;g37452189a5c_0_5:notes"/>
          <p:cNvSpPr txBox="1">
            <a:spLocks noGrp="1"/>
          </p:cNvSpPr>
          <p:nvPr>
            <p:ph type="body" idx="1"/>
          </p:nvPr>
        </p:nvSpPr>
        <p:spPr>
          <a:xfrm>
            <a:off x="685800" y="4343400"/>
            <a:ext cx="5486100" cy="4114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204" name="Google Shape;204;g37452189a5c_0_5:notes"/>
          <p:cNvSpPr txBox="1"/>
          <p:nvPr/>
        </p:nvSpPr>
        <p:spPr>
          <a:xfrm>
            <a:off x="3884760" y="8685360"/>
            <a:ext cx="2971500" cy="456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 sz="1200" b="0" strike="noStrike">
                <a:solidFill>
                  <a:srgbClr val="000000"/>
                </a:solidFill>
                <a:latin typeface="Arial"/>
                <a:ea typeface="Arial"/>
                <a:cs typeface="Arial"/>
                <a:sym typeface="Arial"/>
              </a:rPr>
              <a:t>8</a:t>
            </a:fld>
            <a:endParaRPr sz="1200" b="0" strike="noStrike">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72cb9dc7bc_2_153: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372cb9dc7bc_2_153: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72cb9dc7bc_2_158: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372cb9dc7bc_2_158: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72cb9dc7bc_2_163: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g372cb9dc7bc_2_163: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72ceef8abb_0_42: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g372ceef8abb_0_42:notes"/>
          <p:cNvSpPr>
            <a:spLocks noGrp="1" noRot="1" noChangeAspect="1"/>
          </p:cNvSpPr>
          <p:nvPr>
            <p:ph type="sldImg" idx="2"/>
          </p:nvPr>
        </p:nvSpPr>
        <p:spPr>
          <a:xfrm>
            <a:off x="-971880" y="812520"/>
            <a:ext cx="9503100" cy="400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72ceef8abb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72ceef8ab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72ceef8abb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72ceef8abb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72ceef8abb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72ceef8abb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72ceef8abb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72ceef8abb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72ceef8abb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72ceef8abb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72cb9dc7bc_2_168: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g372cb9dc7bc_2_168: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72cb9dc7bc_2_173: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g372cb9dc7bc_2_173: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372cb9dc7bc_2_199: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g372cb9dc7bc_2_199: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72cb9dc7bc_2_204: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g372cb9dc7bc_2_204: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72cb9dc7bc_2_209:notes"/>
          <p:cNvSpPr>
            <a:spLocks noGrp="1" noRot="1" noChangeAspect="1"/>
          </p:cNvSpPr>
          <p:nvPr>
            <p:ph type="sldImg" idx="2"/>
          </p:nvPr>
        </p:nvSpPr>
        <p:spPr>
          <a:xfrm>
            <a:off x="381060" y="685800"/>
            <a:ext cx="6095520" cy="34286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8" name="Google Shape;328;g372cb9dc7bc_2_209:notes"/>
          <p:cNvSpPr txBox="1">
            <a:spLocks noGrp="1"/>
          </p:cNvSpPr>
          <p:nvPr>
            <p:ph type="body" idx="1"/>
          </p:nvPr>
        </p:nvSpPr>
        <p:spPr>
          <a:xfrm>
            <a:off x="685800" y="4343400"/>
            <a:ext cx="5486040" cy="41144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329" name="Google Shape;329;g372cb9dc7bc_2_209:notes"/>
          <p:cNvSpPr txBox="1"/>
          <p:nvPr/>
        </p:nvSpPr>
        <p:spPr>
          <a:xfrm>
            <a:off x="3884760" y="8685360"/>
            <a:ext cx="2971440" cy="45684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 sz="1200" b="0" strike="noStrike">
                <a:solidFill>
                  <a:srgbClr val="000000"/>
                </a:solidFill>
                <a:latin typeface="Arial"/>
                <a:ea typeface="Arial"/>
                <a:cs typeface="Arial"/>
                <a:sym typeface="Arial"/>
              </a:rPr>
              <a:t>22</a:t>
            </a:fld>
            <a:endParaRPr sz="1200" b="0" strike="noStrike">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72cb9dc7bc_2_221: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g372cb9dc7bc_2_221: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72cb9dc7bc_2_227: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5" name="Google Shape;345;g372cb9dc7bc_2_227: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72cb9dc7bc_2_232: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g372cb9dc7bc_2_232: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72cb9dc7bc_2_237: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7" name="Google Shape;357;g372cb9dc7bc_2_237: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72cb9dc7bc_2_242: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3" name="Google Shape;363;g372cb9dc7bc_2_242: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72cb9dc7bc_2_248:notes"/>
          <p:cNvSpPr>
            <a:spLocks noGrp="1" noRot="1" noChangeAspect="1"/>
          </p:cNvSpPr>
          <p:nvPr>
            <p:ph type="sldImg" idx="2"/>
          </p:nvPr>
        </p:nvSpPr>
        <p:spPr>
          <a:xfrm>
            <a:off x="381060" y="685800"/>
            <a:ext cx="6095520" cy="342864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0" name="Google Shape;370;g372cb9dc7bc_2_248:notes"/>
          <p:cNvSpPr txBox="1">
            <a:spLocks noGrp="1"/>
          </p:cNvSpPr>
          <p:nvPr>
            <p:ph type="body" idx="1"/>
          </p:nvPr>
        </p:nvSpPr>
        <p:spPr>
          <a:xfrm>
            <a:off x="685800" y="4343400"/>
            <a:ext cx="5486040" cy="41144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371" name="Google Shape;371;g372cb9dc7bc_2_248:notes"/>
          <p:cNvSpPr txBox="1"/>
          <p:nvPr/>
        </p:nvSpPr>
        <p:spPr>
          <a:xfrm>
            <a:off x="3884760" y="8685360"/>
            <a:ext cx="2971440" cy="45684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 sz="1200" b="0" strike="noStrike">
                <a:solidFill>
                  <a:srgbClr val="000000"/>
                </a:solidFill>
                <a:latin typeface="Arial"/>
                <a:ea typeface="Arial"/>
                <a:cs typeface="Arial"/>
                <a:sym typeface="Arial"/>
              </a:rPr>
              <a:t>28</a:t>
            </a:fld>
            <a:endParaRPr sz="1200" b="0" strike="noStrike">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72cb9dc7bc_2_262: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5" name="Google Shape;385;g372cb9dc7bc_2_262: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72cb9dc7bc_2_267: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1" name="Google Shape;391;g372cb9dc7bc_2_267: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72cb9dc7bc_2_272: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7" name="Google Shape;397;g372cb9dc7bc_2_272: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72cb9dc7bc_2_277: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g372cb9dc7bc_2_277: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72cb9dc7bc_2_293: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0" name="Google Shape;420;g372cb9dc7bc_2_293: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72cb9dc7bc_2_388: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6" name="Google Shape;426;g372cb9dc7bc_2_388:notes"/>
          <p:cNvSpPr>
            <a:spLocks noGrp="1" noRot="1" noChangeAspect="1"/>
          </p:cNvSpPr>
          <p:nvPr>
            <p:ph type="sldImg" idx="2"/>
          </p:nvPr>
        </p:nvSpPr>
        <p:spPr>
          <a:xfrm>
            <a:off x="-971880" y="812520"/>
            <a:ext cx="950304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228600" y="685800"/>
            <a:ext cx="8686440" cy="39085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5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228600" y="685800"/>
            <a:ext cx="8686440" cy="39085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7"/>
          <p:cNvSpPr txBox="1">
            <a:spLocks noGrp="1"/>
          </p:cNvSpPr>
          <p:nvPr>
            <p:ph type="body" idx="1"/>
          </p:nvPr>
        </p:nvSpPr>
        <p:spPr>
          <a:xfrm>
            <a:off x="228600" y="685800"/>
            <a:ext cx="4238640" cy="39085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6" name="Google Shape;66;p17"/>
          <p:cNvSpPr txBox="1">
            <a:spLocks noGrp="1"/>
          </p:cNvSpPr>
          <p:nvPr>
            <p:ph type="body" idx="2"/>
          </p:nvPr>
        </p:nvSpPr>
        <p:spPr>
          <a:xfrm>
            <a:off x="4679640" y="685800"/>
            <a:ext cx="4238640" cy="39085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69"/>
        <p:cNvGrpSpPr/>
        <p:nvPr/>
      </p:nvGrpSpPr>
      <p:grpSpPr>
        <a:xfrm>
          <a:off x="0" y="0"/>
          <a:ext cx="0" cy="0"/>
          <a:chOff x="0" y="0"/>
          <a:chExt cx="0" cy="0"/>
        </a:xfrm>
      </p:grpSpPr>
      <p:sp>
        <p:nvSpPr>
          <p:cNvPr id="70" name="Google Shape;70;p19"/>
          <p:cNvSpPr txBox="1">
            <a:spLocks noGrp="1"/>
          </p:cNvSpPr>
          <p:nvPr>
            <p:ph type="subTitle" idx="1"/>
          </p:nvPr>
        </p:nvSpPr>
        <p:spPr>
          <a:xfrm>
            <a:off x="457200" y="114210"/>
            <a:ext cx="8229240" cy="275319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71"/>
        <p:cNvGrpSpPr/>
        <p:nvPr/>
      </p:nvGrpSpPr>
      <p:grpSpPr>
        <a:xfrm>
          <a:off x="0" y="0"/>
          <a:ext cx="0" cy="0"/>
          <a:chOff x="0" y="0"/>
          <a:chExt cx="0" cy="0"/>
        </a:xfrm>
      </p:grpSpPr>
      <p:sp>
        <p:nvSpPr>
          <p:cNvPr id="72" name="Google Shape;72;p20"/>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0"/>
          <p:cNvSpPr txBox="1">
            <a:spLocks noGrp="1"/>
          </p:cNvSpPr>
          <p:nvPr>
            <p:ph type="body" idx="1"/>
          </p:nvPr>
        </p:nvSpPr>
        <p:spPr>
          <a:xfrm>
            <a:off x="228600" y="68580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4" name="Google Shape;74;p20"/>
          <p:cNvSpPr txBox="1">
            <a:spLocks noGrp="1"/>
          </p:cNvSpPr>
          <p:nvPr>
            <p:ph type="body" idx="2"/>
          </p:nvPr>
        </p:nvSpPr>
        <p:spPr>
          <a:xfrm>
            <a:off x="4679640" y="685800"/>
            <a:ext cx="4238640" cy="39085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5" name="Google Shape;75;p20"/>
          <p:cNvSpPr txBox="1">
            <a:spLocks noGrp="1"/>
          </p:cNvSpPr>
          <p:nvPr>
            <p:ph type="body" idx="3"/>
          </p:nvPr>
        </p:nvSpPr>
        <p:spPr>
          <a:xfrm>
            <a:off x="228600" y="272754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76"/>
        <p:cNvGrpSpPr/>
        <p:nvPr/>
      </p:nvGrpSpPr>
      <p:grpSpPr>
        <a:xfrm>
          <a:off x="0" y="0"/>
          <a:ext cx="0" cy="0"/>
          <a:chOff x="0" y="0"/>
          <a:chExt cx="0" cy="0"/>
        </a:xfrm>
      </p:grpSpPr>
      <p:sp>
        <p:nvSpPr>
          <p:cNvPr id="77" name="Google Shape;77;p21"/>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1"/>
          <p:cNvSpPr txBox="1">
            <a:spLocks noGrp="1"/>
          </p:cNvSpPr>
          <p:nvPr>
            <p:ph type="body" idx="1"/>
          </p:nvPr>
        </p:nvSpPr>
        <p:spPr>
          <a:xfrm>
            <a:off x="228600" y="685800"/>
            <a:ext cx="4238640" cy="39085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9" name="Google Shape;79;p21"/>
          <p:cNvSpPr txBox="1">
            <a:spLocks noGrp="1"/>
          </p:cNvSpPr>
          <p:nvPr>
            <p:ph type="body" idx="2"/>
          </p:nvPr>
        </p:nvSpPr>
        <p:spPr>
          <a:xfrm>
            <a:off x="4679640" y="68580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80" name="Google Shape;80;p21"/>
          <p:cNvSpPr txBox="1">
            <a:spLocks noGrp="1"/>
          </p:cNvSpPr>
          <p:nvPr>
            <p:ph type="body" idx="3"/>
          </p:nvPr>
        </p:nvSpPr>
        <p:spPr>
          <a:xfrm>
            <a:off x="4679640" y="272754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body" idx="1"/>
          </p:nvPr>
        </p:nvSpPr>
        <p:spPr>
          <a:xfrm>
            <a:off x="228600" y="68580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84" name="Google Shape;84;p22"/>
          <p:cNvSpPr txBox="1">
            <a:spLocks noGrp="1"/>
          </p:cNvSpPr>
          <p:nvPr>
            <p:ph type="body" idx="2"/>
          </p:nvPr>
        </p:nvSpPr>
        <p:spPr>
          <a:xfrm>
            <a:off x="4679640" y="68580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85" name="Google Shape;85;p22"/>
          <p:cNvSpPr txBox="1">
            <a:spLocks noGrp="1"/>
          </p:cNvSpPr>
          <p:nvPr>
            <p:ph type="body" idx="3"/>
          </p:nvPr>
        </p:nvSpPr>
        <p:spPr>
          <a:xfrm>
            <a:off x="228600" y="2727540"/>
            <a:ext cx="86864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86"/>
        <p:cNvGrpSpPr/>
        <p:nvPr/>
      </p:nvGrpSpPr>
      <p:grpSpPr>
        <a:xfrm>
          <a:off x="0" y="0"/>
          <a:ext cx="0" cy="0"/>
          <a:chOff x="0" y="0"/>
          <a:chExt cx="0" cy="0"/>
        </a:xfrm>
      </p:grpSpPr>
      <p:sp>
        <p:nvSpPr>
          <p:cNvPr id="87" name="Google Shape;87;p23"/>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3"/>
          <p:cNvSpPr txBox="1">
            <a:spLocks noGrp="1"/>
          </p:cNvSpPr>
          <p:nvPr>
            <p:ph type="body" idx="1"/>
          </p:nvPr>
        </p:nvSpPr>
        <p:spPr>
          <a:xfrm>
            <a:off x="228600" y="685800"/>
            <a:ext cx="86864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89" name="Google Shape;89;p23"/>
          <p:cNvSpPr txBox="1">
            <a:spLocks noGrp="1"/>
          </p:cNvSpPr>
          <p:nvPr>
            <p:ph type="body" idx="2"/>
          </p:nvPr>
        </p:nvSpPr>
        <p:spPr>
          <a:xfrm>
            <a:off x="228600" y="2727540"/>
            <a:ext cx="86864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4"/>
          <p:cNvSpPr txBox="1">
            <a:spLocks noGrp="1"/>
          </p:cNvSpPr>
          <p:nvPr>
            <p:ph type="body" idx="1"/>
          </p:nvPr>
        </p:nvSpPr>
        <p:spPr>
          <a:xfrm>
            <a:off x="228600" y="68580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3" name="Google Shape;93;p24"/>
          <p:cNvSpPr txBox="1">
            <a:spLocks noGrp="1"/>
          </p:cNvSpPr>
          <p:nvPr>
            <p:ph type="body" idx="2"/>
          </p:nvPr>
        </p:nvSpPr>
        <p:spPr>
          <a:xfrm>
            <a:off x="4679640" y="68580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4" name="Google Shape;94;p24"/>
          <p:cNvSpPr txBox="1">
            <a:spLocks noGrp="1"/>
          </p:cNvSpPr>
          <p:nvPr>
            <p:ph type="body" idx="3"/>
          </p:nvPr>
        </p:nvSpPr>
        <p:spPr>
          <a:xfrm>
            <a:off x="228600" y="272754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5" name="Google Shape;95;p24"/>
          <p:cNvSpPr txBox="1">
            <a:spLocks noGrp="1"/>
          </p:cNvSpPr>
          <p:nvPr>
            <p:ph type="body" idx="4"/>
          </p:nvPr>
        </p:nvSpPr>
        <p:spPr>
          <a:xfrm>
            <a:off x="4679640" y="272754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body" idx="1"/>
          </p:nvPr>
        </p:nvSpPr>
        <p:spPr>
          <a:xfrm>
            <a:off x="228600" y="685800"/>
            <a:ext cx="27968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9" name="Google Shape;99;p25"/>
          <p:cNvSpPr txBox="1">
            <a:spLocks noGrp="1"/>
          </p:cNvSpPr>
          <p:nvPr>
            <p:ph type="body" idx="2"/>
          </p:nvPr>
        </p:nvSpPr>
        <p:spPr>
          <a:xfrm>
            <a:off x="3165840" y="685800"/>
            <a:ext cx="27968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0" name="Google Shape;100;p25"/>
          <p:cNvSpPr txBox="1">
            <a:spLocks noGrp="1"/>
          </p:cNvSpPr>
          <p:nvPr>
            <p:ph type="body" idx="3"/>
          </p:nvPr>
        </p:nvSpPr>
        <p:spPr>
          <a:xfrm>
            <a:off x="6102720" y="685800"/>
            <a:ext cx="27968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1" name="Google Shape;101;p25"/>
          <p:cNvSpPr txBox="1">
            <a:spLocks noGrp="1"/>
          </p:cNvSpPr>
          <p:nvPr>
            <p:ph type="body" idx="4"/>
          </p:nvPr>
        </p:nvSpPr>
        <p:spPr>
          <a:xfrm>
            <a:off x="228600" y="2727540"/>
            <a:ext cx="27968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2" name="Google Shape;102;p25"/>
          <p:cNvSpPr txBox="1">
            <a:spLocks noGrp="1"/>
          </p:cNvSpPr>
          <p:nvPr>
            <p:ph type="body" idx="5"/>
          </p:nvPr>
        </p:nvSpPr>
        <p:spPr>
          <a:xfrm>
            <a:off x="3165840" y="2727540"/>
            <a:ext cx="27968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3" name="Google Shape;103;p25"/>
          <p:cNvSpPr txBox="1">
            <a:spLocks noGrp="1"/>
          </p:cNvSpPr>
          <p:nvPr>
            <p:ph type="body" idx="6"/>
          </p:nvPr>
        </p:nvSpPr>
        <p:spPr>
          <a:xfrm>
            <a:off x="6102720" y="2727540"/>
            <a:ext cx="27968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10"/>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11"/>
        <p:cNvGrpSpPr/>
        <p:nvPr/>
      </p:nvGrpSpPr>
      <p:grpSpPr>
        <a:xfrm>
          <a:off x="0" y="0"/>
          <a:ext cx="0" cy="0"/>
          <a:chOff x="0" y="0"/>
          <a:chExt cx="0" cy="0"/>
        </a:xfrm>
      </p:grpSpPr>
      <p:sp>
        <p:nvSpPr>
          <p:cNvPr id="112" name="Google Shape;112;p28"/>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8"/>
          <p:cNvSpPr txBox="1">
            <a:spLocks noGrp="1"/>
          </p:cNvSpPr>
          <p:nvPr>
            <p:ph type="subTitle" idx="1"/>
          </p:nvPr>
        </p:nvSpPr>
        <p:spPr>
          <a:xfrm>
            <a:off x="228600" y="685800"/>
            <a:ext cx="8686440" cy="39085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14"/>
        <p:cNvGrpSpPr/>
        <p:nvPr/>
      </p:nvGrpSpPr>
      <p:grpSpPr>
        <a:xfrm>
          <a:off x="0" y="0"/>
          <a:ext cx="0" cy="0"/>
          <a:chOff x="0" y="0"/>
          <a:chExt cx="0" cy="0"/>
        </a:xfrm>
      </p:grpSpPr>
      <p:sp>
        <p:nvSpPr>
          <p:cNvPr id="115" name="Google Shape;115;p29"/>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9"/>
          <p:cNvSpPr txBox="1">
            <a:spLocks noGrp="1"/>
          </p:cNvSpPr>
          <p:nvPr>
            <p:ph type="body" idx="1"/>
          </p:nvPr>
        </p:nvSpPr>
        <p:spPr>
          <a:xfrm>
            <a:off x="228600" y="685800"/>
            <a:ext cx="8686440" cy="39085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17"/>
        <p:cNvGrpSpPr/>
        <p:nvPr/>
      </p:nvGrpSpPr>
      <p:grpSpPr>
        <a:xfrm>
          <a:off x="0" y="0"/>
          <a:ext cx="0" cy="0"/>
          <a:chOff x="0" y="0"/>
          <a:chExt cx="0" cy="0"/>
        </a:xfrm>
      </p:grpSpPr>
      <p:sp>
        <p:nvSpPr>
          <p:cNvPr id="118" name="Google Shape;118;p30"/>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30"/>
          <p:cNvSpPr txBox="1">
            <a:spLocks noGrp="1"/>
          </p:cNvSpPr>
          <p:nvPr>
            <p:ph type="body" idx="1"/>
          </p:nvPr>
        </p:nvSpPr>
        <p:spPr>
          <a:xfrm>
            <a:off x="228600" y="685800"/>
            <a:ext cx="4238640" cy="39085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0" name="Google Shape;120;p30"/>
          <p:cNvSpPr txBox="1">
            <a:spLocks noGrp="1"/>
          </p:cNvSpPr>
          <p:nvPr>
            <p:ph type="body" idx="2"/>
          </p:nvPr>
        </p:nvSpPr>
        <p:spPr>
          <a:xfrm>
            <a:off x="4679640" y="685800"/>
            <a:ext cx="4238640" cy="39085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1"/>
        <p:cNvGrpSpPr/>
        <p:nvPr/>
      </p:nvGrpSpPr>
      <p:grpSpPr>
        <a:xfrm>
          <a:off x="0" y="0"/>
          <a:ext cx="0" cy="0"/>
          <a:chOff x="0" y="0"/>
          <a:chExt cx="0" cy="0"/>
        </a:xfrm>
      </p:grpSpPr>
      <p:sp>
        <p:nvSpPr>
          <p:cNvPr id="122" name="Google Shape;122;p31"/>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23"/>
        <p:cNvGrpSpPr/>
        <p:nvPr/>
      </p:nvGrpSpPr>
      <p:grpSpPr>
        <a:xfrm>
          <a:off x="0" y="0"/>
          <a:ext cx="0" cy="0"/>
          <a:chOff x="0" y="0"/>
          <a:chExt cx="0" cy="0"/>
        </a:xfrm>
      </p:grpSpPr>
      <p:sp>
        <p:nvSpPr>
          <p:cNvPr id="124" name="Google Shape;124;p32"/>
          <p:cNvSpPr txBox="1">
            <a:spLocks noGrp="1"/>
          </p:cNvSpPr>
          <p:nvPr>
            <p:ph type="subTitle" idx="1"/>
          </p:nvPr>
        </p:nvSpPr>
        <p:spPr>
          <a:xfrm>
            <a:off x="457200" y="114210"/>
            <a:ext cx="8229240" cy="275319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25"/>
        <p:cNvGrpSpPr/>
        <p:nvPr/>
      </p:nvGrpSpPr>
      <p:grpSpPr>
        <a:xfrm>
          <a:off x="0" y="0"/>
          <a:ext cx="0" cy="0"/>
          <a:chOff x="0" y="0"/>
          <a:chExt cx="0" cy="0"/>
        </a:xfrm>
      </p:grpSpPr>
      <p:sp>
        <p:nvSpPr>
          <p:cNvPr id="126" name="Google Shape;126;p33"/>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33"/>
          <p:cNvSpPr txBox="1">
            <a:spLocks noGrp="1"/>
          </p:cNvSpPr>
          <p:nvPr>
            <p:ph type="body" idx="1"/>
          </p:nvPr>
        </p:nvSpPr>
        <p:spPr>
          <a:xfrm>
            <a:off x="228600" y="68580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8" name="Google Shape;128;p33"/>
          <p:cNvSpPr txBox="1">
            <a:spLocks noGrp="1"/>
          </p:cNvSpPr>
          <p:nvPr>
            <p:ph type="body" idx="2"/>
          </p:nvPr>
        </p:nvSpPr>
        <p:spPr>
          <a:xfrm>
            <a:off x="4679640" y="685800"/>
            <a:ext cx="4238640" cy="39085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9" name="Google Shape;129;p33"/>
          <p:cNvSpPr txBox="1">
            <a:spLocks noGrp="1"/>
          </p:cNvSpPr>
          <p:nvPr>
            <p:ph type="body" idx="3"/>
          </p:nvPr>
        </p:nvSpPr>
        <p:spPr>
          <a:xfrm>
            <a:off x="228600" y="272754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30"/>
        <p:cNvGrpSpPr/>
        <p:nvPr/>
      </p:nvGrpSpPr>
      <p:grpSpPr>
        <a:xfrm>
          <a:off x="0" y="0"/>
          <a:ext cx="0" cy="0"/>
          <a:chOff x="0" y="0"/>
          <a:chExt cx="0" cy="0"/>
        </a:xfrm>
      </p:grpSpPr>
      <p:sp>
        <p:nvSpPr>
          <p:cNvPr id="131" name="Google Shape;131;p34"/>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34"/>
          <p:cNvSpPr txBox="1">
            <a:spLocks noGrp="1"/>
          </p:cNvSpPr>
          <p:nvPr>
            <p:ph type="body" idx="1"/>
          </p:nvPr>
        </p:nvSpPr>
        <p:spPr>
          <a:xfrm>
            <a:off x="228600" y="685800"/>
            <a:ext cx="4238640" cy="39085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3" name="Google Shape;133;p34"/>
          <p:cNvSpPr txBox="1">
            <a:spLocks noGrp="1"/>
          </p:cNvSpPr>
          <p:nvPr>
            <p:ph type="body" idx="2"/>
          </p:nvPr>
        </p:nvSpPr>
        <p:spPr>
          <a:xfrm>
            <a:off x="4679640" y="68580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4" name="Google Shape;134;p34"/>
          <p:cNvSpPr txBox="1">
            <a:spLocks noGrp="1"/>
          </p:cNvSpPr>
          <p:nvPr>
            <p:ph type="body" idx="3"/>
          </p:nvPr>
        </p:nvSpPr>
        <p:spPr>
          <a:xfrm>
            <a:off x="4679640" y="272754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35"/>
        <p:cNvGrpSpPr/>
        <p:nvPr/>
      </p:nvGrpSpPr>
      <p:grpSpPr>
        <a:xfrm>
          <a:off x="0" y="0"/>
          <a:ext cx="0" cy="0"/>
          <a:chOff x="0" y="0"/>
          <a:chExt cx="0" cy="0"/>
        </a:xfrm>
      </p:grpSpPr>
      <p:sp>
        <p:nvSpPr>
          <p:cNvPr id="136" name="Google Shape;136;p35"/>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35"/>
          <p:cNvSpPr txBox="1">
            <a:spLocks noGrp="1"/>
          </p:cNvSpPr>
          <p:nvPr>
            <p:ph type="body" idx="1"/>
          </p:nvPr>
        </p:nvSpPr>
        <p:spPr>
          <a:xfrm>
            <a:off x="228600" y="68580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8" name="Google Shape;138;p35"/>
          <p:cNvSpPr txBox="1">
            <a:spLocks noGrp="1"/>
          </p:cNvSpPr>
          <p:nvPr>
            <p:ph type="body" idx="2"/>
          </p:nvPr>
        </p:nvSpPr>
        <p:spPr>
          <a:xfrm>
            <a:off x="4679640" y="68580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9" name="Google Shape;139;p35"/>
          <p:cNvSpPr txBox="1">
            <a:spLocks noGrp="1"/>
          </p:cNvSpPr>
          <p:nvPr>
            <p:ph type="body" idx="3"/>
          </p:nvPr>
        </p:nvSpPr>
        <p:spPr>
          <a:xfrm>
            <a:off x="228600" y="2727540"/>
            <a:ext cx="86864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40"/>
        <p:cNvGrpSpPr/>
        <p:nvPr/>
      </p:nvGrpSpPr>
      <p:grpSpPr>
        <a:xfrm>
          <a:off x="0" y="0"/>
          <a:ext cx="0" cy="0"/>
          <a:chOff x="0" y="0"/>
          <a:chExt cx="0" cy="0"/>
        </a:xfrm>
      </p:grpSpPr>
      <p:sp>
        <p:nvSpPr>
          <p:cNvPr id="141" name="Google Shape;141;p36"/>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36"/>
          <p:cNvSpPr txBox="1">
            <a:spLocks noGrp="1"/>
          </p:cNvSpPr>
          <p:nvPr>
            <p:ph type="body" idx="1"/>
          </p:nvPr>
        </p:nvSpPr>
        <p:spPr>
          <a:xfrm>
            <a:off x="228600" y="685800"/>
            <a:ext cx="86864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3" name="Google Shape;143;p36"/>
          <p:cNvSpPr txBox="1">
            <a:spLocks noGrp="1"/>
          </p:cNvSpPr>
          <p:nvPr>
            <p:ph type="body" idx="2"/>
          </p:nvPr>
        </p:nvSpPr>
        <p:spPr>
          <a:xfrm>
            <a:off x="228600" y="2727540"/>
            <a:ext cx="86864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44"/>
        <p:cNvGrpSpPr/>
        <p:nvPr/>
      </p:nvGrpSpPr>
      <p:grpSpPr>
        <a:xfrm>
          <a:off x="0" y="0"/>
          <a:ext cx="0" cy="0"/>
          <a:chOff x="0" y="0"/>
          <a:chExt cx="0" cy="0"/>
        </a:xfrm>
      </p:grpSpPr>
      <p:sp>
        <p:nvSpPr>
          <p:cNvPr id="145" name="Google Shape;145;p37"/>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37"/>
          <p:cNvSpPr txBox="1">
            <a:spLocks noGrp="1"/>
          </p:cNvSpPr>
          <p:nvPr>
            <p:ph type="body" idx="1"/>
          </p:nvPr>
        </p:nvSpPr>
        <p:spPr>
          <a:xfrm>
            <a:off x="228600" y="68580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7" name="Google Shape;147;p37"/>
          <p:cNvSpPr txBox="1">
            <a:spLocks noGrp="1"/>
          </p:cNvSpPr>
          <p:nvPr>
            <p:ph type="body" idx="2"/>
          </p:nvPr>
        </p:nvSpPr>
        <p:spPr>
          <a:xfrm>
            <a:off x="4679640" y="68580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8" name="Google Shape;148;p37"/>
          <p:cNvSpPr txBox="1">
            <a:spLocks noGrp="1"/>
          </p:cNvSpPr>
          <p:nvPr>
            <p:ph type="body" idx="3"/>
          </p:nvPr>
        </p:nvSpPr>
        <p:spPr>
          <a:xfrm>
            <a:off x="228600" y="272754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9" name="Google Shape;149;p37"/>
          <p:cNvSpPr txBox="1">
            <a:spLocks noGrp="1"/>
          </p:cNvSpPr>
          <p:nvPr>
            <p:ph type="body" idx="4"/>
          </p:nvPr>
        </p:nvSpPr>
        <p:spPr>
          <a:xfrm>
            <a:off x="4679640" y="2727540"/>
            <a:ext cx="42386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50"/>
        <p:cNvGrpSpPr/>
        <p:nvPr/>
      </p:nvGrpSpPr>
      <p:grpSpPr>
        <a:xfrm>
          <a:off x="0" y="0"/>
          <a:ext cx="0" cy="0"/>
          <a:chOff x="0" y="0"/>
          <a:chExt cx="0" cy="0"/>
        </a:xfrm>
      </p:grpSpPr>
      <p:sp>
        <p:nvSpPr>
          <p:cNvPr id="151" name="Google Shape;151;p38"/>
          <p:cNvSpPr txBox="1">
            <a:spLocks noGrp="1"/>
          </p:cNvSpPr>
          <p:nvPr>
            <p:ph type="title"/>
          </p:nvPr>
        </p:nvSpPr>
        <p:spPr>
          <a:xfrm>
            <a:off x="457200" y="114210"/>
            <a:ext cx="8229240" cy="59373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38"/>
          <p:cNvSpPr txBox="1">
            <a:spLocks noGrp="1"/>
          </p:cNvSpPr>
          <p:nvPr>
            <p:ph type="body" idx="1"/>
          </p:nvPr>
        </p:nvSpPr>
        <p:spPr>
          <a:xfrm>
            <a:off x="228600" y="685800"/>
            <a:ext cx="27968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3" name="Google Shape;153;p38"/>
          <p:cNvSpPr txBox="1">
            <a:spLocks noGrp="1"/>
          </p:cNvSpPr>
          <p:nvPr>
            <p:ph type="body" idx="2"/>
          </p:nvPr>
        </p:nvSpPr>
        <p:spPr>
          <a:xfrm>
            <a:off x="3165840" y="685800"/>
            <a:ext cx="27968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4" name="Google Shape;154;p38"/>
          <p:cNvSpPr txBox="1">
            <a:spLocks noGrp="1"/>
          </p:cNvSpPr>
          <p:nvPr>
            <p:ph type="body" idx="3"/>
          </p:nvPr>
        </p:nvSpPr>
        <p:spPr>
          <a:xfrm>
            <a:off x="6102720" y="685800"/>
            <a:ext cx="27968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5" name="Google Shape;155;p38"/>
          <p:cNvSpPr txBox="1">
            <a:spLocks noGrp="1"/>
          </p:cNvSpPr>
          <p:nvPr>
            <p:ph type="body" idx="4"/>
          </p:nvPr>
        </p:nvSpPr>
        <p:spPr>
          <a:xfrm>
            <a:off x="228600" y="2727540"/>
            <a:ext cx="27968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6" name="Google Shape;156;p38"/>
          <p:cNvSpPr txBox="1">
            <a:spLocks noGrp="1"/>
          </p:cNvSpPr>
          <p:nvPr>
            <p:ph type="body" idx="5"/>
          </p:nvPr>
        </p:nvSpPr>
        <p:spPr>
          <a:xfrm>
            <a:off x="3165840" y="2727540"/>
            <a:ext cx="27968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7" name="Google Shape;157;p38"/>
          <p:cNvSpPr txBox="1">
            <a:spLocks noGrp="1"/>
          </p:cNvSpPr>
          <p:nvPr>
            <p:ph type="body" idx="6"/>
          </p:nvPr>
        </p:nvSpPr>
        <p:spPr>
          <a:xfrm>
            <a:off x="6102720" y="2727540"/>
            <a:ext cx="2796840" cy="186435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85800" y="1597860"/>
            <a:ext cx="7772040" cy="110214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2" name="Google Shape;52;p13"/>
          <p:cNvSpPr txBox="1">
            <a:spLocks noGrp="1"/>
          </p:cNvSpPr>
          <p:nvPr>
            <p:ph type="dt" idx="10"/>
          </p:nvPr>
        </p:nvSpPr>
        <p:spPr>
          <a:xfrm>
            <a:off x="457200" y="4767390"/>
            <a:ext cx="2133360" cy="27351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3" name="Google Shape;53;p13"/>
          <p:cNvSpPr txBox="1">
            <a:spLocks noGrp="1"/>
          </p:cNvSpPr>
          <p:nvPr>
            <p:ph type="ftr" idx="11"/>
          </p:nvPr>
        </p:nvSpPr>
        <p:spPr>
          <a:xfrm>
            <a:off x="3124080" y="4767390"/>
            <a:ext cx="2895120" cy="27351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4" name="Google Shape;54;p13"/>
          <p:cNvSpPr txBox="1">
            <a:spLocks noGrp="1"/>
          </p:cNvSpPr>
          <p:nvPr>
            <p:ph type="sldNum" idx="12"/>
          </p:nvPr>
        </p:nvSpPr>
        <p:spPr>
          <a:xfrm>
            <a:off x="6553080" y="4767390"/>
            <a:ext cx="2133360" cy="27351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B8B8B"/>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B8B8B"/>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B8B8B"/>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B8B8B"/>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B8B8B"/>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B8B8B"/>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B8B8B"/>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B8B8B"/>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solidFill>
                <a:srgbClr val="000000"/>
              </a:solidFill>
              <a:latin typeface="Times New Roman"/>
              <a:ea typeface="Times New Roman"/>
              <a:cs typeface="Times New Roman"/>
              <a:sym typeface="Times New Roman"/>
            </a:endParaRPr>
          </a:p>
        </p:txBody>
      </p:sp>
      <p:sp>
        <p:nvSpPr>
          <p:cNvPr id="55" name="Google Shape;55;p13"/>
          <p:cNvSpPr txBox="1">
            <a:spLocks noGrp="1"/>
          </p:cNvSpPr>
          <p:nvPr>
            <p:ph type="body" idx="1"/>
          </p:nvPr>
        </p:nvSpPr>
        <p:spPr>
          <a:xfrm>
            <a:off x="457200" y="1203390"/>
            <a:ext cx="8229240" cy="298296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4"/>
        <p:cNvGrpSpPr/>
        <p:nvPr/>
      </p:nvGrpSpPr>
      <p:grpSpPr>
        <a:xfrm>
          <a:off x="0" y="0"/>
          <a:ext cx="0" cy="0"/>
          <a:chOff x="0" y="0"/>
          <a:chExt cx="0" cy="0"/>
        </a:xfrm>
      </p:grpSpPr>
      <p:sp>
        <p:nvSpPr>
          <p:cNvPr id="105" name="Google Shape;105;p26"/>
          <p:cNvSpPr txBox="1">
            <a:spLocks noGrp="1"/>
          </p:cNvSpPr>
          <p:nvPr>
            <p:ph type="title"/>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06" name="Google Shape;106;p26"/>
          <p:cNvSpPr txBox="1">
            <a:spLocks noGrp="1"/>
          </p:cNvSpPr>
          <p:nvPr>
            <p:ph type="body" idx="1"/>
          </p:nvPr>
        </p:nvSpPr>
        <p:spPr>
          <a:xfrm>
            <a:off x="228600" y="685800"/>
            <a:ext cx="8686440" cy="390852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107" name="Google Shape;107;p26"/>
          <p:cNvSpPr txBox="1">
            <a:spLocks noGrp="1"/>
          </p:cNvSpPr>
          <p:nvPr>
            <p:ph type="dt" idx="10"/>
          </p:nvPr>
        </p:nvSpPr>
        <p:spPr>
          <a:xfrm>
            <a:off x="457200" y="4767390"/>
            <a:ext cx="2133360" cy="27351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08" name="Google Shape;108;p26"/>
          <p:cNvSpPr txBox="1">
            <a:spLocks noGrp="1"/>
          </p:cNvSpPr>
          <p:nvPr>
            <p:ph type="ftr" idx="11"/>
          </p:nvPr>
        </p:nvSpPr>
        <p:spPr>
          <a:xfrm>
            <a:off x="3124080" y="4767390"/>
            <a:ext cx="2895120" cy="27351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09" name="Google Shape;109;p26"/>
          <p:cNvSpPr txBox="1">
            <a:spLocks noGrp="1"/>
          </p:cNvSpPr>
          <p:nvPr>
            <p:ph type="sldNum" idx="12"/>
          </p:nvPr>
        </p:nvSpPr>
        <p:spPr>
          <a:xfrm>
            <a:off x="6553080" y="4767390"/>
            <a:ext cx="2133360" cy="27351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B8B8B"/>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B8B8B"/>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B8B8B"/>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B8B8B"/>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B8B8B"/>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B8B8B"/>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B8B8B"/>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B8B8B"/>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hyperlink" Target="https://swizec.com/blog/what-i-learned-from-software-engineering-at-google/#software-engineering-vs-programming" TargetMode="External"/><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9"/>
          <p:cNvSpPr txBox="1"/>
          <p:nvPr/>
        </p:nvSpPr>
        <p:spPr>
          <a:xfrm>
            <a:off x="762120" y="228690"/>
            <a:ext cx="7772040" cy="177147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b="0" i="0" u="none" strike="noStrike" cap="none">
                <a:solidFill>
                  <a:srgbClr val="31859C"/>
                </a:solidFill>
                <a:latin typeface="Aharoni"/>
                <a:ea typeface="Aharoni"/>
                <a:cs typeface="Aharoni"/>
                <a:sym typeface="Aharoni"/>
              </a:rPr>
              <a:t>Software Engineering Approach</a:t>
            </a:r>
            <a:br>
              <a:rPr lang="en" sz="1800" b="0" i="0" u="none" strike="noStrike" cap="none"/>
            </a:br>
            <a:endParaRPr sz="3600" b="0" i="0" u="none" strike="noStrike" cap="none">
              <a:solidFill>
                <a:srgbClr val="000000"/>
              </a:solidFill>
              <a:latin typeface="Calibri"/>
              <a:ea typeface="Calibri"/>
              <a:cs typeface="Calibri"/>
              <a:sym typeface="Calibri"/>
            </a:endParaRPr>
          </a:p>
        </p:txBody>
      </p:sp>
      <p:sp>
        <p:nvSpPr>
          <p:cNvPr id="163" name="Google Shape;163;p39"/>
          <p:cNvSpPr txBox="1"/>
          <p:nvPr/>
        </p:nvSpPr>
        <p:spPr>
          <a:xfrm>
            <a:off x="1295280" y="3371760"/>
            <a:ext cx="6400440" cy="131409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3200" b="0" i="0" u="none" strike="noStrike" cap="none">
              <a:latin typeface="Arial"/>
              <a:ea typeface="Arial"/>
              <a:cs typeface="Arial"/>
              <a:sym typeface="Arial"/>
            </a:endParaRPr>
          </a:p>
        </p:txBody>
      </p:sp>
      <p:sp>
        <p:nvSpPr>
          <p:cNvPr id="164" name="Google Shape;164;p39"/>
          <p:cNvSpPr/>
          <p:nvPr/>
        </p:nvSpPr>
        <p:spPr>
          <a:xfrm>
            <a:off x="1295280" y="2057400"/>
            <a:ext cx="7009920" cy="98145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 sz="2400" b="0" i="0" u="none" strike="noStrike" cap="none">
                <a:solidFill>
                  <a:srgbClr val="C00000"/>
                </a:solidFill>
                <a:latin typeface="Calibri"/>
                <a:ea typeface="Calibri"/>
                <a:cs typeface="Calibri"/>
                <a:sym typeface="Calibri"/>
              </a:rPr>
              <a:t>Lecture – 1</a:t>
            </a:r>
            <a:endParaRPr sz="2400" b="0" i="0" u="none" strike="noStrike" cap="none">
              <a:latin typeface="Arial"/>
              <a:ea typeface="Arial"/>
              <a:cs typeface="Arial"/>
              <a:sym typeface="Arial"/>
            </a:endParaRPr>
          </a:p>
          <a:p>
            <a:pPr marL="0" marR="0" lvl="0" indent="0" algn="ctr" rtl="0">
              <a:lnSpc>
                <a:spcPct val="100000"/>
              </a:lnSpc>
              <a:spcBef>
                <a:spcPts val="0"/>
              </a:spcBef>
              <a:spcAft>
                <a:spcPts val="0"/>
              </a:spcAft>
              <a:buNone/>
            </a:pPr>
            <a:r>
              <a:rPr lang="en" sz="2800" b="0" i="0" u="none" strike="noStrike" cap="none">
                <a:solidFill>
                  <a:srgbClr val="E46C0A"/>
                </a:solidFill>
                <a:latin typeface="Balthazar"/>
                <a:ea typeface="Balthazar"/>
                <a:cs typeface="Balthazar"/>
                <a:sym typeface="Balthazar"/>
              </a:rPr>
              <a:t>Introduction to Software Engineering Approach (CSE 4658)</a:t>
            </a:r>
            <a:endParaRPr sz="2800" b="0" i="0" u="none" strike="noStrike" cap="non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40"/>
          <p:cNvSpPr txBox="1"/>
          <p:nvPr/>
        </p:nvSpPr>
        <p:spPr>
          <a:xfrm>
            <a:off x="457200" y="114210"/>
            <a:ext cx="8229240" cy="57132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None/>
            </a:pPr>
            <a:r>
              <a:rPr lang="en" sz="3600" b="0" i="0" u="none" strike="noStrike" cap="none">
                <a:solidFill>
                  <a:srgbClr val="0070C0"/>
                </a:solidFill>
                <a:latin typeface="Comic Sans MS"/>
                <a:ea typeface="Comic Sans MS"/>
                <a:cs typeface="Comic Sans MS"/>
                <a:sym typeface="Comic Sans MS"/>
              </a:rPr>
              <a:t>Course Details</a:t>
            </a:r>
            <a:endParaRPr sz="3600" b="0" i="0" u="none" strike="noStrike" cap="none">
              <a:solidFill>
                <a:srgbClr val="000000"/>
              </a:solidFill>
              <a:latin typeface="Calibri"/>
              <a:ea typeface="Calibri"/>
              <a:cs typeface="Calibri"/>
              <a:sym typeface="Calibri"/>
            </a:endParaRPr>
          </a:p>
        </p:txBody>
      </p:sp>
      <p:sp>
        <p:nvSpPr>
          <p:cNvPr id="170" name="Google Shape;170;p40"/>
          <p:cNvSpPr txBox="1"/>
          <p:nvPr/>
        </p:nvSpPr>
        <p:spPr>
          <a:xfrm>
            <a:off x="228600" y="685800"/>
            <a:ext cx="8686440" cy="3908520"/>
          </a:xfrm>
          <a:prstGeom prst="rect">
            <a:avLst/>
          </a:prstGeom>
          <a:noFill/>
          <a:ln>
            <a:noFill/>
          </a:ln>
        </p:spPr>
        <p:txBody>
          <a:bodyPr spcFirstLastPara="1" wrap="square" lIns="91425" tIns="45700" rIns="91425" bIns="45700" anchor="t" anchorCtr="0">
            <a:normAutofit fontScale="80000" lnSpcReduction="10000"/>
          </a:bodyPr>
          <a:lstStyle/>
          <a:p>
            <a:pPr marL="343080" marR="0" lvl="0" indent="-342720" algn="l" rtl="0">
              <a:lnSpc>
                <a:spcPct val="100000"/>
              </a:lnSpc>
              <a:spcBef>
                <a:spcPts val="0"/>
              </a:spcBef>
              <a:spcAft>
                <a:spcPts val="0"/>
              </a:spcAft>
              <a:buClr>
                <a:srgbClr val="003300"/>
              </a:buClr>
              <a:buSzPct val="100000"/>
              <a:buFont typeface="Arial"/>
              <a:buChar char="•"/>
            </a:pPr>
            <a:r>
              <a:rPr lang="en" sz="2800" b="0" i="0" u="none" strike="noStrike" cap="none">
                <a:solidFill>
                  <a:srgbClr val="003300"/>
                </a:solidFill>
                <a:latin typeface="Candara"/>
                <a:ea typeface="Candara"/>
                <a:cs typeface="Candara"/>
                <a:sym typeface="Candara"/>
              </a:rPr>
              <a:t>Credit: 4; Grading Pattern: 6</a:t>
            </a:r>
            <a:endParaRPr sz="2800" b="0" i="0" u="none" strike="noStrike" cap="non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ct val="100000"/>
              <a:buFont typeface="Arial"/>
              <a:buChar char="•"/>
            </a:pPr>
            <a:r>
              <a:rPr lang="en" sz="2800" b="0" i="0" u="none" strike="noStrike" cap="none">
                <a:solidFill>
                  <a:srgbClr val="003300"/>
                </a:solidFill>
                <a:latin typeface="Candara"/>
                <a:ea typeface="Candara"/>
                <a:cs typeface="Candara"/>
                <a:sym typeface="Candara"/>
              </a:rPr>
              <a:t>Software Engineering </a:t>
            </a:r>
            <a:endParaRPr sz="2800" b="0" i="0" u="none" strike="noStrike" cap="none">
              <a:solidFill>
                <a:srgbClr val="003300"/>
              </a:solidFill>
              <a:latin typeface="Candara"/>
              <a:ea typeface="Candara"/>
              <a:cs typeface="Candara"/>
              <a:sym typeface="Candara"/>
            </a:endParaRPr>
          </a:p>
          <a:p>
            <a:pPr marL="0" marR="0" lvl="0" indent="0" algn="just" rtl="0">
              <a:spcBef>
                <a:spcPts val="0"/>
              </a:spcBef>
              <a:spcAft>
                <a:spcPts val="0"/>
              </a:spcAft>
              <a:buNone/>
            </a:pPr>
            <a:r>
              <a:rPr lang="en" sz="2400" b="0" i="0" u="none" strike="noStrike" cap="none">
                <a:solidFill>
                  <a:srgbClr val="7030A0"/>
                </a:solidFill>
                <a:latin typeface="Century Gothic"/>
                <a:ea typeface="Century Gothic"/>
                <a:cs typeface="Century Gothic"/>
                <a:sym typeface="Century Gothic"/>
              </a:rPr>
              <a:t>What Is Software Engineering? Working Well on Teams, Knowledge Sharing, Engineering for Equity, How to Lead a Team, Leading at Scale, Measuring Engineering Productivity, Style Guides and Rules, Code Review, Documentation, Testing Overview, Unit Testing, Testing Doubles, Larger Testing, Deprecation, Version Control and Branch Management, Code Search, Build Systems and Build Philosophy, Static Analysis, Dependency Management</a:t>
            </a:r>
            <a:endParaRPr sz="2400" b="0" strike="noStrike">
              <a:solidFill>
                <a:srgbClr val="003300"/>
              </a:solidFill>
              <a:latin typeface="Candara"/>
              <a:ea typeface="Candara"/>
              <a:cs typeface="Candara"/>
              <a:sym typeface="Candara"/>
            </a:endParaRPr>
          </a:p>
          <a:p>
            <a:pPr marL="343080" marR="0" lvl="0" indent="-220799" algn="just" rtl="0">
              <a:lnSpc>
                <a:spcPct val="100000"/>
              </a:lnSpc>
              <a:spcBef>
                <a:spcPts val="561"/>
              </a:spcBef>
              <a:spcAft>
                <a:spcPts val="0"/>
              </a:spcAft>
              <a:buClr>
                <a:srgbClr val="003300"/>
              </a:buClr>
              <a:buSzPct val="100000"/>
              <a:buFont typeface="Arial"/>
              <a:buNone/>
            </a:pPr>
            <a:endParaRPr sz="2400" b="0" strike="noStrike">
              <a:solidFill>
                <a:srgbClr val="003300"/>
              </a:solidFill>
              <a:latin typeface="Candara"/>
              <a:ea typeface="Candara"/>
              <a:cs typeface="Candara"/>
              <a:sym typeface="Candara"/>
            </a:endParaRPr>
          </a:p>
          <a:p>
            <a:pPr marL="0" marR="0" lvl="0" indent="0" algn="just" rtl="0">
              <a:lnSpc>
                <a:spcPct val="100000"/>
              </a:lnSpc>
              <a:spcBef>
                <a:spcPts val="0"/>
              </a:spcBef>
              <a:spcAft>
                <a:spcPts val="0"/>
              </a:spcAft>
              <a:buNone/>
            </a:pPr>
            <a:r>
              <a:rPr lang="en" sz="2800" b="0" strike="noStrike">
                <a:solidFill>
                  <a:srgbClr val="003300"/>
                </a:solidFill>
                <a:latin typeface="Candara"/>
                <a:ea typeface="Candara"/>
                <a:cs typeface="Candara"/>
                <a:sym typeface="Candara"/>
              </a:rPr>
              <a:t>Text: </a:t>
            </a:r>
            <a:r>
              <a:rPr lang="en" sz="2400" b="0" strike="noStrike">
                <a:solidFill>
                  <a:srgbClr val="7030A0"/>
                </a:solidFill>
                <a:latin typeface="Century Gothic"/>
                <a:ea typeface="Century Gothic"/>
                <a:cs typeface="Century Gothic"/>
                <a:sym typeface="Century Gothic"/>
              </a:rPr>
              <a:t>Software Engineering at Google Lessons Learned from Programming Over Time: Titus Winters, Tom Manshreck, and Hyrum Wright, O’REILLY</a:t>
            </a:r>
            <a:endParaRPr sz="2400" b="0" strike="noStrike">
              <a:solidFill>
                <a:srgbClr val="003300"/>
              </a:solidFill>
              <a:latin typeface="Candara"/>
              <a:ea typeface="Candara"/>
              <a:cs typeface="Candara"/>
              <a:sym typeface="Candar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1"/>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b="0" strike="noStrike">
                <a:solidFill>
                  <a:srgbClr val="0070C0"/>
                </a:solidFill>
                <a:latin typeface="Comic Sans MS"/>
                <a:ea typeface="Comic Sans MS"/>
                <a:cs typeface="Comic Sans MS"/>
                <a:sym typeface="Comic Sans MS"/>
              </a:rPr>
              <a:t>Evaluation</a:t>
            </a:r>
            <a:endParaRPr sz="3600" b="0" strike="noStrike">
              <a:solidFill>
                <a:srgbClr val="000000"/>
              </a:solidFill>
              <a:latin typeface="Calibri"/>
              <a:ea typeface="Calibri"/>
              <a:cs typeface="Calibri"/>
              <a:sym typeface="Calibri"/>
            </a:endParaRPr>
          </a:p>
        </p:txBody>
      </p:sp>
      <p:graphicFrame>
        <p:nvGraphicFramePr>
          <p:cNvPr id="176" name="Google Shape;176;p41"/>
          <p:cNvGraphicFramePr/>
          <p:nvPr/>
        </p:nvGraphicFramePr>
        <p:xfrm>
          <a:off x="685800" y="971190"/>
          <a:ext cx="3000000" cy="3000000"/>
        </p:xfrm>
        <a:graphic>
          <a:graphicData uri="http://schemas.openxmlformats.org/drawingml/2006/table">
            <a:tbl>
              <a:tblPr>
                <a:noFill/>
                <a:tableStyleId>{EA68D31C-F78F-4293-BFBD-2402935DC499}</a:tableStyleId>
              </a:tblPr>
              <a:tblGrid>
                <a:gridCol w="3415675">
                  <a:extLst>
                    <a:ext uri="{9D8B030D-6E8A-4147-A177-3AD203B41FA5}">
                      <a16:colId xmlns:a16="http://schemas.microsoft.com/office/drawing/2014/main" val="20000"/>
                    </a:ext>
                  </a:extLst>
                </a:gridCol>
                <a:gridCol w="3975475">
                  <a:extLst>
                    <a:ext uri="{9D8B030D-6E8A-4147-A177-3AD203B41FA5}">
                      <a16:colId xmlns:a16="http://schemas.microsoft.com/office/drawing/2014/main" val="20001"/>
                    </a:ext>
                  </a:extLst>
                </a:gridCol>
              </a:tblGrid>
              <a:tr h="327500">
                <a:tc gridSpan="2">
                  <a:txBody>
                    <a:bodyPr/>
                    <a:lstStyle/>
                    <a:p>
                      <a:pPr marL="0" marR="0" lvl="0" indent="0" algn="ctr" rtl="0">
                        <a:lnSpc>
                          <a:spcPct val="100000"/>
                        </a:lnSpc>
                        <a:spcBef>
                          <a:spcPts val="0"/>
                        </a:spcBef>
                        <a:spcAft>
                          <a:spcPts val="0"/>
                        </a:spcAft>
                        <a:buNone/>
                      </a:pPr>
                      <a:r>
                        <a:rPr lang="en" sz="1500" b="1" u="none" strike="noStrike" cap="none">
                          <a:solidFill>
                            <a:srgbClr val="FFFF00"/>
                          </a:solidFill>
                          <a:latin typeface="Arial"/>
                          <a:ea typeface="Arial"/>
                          <a:cs typeface="Arial"/>
                          <a:sym typeface="Arial"/>
                        </a:rPr>
                        <a:t>INTERNAL</a:t>
                      </a:r>
                      <a:endParaRPr sz="1500" b="0" u="none" strike="noStrike" cap="none">
                        <a:latin typeface="Arial"/>
                        <a:ea typeface="Arial"/>
                        <a:cs typeface="Arial"/>
                        <a:sym typeface="Arial"/>
                      </a:endParaRPr>
                    </a:p>
                  </a:txBody>
                  <a:tcPr marL="91450" marR="91450" marT="34300" marB="34300">
                    <a:solidFill>
                      <a:srgbClr val="729FCF"/>
                    </a:solidFill>
                  </a:tcPr>
                </a:tc>
                <a:tc hMerge="1">
                  <a:txBody>
                    <a:bodyPr/>
                    <a:lstStyle/>
                    <a:p>
                      <a:endParaRPr lang="en-US"/>
                    </a:p>
                  </a:txBody>
                  <a:tcPr/>
                </a:tc>
                <a:extLst>
                  <a:ext uri="{0D108BD9-81ED-4DB2-BD59-A6C34878D82A}">
                    <a16:rowId xmlns:a16="http://schemas.microsoft.com/office/drawing/2014/main" val="10000"/>
                  </a:ext>
                </a:extLst>
              </a:tr>
              <a:tr h="327500">
                <a:tc>
                  <a:txBody>
                    <a:bodyPr/>
                    <a:lstStyle/>
                    <a:p>
                      <a:pPr marL="0" marR="0" lvl="0" indent="0" algn="l" rtl="0">
                        <a:lnSpc>
                          <a:spcPct val="100000"/>
                        </a:lnSpc>
                        <a:spcBef>
                          <a:spcPts val="0"/>
                        </a:spcBef>
                        <a:spcAft>
                          <a:spcPts val="0"/>
                        </a:spcAft>
                        <a:buNone/>
                      </a:pPr>
                      <a:r>
                        <a:rPr lang="en" sz="1500" b="0" u="none" strike="noStrike" cap="none">
                          <a:solidFill>
                            <a:srgbClr val="000000"/>
                          </a:solidFill>
                          <a:latin typeface="Arial"/>
                          <a:ea typeface="Arial"/>
                          <a:cs typeface="Arial"/>
                          <a:sym typeface="Arial"/>
                        </a:rPr>
                        <a:t>PARTICIPATION</a:t>
                      </a:r>
                      <a:endParaRPr sz="1500" b="0" u="none" strike="noStrike" cap="none">
                        <a:latin typeface="Arial"/>
                        <a:ea typeface="Arial"/>
                        <a:cs typeface="Arial"/>
                        <a:sym typeface="Arial"/>
                      </a:endParaRPr>
                    </a:p>
                  </a:txBody>
                  <a:tcPr marL="91450" marR="91450" marT="34300" marB="34300">
                    <a:solidFill>
                      <a:srgbClr val="729FCF"/>
                    </a:solidFill>
                  </a:tcPr>
                </a:tc>
                <a:tc>
                  <a:txBody>
                    <a:bodyPr/>
                    <a:lstStyle/>
                    <a:p>
                      <a:pPr marL="0" marR="0" lvl="0" indent="0" algn="ctr" rtl="0">
                        <a:lnSpc>
                          <a:spcPct val="100000"/>
                        </a:lnSpc>
                        <a:spcBef>
                          <a:spcPts val="0"/>
                        </a:spcBef>
                        <a:spcAft>
                          <a:spcPts val="0"/>
                        </a:spcAft>
                        <a:buNone/>
                      </a:pPr>
                      <a:r>
                        <a:rPr lang="en" sz="1500" b="0" u="none" strike="noStrike" cap="none">
                          <a:solidFill>
                            <a:srgbClr val="000000"/>
                          </a:solidFill>
                          <a:latin typeface="Arial"/>
                          <a:ea typeface="Arial"/>
                          <a:cs typeface="Arial"/>
                          <a:sym typeface="Arial"/>
                        </a:rPr>
                        <a:t>5 </a:t>
                      </a:r>
                      <a:endParaRPr sz="1500" b="0" u="none" strike="noStrike" cap="none">
                        <a:latin typeface="Arial"/>
                        <a:ea typeface="Arial"/>
                        <a:cs typeface="Arial"/>
                        <a:sym typeface="Arial"/>
                      </a:endParaRPr>
                    </a:p>
                  </a:txBody>
                  <a:tcPr marL="91450" marR="91450" marT="34300" marB="34300">
                    <a:solidFill>
                      <a:srgbClr val="729FCF"/>
                    </a:solidFill>
                  </a:tcPr>
                </a:tc>
                <a:extLst>
                  <a:ext uri="{0D108BD9-81ED-4DB2-BD59-A6C34878D82A}">
                    <a16:rowId xmlns:a16="http://schemas.microsoft.com/office/drawing/2014/main" val="10001"/>
                  </a:ext>
                </a:extLst>
              </a:tr>
              <a:tr h="327500">
                <a:tc>
                  <a:txBody>
                    <a:bodyPr/>
                    <a:lstStyle/>
                    <a:p>
                      <a:pPr marL="0" marR="0" lvl="0" indent="0" algn="l" rtl="0">
                        <a:lnSpc>
                          <a:spcPct val="100000"/>
                        </a:lnSpc>
                        <a:spcBef>
                          <a:spcPts val="0"/>
                        </a:spcBef>
                        <a:spcAft>
                          <a:spcPts val="0"/>
                        </a:spcAft>
                        <a:buNone/>
                      </a:pPr>
                      <a:r>
                        <a:rPr lang="en" sz="1500" b="0" u="none" strike="noStrike" cap="none">
                          <a:solidFill>
                            <a:srgbClr val="000000"/>
                          </a:solidFill>
                          <a:latin typeface="Arial"/>
                          <a:ea typeface="Arial"/>
                          <a:cs typeface="Arial"/>
                          <a:sym typeface="Arial"/>
                        </a:rPr>
                        <a:t>WEEKLY ASSIGNMENTS</a:t>
                      </a:r>
                      <a:endParaRPr sz="1500" b="0" u="none" strike="noStrike" cap="none">
                        <a:latin typeface="Arial"/>
                        <a:ea typeface="Arial"/>
                        <a:cs typeface="Arial"/>
                        <a:sym typeface="Arial"/>
                      </a:endParaRPr>
                    </a:p>
                  </a:txBody>
                  <a:tcPr marL="91450" marR="91450" marT="34300" marB="34300">
                    <a:solidFill>
                      <a:srgbClr val="729FCF"/>
                    </a:solidFill>
                  </a:tcPr>
                </a:tc>
                <a:tc>
                  <a:txBody>
                    <a:bodyPr/>
                    <a:lstStyle/>
                    <a:p>
                      <a:pPr marL="0" marR="0" lvl="0" indent="0" algn="ctr" rtl="0">
                        <a:lnSpc>
                          <a:spcPct val="100000"/>
                        </a:lnSpc>
                        <a:spcBef>
                          <a:spcPts val="0"/>
                        </a:spcBef>
                        <a:spcAft>
                          <a:spcPts val="0"/>
                        </a:spcAft>
                        <a:buNone/>
                      </a:pPr>
                      <a:r>
                        <a:rPr lang="en" sz="1500" b="0" u="none" strike="noStrike" cap="none">
                          <a:solidFill>
                            <a:srgbClr val="000000"/>
                          </a:solidFill>
                          <a:latin typeface="Arial"/>
                          <a:ea typeface="Arial"/>
                          <a:cs typeface="Arial"/>
                          <a:sym typeface="Arial"/>
                        </a:rPr>
                        <a:t>20 </a:t>
                      </a:r>
                      <a:endParaRPr sz="1500" b="0" u="none" strike="noStrike" cap="none">
                        <a:latin typeface="Arial"/>
                        <a:ea typeface="Arial"/>
                        <a:cs typeface="Arial"/>
                        <a:sym typeface="Arial"/>
                      </a:endParaRPr>
                    </a:p>
                  </a:txBody>
                  <a:tcPr marL="91450" marR="91450" marT="34300" marB="34300">
                    <a:solidFill>
                      <a:srgbClr val="729FCF"/>
                    </a:solidFill>
                  </a:tcPr>
                </a:tc>
                <a:extLst>
                  <a:ext uri="{0D108BD9-81ED-4DB2-BD59-A6C34878D82A}">
                    <a16:rowId xmlns:a16="http://schemas.microsoft.com/office/drawing/2014/main" val="10002"/>
                  </a:ext>
                </a:extLst>
              </a:tr>
              <a:tr h="327500">
                <a:tc>
                  <a:txBody>
                    <a:bodyPr/>
                    <a:lstStyle/>
                    <a:p>
                      <a:pPr marL="0" marR="0" lvl="0" indent="0" algn="l" rtl="0">
                        <a:lnSpc>
                          <a:spcPct val="100000"/>
                        </a:lnSpc>
                        <a:spcBef>
                          <a:spcPts val="0"/>
                        </a:spcBef>
                        <a:spcAft>
                          <a:spcPts val="0"/>
                        </a:spcAft>
                        <a:buNone/>
                      </a:pPr>
                      <a:r>
                        <a:rPr lang="en" sz="1500" b="0" u="none" strike="noStrike" cap="none">
                          <a:solidFill>
                            <a:srgbClr val="000000"/>
                          </a:solidFill>
                          <a:latin typeface="Arial"/>
                          <a:ea typeface="Arial"/>
                          <a:cs typeface="Arial"/>
                          <a:sym typeface="Arial"/>
                        </a:rPr>
                        <a:t>MID TERM</a:t>
                      </a:r>
                      <a:endParaRPr sz="1500" b="0" u="none" strike="noStrike" cap="none">
                        <a:latin typeface="Arial"/>
                        <a:ea typeface="Arial"/>
                        <a:cs typeface="Arial"/>
                        <a:sym typeface="Arial"/>
                      </a:endParaRPr>
                    </a:p>
                  </a:txBody>
                  <a:tcPr marL="91450" marR="91450" marT="34300" marB="34300">
                    <a:solidFill>
                      <a:srgbClr val="729FCF"/>
                    </a:solidFill>
                  </a:tcPr>
                </a:tc>
                <a:tc>
                  <a:txBody>
                    <a:bodyPr/>
                    <a:lstStyle/>
                    <a:p>
                      <a:pPr marL="0" marR="0" lvl="0" indent="0" algn="ctr" rtl="0">
                        <a:lnSpc>
                          <a:spcPct val="100000"/>
                        </a:lnSpc>
                        <a:spcBef>
                          <a:spcPts val="0"/>
                        </a:spcBef>
                        <a:spcAft>
                          <a:spcPts val="0"/>
                        </a:spcAft>
                        <a:buNone/>
                      </a:pPr>
                      <a:r>
                        <a:rPr lang="en" sz="1500" b="0" u="none" strike="noStrike" cap="none">
                          <a:solidFill>
                            <a:srgbClr val="000000"/>
                          </a:solidFill>
                          <a:latin typeface="Arial"/>
                          <a:ea typeface="Arial"/>
                          <a:cs typeface="Arial"/>
                          <a:sym typeface="Arial"/>
                        </a:rPr>
                        <a:t>15 </a:t>
                      </a:r>
                      <a:endParaRPr sz="1500" b="0" u="none" strike="noStrike" cap="none">
                        <a:latin typeface="Arial"/>
                        <a:ea typeface="Arial"/>
                        <a:cs typeface="Arial"/>
                        <a:sym typeface="Arial"/>
                      </a:endParaRPr>
                    </a:p>
                  </a:txBody>
                  <a:tcPr marL="91450" marR="91450" marT="34300" marB="34300">
                    <a:solidFill>
                      <a:srgbClr val="729FCF"/>
                    </a:solidFill>
                  </a:tcPr>
                </a:tc>
                <a:extLst>
                  <a:ext uri="{0D108BD9-81ED-4DB2-BD59-A6C34878D82A}">
                    <a16:rowId xmlns:a16="http://schemas.microsoft.com/office/drawing/2014/main" val="10003"/>
                  </a:ext>
                </a:extLst>
              </a:tr>
              <a:tr h="327500">
                <a:tc>
                  <a:txBody>
                    <a:bodyPr/>
                    <a:lstStyle/>
                    <a:p>
                      <a:pPr marL="0" marR="0" lvl="0" indent="0" algn="l" rtl="0">
                        <a:lnSpc>
                          <a:spcPct val="100000"/>
                        </a:lnSpc>
                        <a:spcBef>
                          <a:spcPts val="0"/>
                        </a:spcBef>
                        <a:spcAft>
                          <a:spcPts val="0"/>
                        </a:spcAft>
                        <a:buNone/>
                      </a:pPr>
                      <a:r>
                        <a:rPr lang="en" sz="1500" b="0" u="none" strike="noStrike" cap="none">
                          <a:solidFill>
                            <a:srgbClr val="FDEADA"/>
                          </a:solidFill>
                          <a:latin typeface="Arial"/>
                          <a:ea typeface="Arial"/>
                          <a:cs typeface="Arial"/>
                          <a:sym typeface="Arial"/>
                        </a:rPr>
                        <a:t>INTERNAL TOTAL</a:t>
                      </a:r>
                      <a:endParaRPr sz="1500" b="0" u="none" strike="noStrike" cap="none">
                        <a:latin typeface="Arial"/>
                        <a:ea typeface="Arial"/>
                        <a:cs typeface="Arial"/>
                        <a:sym typeface="Arial"/>
                      </a:endParaRPr>
                    </a:p>
                  </a:txBody>
                  <a:tcPr marL="91450" marR="91450" marT="34300" marB="34300">
                    <a:solidFill>
                      <a:srgbClr val="729FCF"/>
                    </a:solidFill>
                  </a:tcPr>
                </a:tc>
                <a:tc>
                  <a:txBody>
                    <a:bodyPr/>
                    <a:lstStyle/>
                    <a:p>
                      <a:pPr marL="0" marR="0" lvl="0" indent="0" algn="ctr" rtl="0">
                        <a:lnSpc>
                          <a:spcPct val="100000"/>
                        </a:lnSpc>
                        <a:spcBef>
                          <a:spcPts val="0"/>
                        </a:spcBef>
                        <a:spcAft>
                          <a:spcPts val="0"/>
                        </a:spcAft>
                        <a:buNone/>
                      </a:pPr>
                      <a:r>
                        <a:rPr lang="en" sz="1500" b="0" u="none" strike="noStrike" cap="none">
                          <a:solidFill>
                            <a:srgbClr val="FDEADA"/>
                          </a:solidFill>
                          <a:latin typeface="Arial"/>
                          <a:ea typeface="Arial"/>
                          <a:cs typeface="Arial"/>
                          <a:sym typeface="Arial"/>
                        </a:rPr>
                        <a:t>40</a:t>
                      </a:r>
                      <a:endParaRPr sz="1500" b="0" u="none" strike="noStrike" cap="none">
                        <a:latin typeface="Arial"/>
                        <a:ea typeface="Arial"/>
                        <a:cs typeface="Arial"/>
                        <a:sym typeface="Arial"/>
                      </a:endParaRPr>
                    </a:p>
                  </a:txBody>
                  <a:tcPr marL="91450" marR="91450" marT="34300" marB="34300">
                    <a:solidFill>
                      <a:srgbClr val="729FCF"/>
                    </a:solidFill>
                  </a:tcPr>
                </a:tc>
                <a:extLst>
                  <a:ext uri="{0D108BD9-81ED-4DB2-BD59-A6C34878D82A}">
                    <a16:rowId xmlns:a16="http://schemas.microsoft.com/office/drawing/2014/main" val="10004"/>
                  </a:ext>
                </a:extLst>
              </a:tr>
              <a:tr h="327500">
                <a:tc gridSpan="2">
                  <a:txBody>
                    <a:bodyPr/>
                    <a:lstStyle/>
                    <a:p>
                      <a:pPr marL="0" marR="0" lvl="0" indent="0" algn="ctr" rtl="0">
                        <a:lnSpc>
                          <a:spcPct val="100000"/>
                        </a:lnSpc>
                        <a:spcBef>
                          <a:spcPts val="0"/>
                        </a:spcBef>
                        <a:spcAft>
                          <a:spcPts val="0"/>
                        </a:spcAft>
                        <a:buNone/>
                      </a:pPr>
                      <a:r>
                        <a:rPr lang="en" sz="1500" b="1" u="none" strike="noStrike" cap="none">
                          <a:solidFill>
                            <a:srgbClr val="FFFF00"/>
                          </a:solidFill>
                          <a:latin typeface="Arial"/>
                          <a:ea typeface="Arial"/>
                          <a:cs typeface="Arial"/>
                          <a:sym typeface="Arial"/>
                        </a:rPr>
                        <a:t>EXTERNAL</a:t>
                      </a:r>
                      <a:endParaRPr sz="1500" b="0" u="none" strike="noStrike" cap="none">
                        <a:latin typeface="Arial"/>
                        <a:ea typeface="Arial"/>
                        <a:cs typeface="Arial"/>
                        <a:sym typeface="Arial"/>
                      </a:endParaRPr>
                    </a:p>
                  </a:txBody>
                  <a:tcPr marL="91450" marR="91450" marT="34300" marB="34300">
                    <a:solidFill>
                      <a:srgbClr val="729FCF"/>
                    </a:solidFill>
                  </a:tcPr>
                </a:tc>
                <a:tc hMerge="1">
                  <a:txBody>
                    <a:bodyPr/>
                    <a:lstStyle/>
                    <a:p>
                      <a:endParaRPr lang="en-US"/>
                    </a:p>
                  </a:txBody>
                  <a:tcPr/>
                </a:tc>
                <a:extLst>
                  <a:ext uri="{0D108BD9-81ED-4DB2-BD59-A6C34878D82A}">
                    <a16:rowId xmlns:a16="http://schemas.microsoft.com/office/drawing/2014/main" val="10005"/>
                  </a:ext>
                </a:extLst>
              </a:tr>
              <a:tr h="327500">
                <a:tc>
                  <a:txBody>
                    <a:bodyPr/>
                    <a:lstStyle/>
                    <a:p>
                      <a:pPr marL="0" lvl="0" indent="0" algn="l" rtl="0">
                        <a:spcBef>
                          <a:spcPts val="0"/>
                        </a:spcBef>
                        <a:spcAft>
                          <a:spcPts val="0"/>
                        </a:spcAft>
                        <a:buNone/>
                      </a:pPr>
                      <a:endParaRPr/>
                    </a:p>
                  </a:txBody>
                  <a:tcPr marL="91450" marR="91450" marT="34300" marB="34300">
                    <a:solidFill>
                      <a:srgbClr val="729FCF"/>
                    </a:solidFill>
                  </a:tcPr>
                </a:tc>
                <a:tc>
                  <a:txBody>
                    <a:bodyPr/>
                    <a:lstStyle/>
                    <a:p>
                      <a:pPr marL="0" lvl="0" indent="0" algn="l" rtl="0">
                        <a:spcBef>
                          <a:spcPts val="0"/>
                        </a:spcBef>
                        <a:spcAft>
                          <a:spcPts val="0"/>
                        </a:spcAft>
                        <a:buNone/>
                      </a:pPr>
                      <a:endParaRPr/>
                    </a:p>
                  </a:txBody>
                  <a:tcPr marL="91450" marR="91450" marT="34300" marB="34300">
                    <a:solidFill>
                      <a:srgbClr val="729FCF"/>
                    </a:solidFill>
                  </a:tcPr>
                </a:tc>
                <a:extLst>
                  <a:ext uri="{0D108BD9-81ED-4DB2-BD59-A6C34878D82A}">
                    <a16:rowId xmlns:a16="http://schemas.microsoft.com/office/drawing/2014/main" val="10006"/>
                  </a:ext>
                </a:extLst>
              </a:tr>
              <a:tr h="327500">
                <a:tc>
                  <a:txBody>
                    <a:bodyPr/>
                    <a:lstStyle/>
                    <a:p>
                      <a:pPr marL="0" lvl="0" indent="0" algn="l" rtl="0">
                        <a:spcBef>
                          <a:spcPts val="0"/>
                        </a:spcBef>
                        <a:spcAft>
                          <a:spcPts val="0"/>
                        </a:spcAft>
                        <a:buNone/>
                      </a:pPr>
                      <a:endParaRPr/>
                    </a:p>
                  </a:txBody>
                  <a:tcPr marL="91450" marR="91450" marT="34300" marB="34300">
                    <a:solidFill>
                      <a:srgbClr val="729FCF"/>
                    </a:solidFill>
                  </a:tcPr>
                </a:tc>
                <a:tc>
                  <a:txBody>
                    <a:bodyPr/>
                    <a:lstStyle/>
                    <a:p>
                      <a:pPr marL="0" lvl="0" indent="0" algn="l" rtl="0">
                        <a:spcBef>
                          <a:spcPts val="0"/>
                        </a:spcBef>
                        <a:spcAft>
                          <a:spcPts val="0"/>
                        </a:spcAft>
                        <a:buNone/>
                      </a:pPr>
                      <a:endParaRPr/>
                    </a:p>
                  </a:txBody>
                  <a:tcPr marL="91450" marR="91450" marT="34300" marB="34300">
                    <a:solidFill>
                      <a:srgbClr val="729FCF"/>
                    </a:solidFill>
                  </a:tcPr>
                </a:tc>
                <a:extLst>
                  <a:ext uri="{0D108BD9-81ED-4DB2-BD59-A6C34878D82A}">
                    <a16:rowId xmlns:a16="http://schemas.microsoft.com/office/drawing/2014/main" val="10007"/>
                  </a:ext>
                </a:extLst>
              </a:tr>
              <a:tr h="327500">
                <a:tc>
                  <a:txBody>
                    <a:bodyPr/>
                    <a:lstStyle/>
                    <a:p>
                      <a:pPr marL="0" marR="0" lvl="0" indent="0" algn="l" rtl="0">
                        <a:lnSpc>
                          <a:spcPct val="100000"/>
                        </a:lnSpc>
                        <a:spcBef>
                          <a:spcPts val="0"/>
                        </a:spcBef>
                        <a:spcAft>
                          <a:spcPts val="0"/>
                        </a:spcAft>
                        <a:buNone/>
                      </a:pPr>
                      <a:r>
                        <a:rPr lang="en" sz="1500" b="0" u="none" strike="noStrike" cap="none">
                          <a:solidFill>
                            <a:srgbClr val="FDEADA"/>
                          </a:solidFill>
                          <a:latin typeface="Arial"/>
                          <a:ea typeface="Arial"/>
                          <a:cs typeface="Arial"/>
                          <a:sym typeface="Arial"/>
                        </a:rPr>
                        <a:t>EXTERNAL TOTAL</a:t>
                      </a:r>
                      <a:endParaRPr sz="1500" b="0" u="none" strike="noStrike" cap="none">
                        <a:latin typeface="Arial"/>
                        <a:ea typeface="Arial"/>
                        <a:cs typeface="Arial"/>
                        <a:sym typeface="Arial"/>
                      </a:endParaRPr>
                    </a:p>
                  </a:txBody>
                  <a:tcPr marL="91450" marR="91450" marT="34300" marB="34300">
                    <a:solidFill>
                      <a:srgbClr val="729FCF"/>
                    </a:solidFill>
                  </a:tcPr>
                </a:tc>
                <a:tc>
                  <a:txBody>
                    <a:bodyPr/>
                    <a:lstStyle/>
                    <a:p>
                      <a:pPr marL="0" marR="0" lvl="0" indent="0" algn="ctr" rtl="0">
                        <a:lnSpc>
                          <a:spcPct val="100000"/>
                        </a:lnSpc>
                        <a:spcBef>
                          <a:spcPts val="0"/>
                        </a:spcBef>
                        <a:spcAft>
                          <a:spcPts val="0"/>
                        </a:spcAft>
                        <a:buNone/>
                      </a:pPr>
                      <a:r>
                        <a:rPr lang="en" sz="1500" b="0" u="none" strike="noStrike" cap="none">
                          <a:solidFill>
                            <a:srgbClr val="FDEADA"/>
                          </a:solidFill>
                          <a:latin typeface="Arial"/>
                          <a:ea typeface="Arial"/>
                          <a:cs typeface="Arial"/>
                          <a:sym typeface="Arial"/>
                        </a:rPr>
                        <a:t>60</a:t>
                      </a:r>
                      <a:endParaRPr sz="1500" b="0" u="none" strike="noStrike" cap="none">
                        <a:latin typeface="Arial"/>
                        <a:ea typeface="Arial"/>
                        <a:cs typeface="Arial"/>
                        <a:sym typeface="Arial"/>
                      </a:endParaRPr>
                    </a:p>
                  </a:txBody>
                  <a:tcPr marL="91450" marR="91450" marT="34300" marB="34300">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42"/>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strike="noStrike">
              <a:solidFill>
                <a:srgbClr val="000000"/>
              </a:solidFill>
              <a:latin typeface="Calibri"/>
              <a:ea typeface="Calibri"/>
              <a:cs typeface="Calibri"/>
              <a:sym typeface="Calibri"/>
            </a:endParaRPr>
          </a:p>
        </p:txBody>
      </p:sp>
      <p:pic>
        <p:nvPicPr>
          <p:cNvPr id="182" name="Google Shape;182;p42" descr="no-cell-phone-clipart-ntbgkmggc (1).jpeg"/>
          <p:cNvPicPr preferRelativeResize="0"/>
          <p:nvPr/>
        </p:nvPicPr>
        <p:blipFill rotWithShape="1">
          <a:blip r:embed="rId3">
            <a:alphaModFix/>
          </a:blip>
          <a:srcRect/>
          <a:stretch/>
        </p:blipFill>
        <p:spPr>
          <a:xfrm>
            <a:off x="1393560" y="0"/>
            <a:ext cx="4767660" cy="514323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fade">
                                      <p:cBhvr>
                                        <p:cTn id="7" dur="5000"/>
                                        <p:tgtEl>
                                          <p:spTgt spid="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43"/>
          <p:cNvSpPr txBox="1">
            <a:spLocks noGrp="1"/>
          </p:cNvSpPr>
          <p:nvPr>
            <p:ph type="title"/>
          </p:nvPr>
        </p:nvSpPr>
        <p:spPr>
          <a:xfrm>
            <a:off x="457200" y="114210"/>
            <a:ext cx="8229300" cy="593700"/>
          </a:xfrm>
          <a:prstGeom prst="rect">
            <a:avLst/>
          </a:prstGeom>
        </p:spPr>
        <p:txBody>
          <a:bodyPr spcFirstLastPara="1" wrap="square" lIns="0" tIns="0" rIns="0" bIns="0" anchor="ctr" anchorCtr="0">
            <a:noAutofit/>
          </a:bodyPr>
          <a:lstStyle/>
          <a:p>
            <a:pPr marL="3200400" lvl="0" indent="457200" algn="l" rtl="0">
              <a:spcBef>
                <a:spcPts val="0"/>
              </a:spcBef>
              <a:spcAft>
                <a:spcPts val="0"/>
              </a:spcAft>
              <a:buNone/>
            </a:pPr>
            <a:r>
              <a:rPr lang="en" sz="2900"/>
              <a:t>Chapter-1</a:t>
            </a:r>
            <a:endParaRPr sz="2900"/>
          </a:p>
        </p:txBody>
      </p:sp>
      <p:sp>
        <p:nvSpPr>
          <p:cNvPr id="188" name="Google Shape;188;p43"/>
          <p:cNvSpPr txBox="1">
            <a:spLocks noGrp="1"/>
          </p:cNvSpPr>
          <p:nvPr>
            <p:ph type="subTitle" idx="1"/>
          </p:nvPr>
        </p:nvSpPr>
        <p:spPr>
          <a:xfrm>
            <a:off x="228600" y="685800"/>
            <a:ext cx="8686500" cy="3908400"/>
          </a:xfrm>
          <a:prstGeom prst="rect">
            <a:avLst/>
          </a:prstGeom>
        </p:spPr>
        <p:txBody>
          <a:bodyPr spcFirstLastPara="1" wrap="square" lIns="0" tIns="0" rIns="0" bIns="0" anchor="ctr" anchorCtr="0">
            <a:noAutofit/>
          </a:bodyPr>
          <a:lstStyle/>
          <a:p>
            <a:pPr marL="914400" lvl="0" indent="457200" algn="just" rtl="0">
              <a:spcBef>
                <a:spcPts val="0"/>
              </a:spcBef>
              <a:spcAft>
                <a:spcPts val="0"/>
              </a:spcAft>
              <a:buClr>
                <a:schemeClr val="dk1"/>
              </a:buClr>
              <a:buFont typeface="Arial"/>
              <a:buNone/>
            </a:pPr>
            <a:r>
              <a:rPr lang="en" sz="2400">
                <a:solidFill>
                  <a:schemeClr val="dk1"/>
                </a:solidFill>
                <a:latin typeface="Century Gothic"/>
                <a:ea typeface="Century Gothic"/>
                <a:cs typeface="Century Gothic"/>
                <a:sym typeface="Century Gothic"/>
              </a:rPr>
              <a:t>What Is Software Engineering?</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44"/>
          <p:cNvSpPr txBox="1"/>
          <p:nvPr/>
        </p:nvSpPr>
        <p:spPr>
          <a:xfrm>
            <a:off x="457200" y="114210"/>
            <a:ext cx="8229240" cy="59373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Font typeface="Arial"/>
              <a:buNone/>
            </a:pPr>
            <a:r>
              <a:rPr lang="en" sz="3200">
                <a:solidFill>
                  <a:srgbClr val="0070C0"/>
                </a:solidFill>
                <a:latin typeface="Comic Sans MS"/>
                <a:ea typeface="Comic Sans MS"/>
                <a:cs typeface="Comic Sans MS"/>
                <a:sym typeface="Comic Sans MS"/>
              </a:rPr>
              <a:t>Organization of the Structure (Chapter-1)</a:t>
            </a:r>
            <a:endParaRPr sz="1000"/>
          </a:p>
        </p:txBody>
      </p:sp>
      <p:sp>
        <p:nvSpPr>
          <p:cNvPr id="194" name="Google Shape;194;p44"/>
          <p:cNvSpPr txBox="1"/>
          <p:nvPr/>
        </p:nvSpPr>
        <p:spPr>
          <a:xfrm>
            <a:off x="1074600" y="584250"/>
            <a:ext cx="7772700" cy="4496700"/>
          </a:xfrm>
          <a:prstGeom prst="rect">
            <a:avLst/>
          </a:prstGeom>
          <a:noFill/>
          <a:ln>
            <a:noFill/>
          </a:ln>
        </p:spPr>
        <p:txBody>
          <a:bodyPr spcFirstLastPara="1" wrap="square" lIns="91425" tIns="91425" rIns="91425" bIns="91425" anchor="t" anchorCtr="0">
            <a:noAutofit/>
          </a:bodyPr>
          <a:lstStyle/>
          <a:p>
            <a:pPr marL="457200" lvl="0" indent="-349250" algn="l" rtl="0">
              <a:spcBef>
                <a:spcPts val="0"/>
              </a:spcBef>
              <a:spcAft>
                <a:spcPts val="0"/>
              </a:spcAft>
              <a:buClr>
                <a:schemeClr val="dk1"/>
              </a:buClr>
              <a:buSzPts val="1900"/>
              <a:buFont typeface="Times New Roman"/>
              <a:buAutoNum type="arabicPeriod"/>
            </a:pPr>
            <a:r>
              <a:rPr lang="en" sz="1900">
                <a:solidFill>
                  <a:schemeClr val="dk1"/>
                </a:solidFill>
                <a:latin typeface="Times New Roman"/>
                <a:ea typeface="Times New Roman"/>
                <a:cs typeface="Times New Roman"/>
                <a:sym typeface="Times New Roman"/>
              </a:rPr>
              <a:t>Software Engineering vs. Programming</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AutoNum type="arabicPeriod"/>
            </a:pPr>
            <a:r>
              <a:rPr lang="en" sz="1900">
                <a:solidFill>
                  <a:schemeClr val="dk1"/>
                </a:solidFill>
                <a:latin typeface="Times New Roman"/>
                <a:ea typeface="Times New Roman"/>
                <a:cs typeface="Times New Roman"/>
                <a:sym typeface="Times New Roman"/>
              </a:rPr>
              <a:t>Software Characteristics</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AutoNum type="arabicPeriod"/>
            </a:pPr>
            <a:r>
              <a:rPr lang="en" sz="1900">
                <a:solidFill>
                  <a:schemeClr val="dk1"/>
                </a:solidFill>
                <a:latin typeface="Times New Roman"/>
                <a:ea typeface="Times New Roman"/>
                <a:cs typeface="Times New Roman"/>
                <a:sym typeface="Times New Roman"/>
              </a:rPr>
              <a:t>Software Failure Rate</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AutoNum type="arabicPeriod"/>
            </a:pPr>
            <a:r>
              <a:rPr lang="en" sz="1900">
                <a:solidFill>
                  <a:schemeClr val="dk1"/>
                </a:solidFill>
                <a:latin typeface="Times New Roman"/>
                <a:ea typeface="Times New Roman"/>
                <a:cs typeface="Times New Roman"/>
                <a:sym typeface="Times New Roman"/>
              </a:rPr>
              <a:t>Software Engineering - defining</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AutoNum type="arabicPeriod"/>
            </a:pPr>
            <a:r>
              <a:rPr lang="en" sz="1900">
                <a:solidFill>
                  <a:schemeClr val="dk1"/>
                </a:solidFill>
                <a:latin typeface="Times New Roman"/>
                <a:ea typeface="Times New Roman"/>
                <a:cs typeface="Times New Roman"/>
                <a:sym typeface="Times New Roman"/>
              </a:rPr>
              <a:t>Time and Change</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AutoNum type="arabicPeriod"/>
            </a:pPr>
            <a:r>
              <a:rPr lang="en" sz="1900">
                <a:solidFill>
                  <a:schemeClr val="dk1"/>
                </a:solidFill>
                <a:latin typeface="Times New Roman"/>
                <a:ea typeface="Times New Roman"/>
                <a:cs typeface="Times New Roman"/>
                <a:sym typeface="Times New Roman"/>
              </a:rPr>
              <a:t>Hyrum’s Law</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AutoNum type="arabicPeriod"/>
            </a:pPr>
            <a:r>
              <a:rPr lang="en" sz="1900">
                <a:solidFill>
                  <a:schemeClr val="dk1"/>
                </a:solidFill>
                <a:latin typeface="Times New Roman"/>
                <a:ea typeface="Times New Roman"/>
                <a:cs typeface="Times New Roman"/>
                <a:sym typeface="Times New Roman"/>
              </a:rPr>
              <a:t>Timeline of the developer workflow</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AutoNum type="arabicPeriod"/>
            </a:pPr>
            <a:r>
              <a:rPr lang="en" sz="1900">
                <a:solidFill>
                  <a:schemeClr val="dk1"/>
                </a:solidFill>
                <a:latin typeface="Times New Roman"/>
                <a:ea typeface="Times New Roman"/>
                <a:cs typeface="Times New Roman"/>
                <a:sym typeface="Times New Roman"/>
              </a:rPr>
              <a:t>Tradeoffs and Costs</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AutoNum type="arabicPeriod"/>
            </a:pPr>
            <a:r>
              <a:rPr lang="en" sz="1900">
                <a:solidFill>
                  <a:schemeClr val="dk1"/>
                </a:solidFill>
                <a:latin typeface="Times New Roman"/>
                <a:ea typeface="Times New Roman"/>
                <a:cs typeface="Times New Roman"/>
                <a:sym typeface="Times New Roman"/>
              </a:rPr>
              <a:t>Evolution of Pattern of Technology</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AutoNum type="arabicPeriod"/>
            </a:pPr>
            <a:r>
              <a:rPr lang="en" sz="1900">
                <a:solidFill>
                  <a:schemeClr val="dk1"/>
                </a:solidFill>
                <a:latin typeface="Times New Roman"/>
                <a:ea typeface="Times New Roman"/>
                <a:cs typeface="Times New Roman"/>
                <a:sym typeface="Times New Roman"/>
              </a:rPr>
              <a:t>Types of Software</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AutoNum type="arabicPeriod"/>
            </a:pPr>
            <a:r>
              <a:rPr lang="en" sz="1900">
                <a:solidFill>
                  <a:schemeClr val="dk1"/>
                </a:solidFill>
                <a:latin typeface="Times New Roman"/>
                <a:ea typeface="Times New Roman"/>
                <a:cs typeface="Times New Roman"/>
                <a:sym typeface="Times New Roman"/>
              </a:rPr>
              <a:t>Stakeholders in Software Engineering</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AutoNum type="arabicPeriod"/>
            </a:pPr>
            <a:r>
              <a:rPr lang="en" sz="1900">
                <a:solidFill>
                  <a:schemeClr val="dk1"/>
                </a:solidFill>
                <a:latin typeface="Times New Roman"/>
                <a:ea typeface="Times New Roman"/>
                <a:cs typeface="Times New Roman"/>
                <a:sym typeface="Times New Roman"/>
              </a:rPr>
              <a:t>Software Quality</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AutoNum type="arabicPeriod"/>
            </a:pPr>
            <a:r>
              <a:rPr lang="en" sz="1900">
                <a:solidFill>
                  <a:schemeClr val="dk1"/>
                </a:solidFill>
                <a:latin typeface="Times New Roman"/>
                <a:ea typeface="Times New Roman"/>
                <a:cs typeface="Times New Roman"/>
                <a:sym typeface="Times New Roman"/>
              </a:rPr>
              <a:t>Software Crisis</a:t>
            </a:r>
            <a:endParaRPr sz="19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45"/>
          <p:cNvSpPr txBox="1">
            <a:spLocks noGrp="1"/>
          </p:cNvSpPr>
          <p:nvPr>
            <p:ph type="title"/>
          </p:nvPr>
        </p:nvSpPr>
        <p:spPr>
          <a:xfrm>
            <a:off x="457200" y="114210"/>
            <a:ext cx="8229300" cy="593700"/>
          </a:xfrm>
          <a:prstGeom prst="rect">
            <a:avLst/>
          </a:prstGeom>
        </p:spPr>
        <p:txBody>
          <a:bodyPr spcFirstLastPara="1" wrap="square" lIns="0" tIns="0" rIns="0" bIns="0" anchor="ctr" anchorCtr="0">
            <a:noAutofit/>
          </a:bodyPr>
          <a:lstStyle/>
          <a:p>
            <a:pPr marL="0" lvl="0" indent="0" algn="l" rtl="0">
              <a:lnSpc>
                <a:spcPct val="110000"/>
              </a:lnSpc>
              <a:spcBef>
                <a:spcPts val="1800"/>
              </a:spcBef>
              <a:spcAft>
                <a:spcPts val="0"/>
              </a:spcAft>
              <a:buClr>
                <a:schemeClr val="dk1"/>
              </a:buClr>
              <a:buSzPts val="1100"/>
              <a:buFont typeface="Arial"/>
              <a:buNone/>
            </a:pPr>
            <a:r>
              <a:rPr lang="en" sz="2400" b="1" u="sng">
                <a:solidFill>
                  <a:schemeClr val="hlink"/>
                </a:solidFill>
                <a:highlight>
                  <a:schemeClr val="lt1"/>
                </a:highlight>
                <a:hlinkClick r:id="rId3"/>
              </a:rPr>
              <a:t>Software Engineering vs. Programming</a:t>
            </a:r>
            <a:endParaRPr sz="2400" b="1" u="sng">
              <a:solidFill>
                <a:schemeClr val="hlink"/>
              </a:solidFill>
              <a:highlight>
                <a:schemeClr val="lt1"/>
              </a:highlight>
            </a:endParaRPr>
          </a:p>
          <a:p>
            <a:pPr marL="0" lvl="0" indent="0" algn="l" rtl="0">
              <a:spcBef>
                <a:spcPts val="400"/>
              </a:spcBef>
              <a:spcAft>
                <a:spcPts val="0"/>
              </a:spcAft>
              <a:buNone/>
            </a:pPr>
            <a:endParaRPr/>
          </a:p>
        </p:txBody>
      </p:sp>
      <p:sp>
        <p:nvSpPr>
          <p:cNvPr id="200" name="Google Shape;200;p45"/>
          <p:cNvSpPr txBox="1">
            <a:spLocks noGrp="1"/>
          </p:cNvSpPr>
          <p:nvPr>
            <p:ph type="subTitle" idx="1"/>
          </p:nvPr>
        </p:nvSpPr>
        <p:spPr>
          <a:xfrm>
            <a:off x="228600" y="500775"/>
            <a:ext cx="8691600" cy="4496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sz="1750">
              <a:latin typeface="Georgia"/>
              <a:ea typeface="Georgia"/>
              <a:cs typeface="Georgia"/>
              <a:sym typeface="Georgia"/>
            </a:endParaRPr>
          </a:p>
          <a:p>
            <a:pPr marL="0" lvl="0" indent="0" algn="l" rtl="0">
              <a:spcBef>
                <a:spcPts val="0"/>
              </a:spcBef>
              <a:spcAft>
                <a:spcPts val="0"/>
              </a:spcAft>
              <a:buNone/>
            </a:pPr>
            <a:r>
              <a:rPr lang="en" sz="1750">
                <a:latin typeface="Georgia"/>
                <a:ea typeface="Georgia"/>
                <a:cs typeface="Georgia"/>
                <a:sym typeface="Georgia"/>
              </a:rPr>
              <a:t>Programming is about writing code. You take a task and write code to solve it.</a:t>
            </a:r>
            <a:endParaRPr sz="1750">
              <a:latin typeface="Georgia"/>
              <a:ea typeface="Georgia"/>
              <a:cs typeface="Georgia"/>
              <a:sym typeface="Georgia"/>
            </a:endParaRPr>
          </a:p>
          <a:p>
            <a:pPr marL="0" lvl="0" indent="0" algn="l" rtl="0">
              <a:spcBef>
                <a:spcPts val="0"/>
              </a:spcBef>
              <a:spcAft>
                <a:spcPts val="0"/>
              </a:spcAft>
              <a:buNone/>
            </a:pPr>
            <a:r>
              <a:rPr lang="en" sz="1750">
                <a:latin typeface="Georgia"/>
                <a:ea typeface="Georgia"/>
                <a:cs typeface="Georgia"/>
                <a:sym typeface="Georgia"/>
              </a:rPr>
              <a:t>Software engineering is when you take that piece of code and consider:</a:t>
            </a:r>
            <a:endParaRPr sz="1750">
              <a:latin typeface="Georgia"/>
              <a:ea typeface="Georgia"/>
              <a:cs typeface="Georgia"/>
              <a:sym typeface="Georgia"/>
            </a:endParaRPr>
          </a:p>
          <a:p>
            <a:pPr marL="914400" lvl="1" indent="-327025" algn="l" rtl="0">
              <a:lnSpc>
                <a:spcPct val="115000"/>
              </a:lnSpc>
              <a:spcBef>
                <a:spcPts val="0"/>
              </a:spcBef>
              <a:spcAft>
                <a:spcPts val="0"/>
              </a:spcAft>
              <a:buSzPts val="1550"/>
              <a:buFont typeface="Georgia"/>
              <a:buChar char="○"/>
            </a:pPr>
            <a:r>
              <a:rPr lang="en" sz="1550">
                <a:latin typeface="Georgia"/>
                <a:ea typeface="Georgia"/>
                <a:cs typeface="Georgia"/>
                <a:sym typeface="Georgia"/>
              </a:rPr>
              <a:t>How will this task evolve?</a:t>
            </a:r>
            <a:endParaRPr sz="1550">
              <a:latin typeface="Georgia"/>
              <a:ea typeface="Georgia"/>
              <a:cs typeface="Georgia"/>
              <a:sym typeface="Georgia"/>
            </a:endParaRPr>
          </a:p>
          <a:p>
            <a:pPr marL="914400" lvl="1" indent="-327025" algn="l" rtl="0">
              <a:lnSpc>
                <a:spcPct val="115000"/>
              </a:lnSpc>
              <a:spcBef>
                <a:spcPts val="0"/>
              </a:spcBef>
              <a:spcAft>
                <a:spcPts val="0"/>
              </a:spcAft>
              <a:buSzPts val="1550"/>
              <a:buFont typeface="Georgia"/>
              <a:buChar char="○"/>
            </a:pPr>
            <a:r>
              <a:rPr lang="en" sz="1550">
                <a:latin typeface="Georgia"/>
                <a:ea typeface="Georgia"/>
                <a:cs typeface="Georgia"/>
                <a:sym typeface="Georgia"/>
              </a:rPr>
              <a:t>How will this code adapt to those changes?</a:t>
            </a:r>
            <a:endParaRPr sz="1550">
              <a:latin typeface="Georgia"/>
              <a:ea typeface="Georgia"/>
              <a:cs typeface="Georgia"/>
              <a:sym typeface="Georgia"/>
            </a:endParaRPr>
          </a:p>
          <a:p>
            <a:pPr marL="914400" lvl="1" indent="-327025" algn="l" rtl="0">
              <a:lnSpc>
                <a:spcPct val="115000"/>
              </a:lnSpc>
              <a:spcBef>
                <a:spcPts val="0"/>
              </a:spcBef>
              <a:spcAft>
                <a:spcPts val="0"/>
              </a:spcAft>
              <a:buSzPts val="1550"/>
              <a:buFont typeface="Georgia"/>
              <a:buChar char="○"/>
            </a:pPr>
            <a:r>
              <a:rPr lang="en" sz="1550">
                <a:latin typeface="Georgia"/>
                <a:ea typeface="Georgia"/>
                <a:cs typeface="Georgia"/>
                <a:sym typeface="Georgia"/>
              </a:rPr>
              <a:t>What does this code encourage others to do?</a:t>
            </a:r>
            <a:endParaRPr sz="1550">
              <a:latin typeface="Georgia"/>
              <a:ea typeface="Georgia"/>
              <a:cs typeface="Georgia"/>
              <a:sym typeface="Georgia"/>
            </a:endParaRPr>
          </a:p>
          <a:p>
            <a:pPr marL="914400" lvl="1" indent="-327025" algn="l" rtl="0">
              <a:lnSpc>
                <a:spcPct val="115000"/>
              </a:lnSpc>
              <a:spcBef>
                <a:spcPts val="0"/>
              </a:spcBef>
              <a:spcAft>
                <a:spcPts val="0"/>
              </a:spcAft>
              <a:buSzPts val="1550"/>
              <a:buFont typeface="Georgia"/>
              <a:buChar char="○"/>
            </a:pPr>
            <a:r>
              <a:rPr lang="en" sz="1550">
                <a:latin typeface="Georgia"/>
                <a:ea typeface="Georgia"/>
                <a:cs typeface="Georgia"/>
                <a:sym typeface="Georgia"/>
              </a:rPr>
              <a:t>How does this code encourage other programmers to use it?</a:t>
            </a:r>
            <a:endParaRPr sz="1550">
              <a:latin typeface="Georgia"/>
              <a:ea typeface="Georgia"/>
              <a:cs typeface="Georgia"/>
              <a:sym typeface="Georgia"/>
            </a:endParaRPr>
          </a:p>
          <a:p>
            <a:pPr marL="914400" lvl="1" indent="-327025" algn="l" rtl="0">
              <a:lnSpc>
                <a:spcPct val="115000"/>
              </a:lnSpc>
              <a:spcBef>
                <a:spcPts val="0"/>
              </a:spcBef>
              <a:spcAft>
                <a:spcPts val="0"/>
              </a:spcAft>
              <a:buSzPts val="1550"/>
              <a:buFont typeface="Georgia"/>
              <a:buChar char="○"/>
            </a:pPr>
            <a:r>
              <a:rPr lang="en" sz="1550">
                <a:latin typeface="Georgia"/>
                <a:ea typeface="Georgia"/>
                <a:cs typeface="Georgia"/>
                <a:sym typeface="Georgia"/>
              </a:rPr>
              <a:t>How will I understand this code in 5 months?</a:t>
            </a:r>
            <a:endParaRPr sz="1550">
              <a:latin typeface="Georgia"/>
              <a:ea typeface="Georgia"/>
              <a:cs typeface="Georgia"/>
              <a:sym typeface="Georgia"/>
            </a:endParaRPr>
          </a:p>
          <a:p>
            <a:pPr marL="914400" lvl="1" indent="-327025" algn="l" rtl="0">
              <a:lnSpc>
                <a:spcPct val="115000"/>
              </a:lnSpc>
              <a:spcBef>
                <a:spcPts val="0"/>
              </a:spcBef>
              <a:spcAft>
                <a:spcPts val="0"/>
              </a:spcAft>
              <a:buSzPts val="1550"/>
              <a:buFont typeface="Georgia"/>
              <a:buChar char="○"/>
            </a:pPr>
            <a:r>
              <a:rPr lang="en" sz="1550">
                <a:latin typeface="Georgia"/>
                <a:ea typeface="Georgia"/>
                <a:cs typeface="Georgia"/>
                <a:sym typeface="Georgia"/>
              </a:rPr>
              <a:t>How will a busy team member jumping around grok this?</a:t>
            </a:r>
            <a:endParaRPr sz="1550">
              <a:latin typeface="Georgia"/>
              <a:ea typeface="Georgia"/>
              <a:cs typeface="Georgia"/>
              <a:sym typeface="Georgia"/>
            </a:endParaRPr>
          </a:p>
          <a:p>
            <a:pPr marL="914400" lvl="1" indent="-327025" algn="l" rtl="0">
              <a:lnSpc>
                <a:spcPct val="115000"/>
              </a:lnSpc>
              <a:spcBef>
                <a:spcPts val="0"/>
              </a:spcBef>
              <a:spcAft>
                <a:spcPts val="0"/>
              </a:spcAft>
              <a:buSzPts val="1550"/>
              <a:buFont typeface="Georgia"/>
              <a:buChar char="○"/>
            </a:pPr>
            <a:r>
              <a:rPr lang="en" sz="1550">
                <a:latin typeface="Georgia"/>
                <a:ea typeface="Georgia"/>
                <a:cs typeface="Georgia"/>
                <a:sym typeface="Georgia"/>
              </a:rPr>
              <a:t>What happens when the business becomes bigger?</a:t>
            </a:r>
            <a:endParaRPr sz="1550">
              <a:latin typeface="Georgia"/>
              <a:ea typeface="Georgia"/>
              <a:cs typeface="Georgia"/>
              <a:sym typeface="Georgia"/>
            </a:endParaRPr>
          </a:p>
          <a:p>
            <a:pPr marL="914400" lvl="1" indent="-327025" algn="l" rtl="0">
              <a:lnSpc>
                <a:spcPct val="115000"/>
              </a:lnSpc>
              <a:spcBef>
                <a:spcPts val="0"/>
              </a:spcBef>
              <a:spcAft>
                <a:spcPts val="0"/>
              </a:spcAft>
              <a:buSzPts val="1550"/>
              <a:buFont typeface="Georgia"/>
              <a:buChar char="○"/>
            </a:pPr>
            <a:r>
              <a:rPr lang="en" sz="1550">
                <a:latin typeface="Georgia"/>
                <a:ea typeface="Georgia"/>
                <a:cs typeface="Georgia"/>
                <a:sym typeface="Georgia"/>
              </a:rPr>
              <a:t>When will this code stop being good enough?</a:t>
            </a:r>
            <a:endParaRPr sz="1550">
              <a:latin typeface="Georgia"/>
              <a:ea typeface="Georgia"/>
              <a:cs typeface="Georgia"/>
              <a:sym typeface="Georgia"/>
            </a:endParaRPr>
          </a:p>
          <a:p>
            <a:pPr marL="914400" lvl="1" indent="-327025" algn="l" rtl="0">
              <a:lnSpc>
                <a:spcPct val="115000"/>
              </a:lnSpc>
              <a:spcBef>
                <a:spcPts val="0"/>
              </a:spcBef>
              <a:spcAft>
                <a:spcPts val="0"/>
              </a:spcAft>
              <a:buSzPts val="1550"/>
              <a:buFont typeface="Georgia"/>
              <a:buChar char="○"/>
            </a:pPr>
            <a:r>
              <a:rPr lang="en" sz="1550">
                <a:latin typeface="Georgia"/>
                <a:ea typeface="Georgia"/>
                <a:cs typeface="Georgia"/>
                <a:sym typeface="Georgia"/>
              </a:rPr>
              <a:t>How does it scale?</a:t>
            </a:r>
            <a:endParaRPr sz="1550">
              <a:latin typeface="Georgia"/>
              <a:ea typeface="Georgia"/>
              <a:cs typeface="Georgia"/>
              <a:sym typeface="Georgia"/>
            </a:endParaRPr>
          </a:p>
          <a:p>
            <a:pPr marL="914400" lvl="1" indent="-327025" algn="l" rtl="0">
              <a:lnSpc>
                <a:spcPct val="115000"/>
              </a:lnSpc>
              <a:spcBef>
                <a:spcPts val="0"/>
              </a:spcBef>
              <a:spcAft>
                <a:spcPts val="0"/>
              </a:spcAft>
              <a:buSzPts val="1550"/>
              <a:buFont typeface="Georgia"/>
              <a:buChar char="○"/>
            </a:pPr>
            <a:r>
              <a:rPr lang="en" sz="1550">
                <a:latin typeface="Georgia"/>
                <a:ea typeface="Georgia"/>
                <a:cs typeface="Georgia"/>
                <a:sym typeface="Georgia"/>
              </a:rPr>
              <a:t>How does it generalize?</a:t>
            </a:r>
            <a:endParaRPr sz="1550">
              <a:latin typeface="Georgia"/>
              <a:ea typeface="Georgia"/>
              <a:cs typeface="Georgia"/>
              <a:sym typeface="Georgia"/>
            </a:endParaRPr>
          </a:p>
          <a:p>
            <a:pPr marL="914400" lvl="1" indent="-327025" algn="l" rtl="0">
              <a:lnSpc>
                <a:spcPct val="115000"/>
              </a:lnSpc>
              <a:spcBef>
                <a:spcPts val="0"/>
              </a:spcBef>
              <a:spcAft>
                <a:spcPts val="0"/>
              </a:spcAft>
              <a:buSzPts val="1550"/>
              <a:buFont typeface="Georgia"/>
              <a:buChar char="○"/>
            </a:pPr>
            <a:r>
              <a:rPr lang="en" sz="1550">
                <a:latin typeface="Georgia"/>
                <a:ea typeface="Georgia"/>
                <a:cs typeface="Georgia"/>
                <a:sym typeface="Georgia"/>
              </a:rPr>
              <a:t>What hidden dependencies are there?</a:t>
            </a:r>
            <a:endParaRPr sz="1550">
              <a:latin typeface="Georgia"/>
              <a:ea typeface="Georgia"/>
              <a:cs typeface="Georgia"/>
              <a:sym typeface="Georgia"/>
            </a:endParaRPr>
          </a:p>
          <a:p>
            <a:pPr marL="914400" lvl="1" indent="-327025" algn="l" rtl="0">
              <a:lnSpc>
                <a:spcPct val="115000"/>
              </a:lnSpc>
              <a:spcBef>
                <a:spcPts val="0"/>
              </a:spcBef>
              <a:spcAft>
                <a:spcPts val="0"/>
              </a:spcAft>
              <a:buClr>
                <a:schemeClr val="dk1"/>
              </a:buClr>
              <a:buSzPts val="1550"/>
              <a:buFont typeface="Georgia"/>
              <a:buChar char="○"/>
            </a:pPr>
            <a:r>
              <a:rPr lang="en" sz="1550">
                <a:solidFill>
                  <a:schemeClr val="dk1"/>
                </a:solidFill>
                <a:latin typeface="Georgia"/>
                <a:ea typeface="Georgia"/>
                <a:cs typeface="Georgia"/>
                <a:sym typeface="Georgia"/>
              </a:rPr>
              <a:t>considering the long-term effects of your code. Both direct and indirect.</a:t>
            </a:r>
            <a:endParaRPr sz="1550">
              <a:solidFill>
                <a:schemeClr val="dk1"/>
              </a:solidFill>
              <a:latin typeface="Georgia"/>
              <a:ea typeface="Georgia"/>
              <a:cs typeface="Georgia"/>
              <a:sym typeface="Georgia"/>
            </a:endParaRPr>
          </a:p>
          <a:p>
            <a:pPr marL="914400" lvl="1" indent="-327025" algn="l" rtl="0">
              <a:lnSpc>
                <a:spcPct val="115000"/>
              </a:lnSpc>
              <a:spcBef>
                <a:spcPts val="0"/>
              </a:spcBef>
              <a:spcAft>
                <a:spcPts val="0"/>
              </a:spcAft>
              <a:buClr>
                <a:schemeClr val="dk1"/>
              </a:buClr>
              <a:buSzPts val="1550"/>
              <a:buFont typeface="Georgia"/>
              <a:buChar char="○"/>
            </a:pPr>
            <a:r>
              <a:rPr lang="en" sz="1550">
                <a:solidFill>
                  <a:schemeClr val="dk1"/>
                </a:solidFill>
                <a:latin typeface="Georgia"/>
                <a:ea typeface="Georgia"/>
                <a:cs typeface="Georgia"/>
                <a:sym typeface="Georgia"/>
              </a:rPr>
              <a:t>You always face the underlying concern of </a:t>
            </a:r>
            <a:r>
              <a:rPr lang="en" sz="1550" i="1">
                <a:solidFill>
                  <a:schemeClr val="dk1"/>
                </a:solidFill>
                <a:latin typeface="Georgia"/>
                <a:ea typeface="Georgia"/>
                <a:cs typeface="Georgia"/>
                <a:sym typeface="Georgia"/>
              </a:rPr>
              <a:t>"What's the expected lifespan of this code?"</a:t>
            </a:r>
            <a:r>
              <a:rPr lang="en" sz="1550">
                <a:solidFill>
                  <a:schemeClr val="dk1"/>
                </a:solidFill>
                <a:latin typeface="Georgia"/>
                <a:ea typeface="Georgia"/>
                <a:cs typeface="Georgia"/>
                <a:sym typeface="Georgia"/>
              </a:rPr>
              <a:t>.</a:t>
            </a:r>
            <a:endParaRPr sz="1550">
              <a:solidFill>
                <a:schemeClr val="dk1"/>
              </a:solidFill>
              <a:latin typeface="Georgia"/>
              <a:ea typeface="Georgia"/>
              <a:cs typeface="Georgia"/>
              <a:sym typeface="Georgia"/>
            </a:endParaRPr>
          </a:p>
          <a:p>
            <a:pPr marL="0" lvl="0" indent="0" algn="l" rtl="0">
              <a:lnSpc>
                <a:spcPct val="115000"/>
              </a:lnSpc>
              <a:spcBef>
                <a:spcPts val="1700"/>
              </a:spcBef>
              <a:spcAft>
                <a:spcPts val="1700"/>
              </a:spcAft>
              <a:buNone/>
            </a:pPr>
            <a:endParaRPr sz="1750">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6"/>
          <p:cNvSpPr txBox="1"/>
          <p:nvPr/>
        </p:nvSpPr>
        <p:spPr>
          <a:xfrm>
            <a:off x="457200" y="114210"/>
            <a:ext cx="8229300" cy="5937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strike="noStrike">
                <a:solidFill>
                  <a:srgbClr val="0070C0"/>
                </a:solidFill>
                <a:latin typeface="Times New Roman"/>
                <a:ea typeface="Times New Roman"/>
                <a:cs typeface="Times New Roman"/>
                <a:sym typeface="Times New Roman"/>
              </a:rPr>
              <a:t>Program v</a:t>
            </a:r>
            <a:r>
              <a:rPr lang="en" sz="3600">
                <a:solidFill>
                  <a:srgbClr val="0070C0"/>
                </a:solidFill>
                <a:latin typeface="Times New Roman"/>
                <a:ea typeface="Times New Roman"/>
                <a:cs typeface="Times New Roman"/>
                <a:sym typeface="Times New Roman"/>
              </a:rPr>
              <a:t>s</a:t>
            </a:r>
            <a:r>
              <a:rPr lang="en" sz="3600" strike="noStrike">
                <a:solidFill>
                  <a:srgbClr val="0070C0"/>
                </a:solidFill>
                <a:latin typeface="Times New Roman"/>
                <a:ea typeface="Times New Roman"/>
                <a:cs typeface="Times New Roman"/>
                <a:sym typeface="Times New Roman"/>
              </a:rPr>
              <a:t> Software</a:t>
            </a:r>
            <a:endParaRPr sz="3600" strike="noStrike">
              <a:solidFill>
                <a:srgbClr val="000000"/>
              </a:solidFill>
              <a:latin typeface="Times New Roman"/>
              <a:ea typeface="Times New Roman"/>
              <a:cs typeface="Times New Roman"/>
              <a:sym typeface="Times New Roman"/>
            </a:endParaRPr>
          </a:p>
        </p:txBody>
      </p:sp>
      <p:sp>
        <p:nvSpPr>
          <p:cNvPr id="207" name="Google Shape;207;p46"/>
          <p:cNvSpPr txBox="1"/>
          <p:nvPr/>
        </p:nvSpPr>
        <p:spPr>
          <a:xfrm>
            <a:off x="228600" y="685800"/>
            <a:ext cx="8686500" cy="456900"/>
          </a:xfrm>
          <a:prstGeom prst="rect">
            <a:avLst/>
          </a:prstGeom>
          <a:noFill/>
          <a:ln>
            <a:noFill/>
          </a:ln>
        </p:spPr>
        <p:txBody>
          <a:bodyPr spcFirstLastPara="1" wrap="square" lIns="91425" tIns="45700" rIns="91425" bIns="45700" anchor="t" anchorCtr="0">
            <a:noAutofit/>
          </a:bodyPr>
          <a:lstStyle/>
          <a:p>
            <a:pPr marL="343080" marR="0" lvl="0" indent="-342720" algn="l" rtl="0">
              <a:lnSpc>
                <a:spcPct val="100000"/>
              </a:lnSpc>
              <a:spcBef>
                <a:spcPts val="0"/>
              </a:spcBef>
              <a:spcAft>
                <a:spcPts val="0"/>
              </a:spcAft>
              <a:buNone/>
            </a:pPr>
            <a:r>
              <a:rPr lang="en" sz="2800" b="1" strike="noStrike" dirty="0">
                <a:solidFill>
                  <a:srgbClr val="E82ABF"/>
                </a:solidFill>
                <a:latin typeface="Times New Roman"/>
                <a:ea typeface="Times New Roman"/>
                <a:cs typeface="Times New Roman"/>
                <a:sym typeface="Times New Roman"/>
              </a:rPr>
              <a:t>Program</a:t>
            </a:r>
            <a:r>
              <a:rPr lang="en" sz="2800" b="1" strike="noStrike" dirty="0">
                <a:solidFill>
                  <a:srgbClr val="003300"/>
                </a:solidFill>
                <a:latin typeface="Times New Roman"/>
                <a:ea typeface="Times New Roman"/>
                <a:cs typeface="Times New Roman"/>
                <a:sym typeface="Times New Roman"/>
              </a:rPr>
              <a:t>	</a:t>
            </a:r>
            <a:r>
              <a:rPr lang="en" sz="2500" strike="noStrike" dirty="0">
                <a:solidFill>
                  <a:srgbClr val="003300"/>
                </a:solidFill>
                <a:latin typeface="Times New Roman"/>
                <a:ea typeface="Times New Roman"/>
                <a:cs typeface="Times New Roman"/>
                <a:sym typeface="Times New Roman"/>
              </a:rPr>
              <a:t>			</a:t>
            </a:r>
            <a:r>
              <a:rPr lang="en" sz="2800" b="1" strike="noStrike" dirty="0">
                <a:solidFill>
                  <a:srgbClr val="E82ABF"/>
                </a:solidFill>
                <a:latin typeface="Times New Roman"/>
                <a:ea typeface="Times New Roman"/>
                <a:cs typeface="Times New Roman"/>
                <a:sym typeface="Times New Roman"/>
              </a:rPr>
              <a:t>Software</a:t>
            </a:r>
            <a:endParaRPr sz="2800" b="1" strike="noStrike" dirty="0">
              <a:solidFill>
                <a:srgbClr val="003300"/>
              </a:solidFill>
              <a:latin typeface="Times New Roman"/>
              <a:ea typeface="Times New Roman"/>
              <a:cs typeface="Times New Roman"/>
              <a:sym typeface="Times New Roman"/>
            </a:endParaRPr>
          </a:p>
        </p:txBody>
      </p:sp>
      <p:cxnSp>
        <p:nvCxnSpPr>
          <p:cNvPr id="208" name="Google Shape;208;p46"/>
          <p:cNvCxnSpPr/>
          <p:nvPr/>
        </p:nvCxnSpPr>
        <p:spPr>
          <a:xfrm>
            <a:off x="4572000" y="685800"/>
            <a:ext cx="600" cy="4458300"/>
          </a:xfrm>
          <a:prstGeom prst="straightConnector1">
            <a:avLst/>
          </a:prstGeom>
          <a:noFill/>
          <a:ln w="25550" cap="flat" cmpd="sng">
            <a:solidFill>
              <a:srgbClr val="FFC000"/>
            </a:solidFill>
            <a:prstDash val="solid"/>
            <a:round/>
            <a:headEnd type="none" w="sm" len="sm"/>
            <a:tailEnd type="none" w="sm" len="sm"/>
          </a:ln>
        </p:spPr>
      </p:cxnSp>
      <p:sp>
        <p:nvSpPr>
          <p:cNvPr id="209" name="Google Shape;209;p46"/>
          <p:cNvSpPr/>
          <p:nvPr/>
        </p:nvSpPr>
        <p:spPr>
          <a:xfrm>
            <a:off x="228600" y="1147860"/>
            <a:ext cx="4343100" cy="3371400"/>
          </a:xfrm>
          <a:prstGeom prst="rect">
            <a:avLst/>
          </a:prstGeom>
          <a:noFill/>
          <a:ln>
            <a:noFill/>
          </a:ln>
        </p:spPr>
        <p:txBody>
          <a:bodyPr spcFirstLastPara="1" wrap="square" lIns="91425" tIns="45700" rIns="91425" bIns="45700" anchor="t" anchorCtr="0">
            <a:noAutofit/>
          </a:bodyPr>
          <a:lstStyle/>
          <a:p>
            <a:pPr marL="343080" marR="0" lvl="0" indent="-336370" algn="l" rtl="0">
              <a:lnSpc>
                <a:spcPct val="100000"/>
              </a:lnSpc>
              <a:spcBef>
                <a:spcPts val="0"/>
              </a:spcBef>
              <a:spcAft>
                <a:spcPts val="0"/>
              </a:spcAft>
              <a:buClr>
                <a:srgbClr val="000000"/>
              </a:buClr>
              <a:buSzPts val="2700"/>
              <a:buFont typeface="Times New Roman"/>
              <a:buChar char="•"/>
            </a:pPr>
            <a:r>
              <a:rPr lang="en" sz="2700" strike="noStrike" dirty="0">
                <a:solidFill>
                  <a:srgbClr val="000000"/>
                </a:solidFill>
                <a:latin typeface="Times New Roman"/>
                <a:ea typeface="Times New Roman"/>
                <a:cs typeface="Times New Roman"/>
                <a:sym typeface="Times New Roman"/>
              </a:rPr>
              <a:t>Usually small in size</a:t>
            </a:r>
            <a:endParaRPr sz="2700" strike="noStrike" dirty="0">
              <a:solidFill>
                <a:srgbClr val="000000"/>
              </a:solidFill>
              <a:latin typeface="Times New Roman"/>
              <a:ea typeface="Times New Roman"/>
              <a:cs typeface="Times New Roman"/>
              <a:sym typeface="Times New Roman"/>
            </a:endParaRPr>
          </a:p>
          <a:p>
            <a:pPr marL="343080" marR="0" lvl="0" indent="-336370" algn="l" rtl="0">
              <a:lnSpc>
                <a:spcPct val="100000"/>
              </a:lnSpc>
              <a:spcBef>
                <a:spcPts val="0"/>
              </a:spcBef>
              <a:spcAft>
                <a:spcPts val="0"/>
              </a:spcAft>
              <a:buSzPts val="2700"/>
              <a:buFont typeface="Times New Roman"/>
              <a:buChar char="•"/>
            </a:pPr>
            <a:r>
              <a:rPr lang="en" sz="2700" dirty="0">
                <a:latin typeface="Times New Roman"/>
                <a:ea typeface="Times New Roman"/>
                <a:cs typeface="Times New Roman"/>
                <a:sym typeface="Times New Roman"/>
              </a:rPr>
              <a:t>Author himself is sole user</a:t>
            </a:r>
            <a:endParaRPr sz="2700" dirty="0">
              <a:latin typeface="Times New Roman"/>
              <a:ea typeface="Times New Roman"/>
              <a:cs typeface="Times New Roman"/>
              <a:sym typeface="Times New Roman"/>
            </a:endParaRPr>
          </a:p>
          <a:p>
            <a:pPr marL="343080" marR="0" lvl="0" indent="-336370" algn="l" rtl="0">
              <a:lnSpc>
                <a:spcPct val="100000"/>
              </a:lnSpc>
              <a:spcBef>
                <a:spcPts val="0"/>
              </a:spcBef>
              <a:spcAft>
                <a:spcPts val="0"/>
              </a:spcAft>
              <a:buSzPts val="2700"/>
              <a:buFont typeface="Times New Roman"/>
              <a:buChar char="•"/>
            </a:pPr>
            <a:r>
              <a:rPr lang="en" sz="2700" dirty="0">
                <a:latin typeface="Times New Roman"/>
                <a:ea typeface="Times New Roman"/>
                <a:cs typeface="Times New Roman"/>
                <a:sym typeface="Times New Roman"/>
              </a:rPr>
              <a:t>Single developer</a:t>
            </a:r>
            <a:endParaRPr sz="2700" dirty="0">
              <a:latin typeface="Times New Roman"/>
              <a:ea typeface="Times New Roman"/>
              <a:cs typeface="Times New Roman"/>
              <a:sym typeface="Times New Roman"/>
            </a:endParaRPr>
          </a:p>
          <a:p>
            <a:pPr marL="343080" marR="0" lvl="0" indent="-336370" algn="l" rtl="0">
              <a:lnSpc>
                <a:spcPct val="100000"/>
              </a:lnSpc>
              <a:spcBef>
                <a:spcPts val="0"/>
              </a:spcBef>
              <a:spcAft>
                <a:spcPts val="0"/>
              </a:spcAft>
              <a:buSzPts val="2700"/>
              <a:buFont typeface="Times New Roman"/>
              <a:buChar char="•"/>
            </a:pPr>
            <a:r>
              <a:rPr lang="en" sz="2700" dirty="0">
                <a:latin typeface="Times New Roman"/>
                <a:ea typeface="Times New Roman"/>
                <a:cs typeface="Times New Roman"/>
                <a:sym typeface="Times New Roman"/>
              </a:rPr>
              <a:t>Lacks proper user interface</a:t>
            </a:r>
            <a:endParaRPr sz="2700" dirty="0">
              <a:latin typeface="Times New Roman"/>
              <a:ea typeface="Times New Roman"/>
              <a:cs typeface="Times New Roman"/>
              <a:sym typeface="Times New Roman"/>
            </a:endParaRPr>
          </a:p>
          <a:p>
            <a:pPr marL="343080" marR="0" lvl="0" indent="-336370" algn="l" rtl="0">
              <a:lnSpc>
                <a:spcPct val="100000"/>
              </a:lnSpc>
              <a:spcBef>
                <a:spcPts val="0"/>
              </a:spcBef>
              <a:spcAft>
                <a:spcPts val="0"/>
              </a:spcAft>
              <a:buSzPts val="2700"/>
              <a:buFont typeface="Times New Roman"/>
              <a:buChar char="•"/>
            </a:pPr>
            <a:r>
              <a:rPr lang="en" sz="2700" dirty="0">
                <a:latin typeface="Times New Roman"/>
                <a:ea typeface="Times New Roman"/>
                <a:cs typeface="Times New Roman"/>
                <a:sym typeface="Times New Roman"/>
              </a:rPr>
              <a:t>Lacks proper documentation</a:t>
            </a:r>
            <a:endParaRPr sz="2700" dirty="0">
              <a:latin typeface="Times New Roman"/>
              <a:ea typeface="Times New Roman"/>
              <a:cs typeface="Times New Roman"/>
              <a:sym typeface="Times New Roman"/>
            </a:endParaRPr>
          </a:p>
          <a:p>
            <a:pPr marL="343080" marR="0" lvl="0" indent="-336370" algn="l" rtl="0">
              <a:lnSpc>
                <a:spcPct val="100000"/>
              </a:lnSpc>
              <a:spcBef>
                <a:spcPts val="0"/>
              </a:spcBef>
              <a:spcAft>
                <a:spcPts val="0"/>
              </a:spcAft>
              <a:buSzPts val="2700"/>
              <a:buFont typeface="Times New Roman"/>
              <a:buChar char="•"/>
            </a:pPr>
            <a:r>
              <a:rPr lang="en" sz="2700" dirty="0">
                <a:latin typeface="Times New Roman"/>
                <a:ea typeface="Times New Roman"/>
                <a:cs typeface="Times New Roman"/>
                <a:sym typeface="Times New Roman"/>
              </a:rPr>
              <a:t>Ad hoc development</a:t>
            </a:r>
            <a:endParaRPr sz="2700" dirty="0">
              <a:latin typeface="Times New Roman"/>
              <a:ea typeface="Times New Roman"/>
              <a:cs typeface="Times New Roman"/>
              <a:sym typeface="Times New Roman"/>
            </a:endParaRPr>
          </a:p>
        </p:txBody>
      </p:sp>
      <p:sp>
        <p:nvSpPr>
          <p:cNvPr id="210" name="Google Shape;210;p46"/>
          <p:cNvSpPr/>
          <p:nvPr/>
        </p:nvSpPr>
        <p:spPr>
          <a:xfrm>
            <a:off x="4572000" y="1142859"/>
            <a:ext cx="4571700" cy="2313300"/>
          </a:xfrm>
          <a:prstGeom prst="rect">
            <a:avLst/>
          </a:prstGeom>
          <a:noFill/>
          <a:ln>
            <a:noFill/>
          </a:ln>
        </p:spPr>
        <p:txBody>
          <a:bodyPr spcFirstLastPara="1" wrap="square" lIns="91425" tIns="45700" rIns="91425" bIns="45700" anchor="t" anchorCtr="0">
            <a:noAutofit/>
          </a:bodyPr>
          <a:lstStyle/>
          <a:p>
            <a:pPr marL="343080" marR="0" lvl="0" indent="-342720" algn="l" rtl="0">
              <a:lnSpc>
                <a:spcPct val="100000"/>
              </a:lnSpc>
              <a:spcBef>
                <a:spcPts val="0"/>
              </a:spcBef>
              <a:spcAft>
                <a:spcPts val="0"/>
              </a:spcAft>
              <a:buClr>
                <a:srgbClr val="000000"/>
              </a:buClr>
              <a:buSzPts val="2800"/>
              <a:buFont typeface="Times New Roman"/>
              <a:buChar char="•"/>
            </a:pPr>
            <a:r>
              <a:rPr lang="en" sz="2800" strike="noStrike" dirty="0">
                <a:solidFill>
                  <a:srgbClr val="000000"/>
                </a:solidFill>
                <a:latin typeface="Times New Roman"/>
                <a:ea typeface="Times New Roman"/>
                <a:cs typeface="Times New Roman"/>
                <a:sym typeface="Times New Roman"/>
              </a:rPr>
              <a:t>Large</a:t>
            </a:r>
            <a:endParaRPr sz="2800" strike="noStrike" dirty="0">
              <a:solidFill>
                <a:srgbClr val="000000"/>
              </a:solidFill>
              <a:latin typeface="Times New Roman"/>
              <a:ea typeface="Times New Roman"/>
              <a:cs typeface="Times New Roman"/>
              <a:sym typeface="Times New Roman"/>
            </a:endParaRPr>
          </a:p>
          <a:p>
            <a:pPr marL="343080" marR="0" lvl="0" indent="-342720" algn="l" rtl="0">
              <a:lnSpc>
                <a:spcPct val="100000"/>
              </a:lnSpc>
              <a:spcBef>
                <a:spcPts val="0"/>
              </a:spcBef>
              <a:spcAft>
                <a:spcPts val="0"/>
              </a:spcAft>
              <a:buSzPts val="2800"/>
              <a:buFont typeface="Times New Roman"/>
              <a:buChar char="•"/>
            </a:pPr>
            <a:r>
              <a:rPr lang="en" sz="2800" dirty="0">
                <a:latin typeface="Times New Roman"/>
                <a:ea typeface="Times New Roman"/>
                <a:cs typeface="Times New Roman"/>
                <a:sym typeface="Times New Roman"/>
              </a:rPr>
              <a:t>Large number of users</a:t>
            </a:r>
            <a:endParaRPr sz="2800" dirty="0">
              <a:latin typeface="Times New Roman"/>
              <a:ea typeface="Times New Roman"/>
              <a:cs typeface="Times New Roman"/>
              <a:sym typeface="Times New Roman"/>
            </a:endParaRPr>
          </a:p>
          <a:p>
            <a:pPr marL="343080" marR="0" lvl="0" indent="-342720" algn="l" rtl="0">
              <a:lnSpc>
                <a:spcPct val="100000"/>
              </a:lnSpc>
              <a:spcBef>
                <a:spcPts val="0"/>
              </a:spcBef>
              <a:spcAft>
                <a:spcPts val="0"/>
              </a:spcAft>
              <a:buSzPts val="2800"/>
              <a:buFont typeface="Times New Roman"/>
              <a:buChar char="•"/>
            </a:pPr>
            <a:r>
              <a:rPr lang="en" sz="2800" dirty="0">
                <a:latin typeface="Times New Roman"/>
                <a:ea typeface="Times New Roman"/>
                <a:cs typeface="Times New Roman"/>
                <a:sym typeface="Times New Roman"/>
              </a:rPr>
              <a:t>Team of developers</a:t>
            </a:r>
            <a:endParaRPr sz="2800" dirty="0">
              <a:latin typeface="Times New Roman"/>
              <a:ea typeface="Times New Roman"/>
              <a:cs typeface="Times New Roman"/>
              <a:sym typeface="Times New Roman"/>
            </a:endParaRPr>
          </a:p>
          <a:p>
            <a:pPr marL="343080" marR="0" lvl="0" indent="-342720" algn="l" rtl="0">
              <a:lnSpc>
                <a:spcPct val="100000"/>
              </a:lnSpc>
              <a:spcBef>
                <a:spcPts val="0"/>
              </a:spcBef>
              <a:spcAft>
                <a:spcPts val="0"/>
              </a:spcAft>
              <a:buSzPts val="2800"/>
              <a:buFont typeface="Times New Roman"/>
              <a:buChar char="•"/>
            </a:pPr>
            <a:r>
              <a:rPr lang="en" sz="2800" dirty="0">
                <a:latin typeface="Times New Roman"/>
                <a:ea typeface="Times New Roman"/>
                <a:cs typeface="Times New Roman"/>
                <a:sym typeface="Times New Roman"/>
              </a:rPr>
              <a:t>UI is an important aspect</a:t>
            </a:r>
            <a:endParaRPr sz="2800" dirty="0">
              <a:latin typeface="Times New Roman"/>
              <a:ea typeface="Times New Roman"/>
              <a:cs typeface="Times New Roman"/>
              <a:sym typeface="Times New Roman"/>
            </a:endParaRPr>
          </a:p>
          <a:p>
            <a:pPr marL="343080" marR="0" lvl="0" indent="-342720" algn="l" rtl="0">
              <a:lnSpc>
                <a:spcPct val="100000"/>
              </a:lnSpc>
              <a:spcBef>
                <a:spcPts val="0"/>
              </a:spcBef>
              <a:spcAft>
                <a:spcPts val="0"/>
              </a:spcAft>
              <a:buSzPts val="2800"/>
              <a:buFont typeface="Times New Roman"/>
              <a:buChar char="•"/>
            </a:pPr>
            <a:r>
              <a:rPr lang="en" sz="2800" dirty="0">
                <a:latin typeface="Times New Roman"/>
                <a:ea typeface="Times New Roman"/>
                <a:cs typeface="Times New Roman"/>
                <a:sym typeface="Times New Roman"/>
              </a:rPr>
              <a:t>Well documented &amp; user-manual prepared</a:t>
            </a:r>
            <a:endParaRPr sz="2800" dirty="0">
              <a:latin typeface="Times New Roman"/>
              <a:ea typeface="Times New Roman"/>
              <a:cs typeface="Times New Roman"/>
              <a:sym typeface="Times New Roman"/>
            </a:endParaRPr>
          </a:p>
          <a:p>
            <a:pPr marL="343080" marR="0" lvl="0" indent="-342720" algn="l" rtl="0">
              <a:lnSpc>
                <a:spcPct val="100000"/>
              </a:lnSpc>
              <a:spcBef>
                <a:spcPts val="0"/>
              </a:spcBef>
              <a:spcAft>
                <a:spcPts val="0"/>
              </a:spcAft>
              <a:buSzPts val="2800"/>
              <a:buFont typeface="Times New Roman"/>
              <a:buChar char="•"/>
            </a:pPr>
            <a:r>
              <a:rPr lang="en" sz="2800" dirty="0">
                <a:latin typeface="Times New Roman"/>
                <a:ea typeface="Times New Roman"/>
                <a:cs typeface="Times New Roman"/>
                <a:sym typeface="Times New Roman"/>
              </a:rPr>
              <a:t>Systematic development</a:t>
            </a:r>
            <a:endParaRPr sz="2800" dirty="0">
              <a:latin typeface="Times New Roman"/>
              <a:ea typeface="Times New Roman"/>
              <a:cs typeface="Times New Roman"/>
              <a:sym typeface="Times New Roman"/>
            </a:endParaRPr>
          </a:p>
        </p:txBody>
      </p:sp>
      <p:sp>
        <p:nvSpPr>
          <p:cNvPr id="211" name="Google Shape;211;p46"/>
          <p:cNvSpPr/>
          <p:nvPr/>
        </p:nvSpPr>
        <p:spPr>
          <a:xfrm>
            <a:off x="228600" y="2286090"/>
            <a:ext cx="4343100" cy="456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800" b="0" strike="noStrike">
              <a:latin typeface="Arial"/>
              <a:ea typeface="Arial"/>
              <a:cs typeface="Arial"/>
              <a:sym typeface="Arial"/>
            </a:endParaRPr>
          </a:p>
        </p:txBody>
      </p:sp>
      <p:sp>
        <p:nvSpPr>
          <p:cNvPr id="212" name="Google Shape;212;p46"/>
          <p:cNvSpPr/>
          <p:nvPr/>
        </p:nvSpPr>
        <p:spPr>
          <a:xfrm>
            <a:off x="4572000" y="2286090"/>
            <a:ext cx="4571700" cy="456900"/>
          </a:xfrm>
          <a:prstGeom prst="rect">
            <a:avLst/>
          </a:prstGeom>
          <a:noFill/>
          <a:ln>
            <a:noFill/>
          </a:ln>
        </p:spPr>
        <p:txBody>
          <a:bodyPr spcFirstLastPara="1" wrap="square" lIns="91425" tIns="45700" rIns="91425" bIns="45700" anchor="t" anchorCtr="0">
            <a:noAutofit/>
          </a:bodyPr>
          <a:lstStyle/>
          <a:p>
            <a:pPr marL="457200" marR="0" lvl="0" indent="0" algn="l" rtl="0">
              <a:lnSpc>
                <a:spcPct val="100000"/>
              </a:lnSpc>
              <a:spcBef>
                <a:spcPts val="0"/>
              </a:spcBef>
              <a:spcAft>
                <a:spcPts val="0"/>
              </a:spcAft>
              <a:buNone/>
            </a:pPr>
            <a:endParaRPr sz="2800" b="0" strike="noStrike">
              <a:latin typeface="Arial"/>
              <a:ea typeface="Arial"/>
              <a:cs typeface="Arial"/>
              <a:sym typeface="Arial"/>
            </a:endParaRPr>
          </a:p>
        </p:txBody>
      </p:sp>
      <p:sp>
        <p:nvSpPr>
          <p:cNvPr id="213" name="Google Shape;213;p46"/>
          <p:cNvSpPr/>
          <p:nvPr/>
        </p:nvSpPr>
        <p:spPr>
          <a:xfrm>
            <a:off x="4572000" y="2685960"/>
            <a:ext cx="4571700" cy="456900"/>
          </a:xfrm>
          <a:prstGeom prst="rect">
            <a:avLst/>
          </a:prstGeom>
          <a:noFill/>
          <a:ln>
            <a:noFill/>
          </a:ln>
        </p:spPr>
        <p:txBody>
          <a:bodyPr spcFirstLastPara="1" wrap="square" lIns="91425" tIns="45700" rIns="91425" bIns="45700" anchor="t" anchorCtr="0">
            <a:noAutofit/>
          </a:bodyPr>
          <a:lstStyle/>
          <a:p>
            <a:pPr marL="457200" marR="0" lvl="0" indent="0" algn="l" rtl="0">
              <a:lnSpc>
                <a:spcPct val="100000"/>
              </a:lnSpc>
              <a:spcBef>
                <a:spcPts val="0"/>
              </a:spcBef>
              <a:spcAft>
                <a:spcPts val="0"/>
              </a:spcAft>
              <a:buNone/>
            </a:pPr>
            <a:endParaRPr sz="1372" b="0" strike="noStrike">
              <a:latin typeface="Arial"/>
              <a:ea typeface="Arial"/>
              <a:cs typeface="Arial"/>
              <a:sym typeface="Arial"/>
            </a:endParaRPr>
          </a:p>
        </p:txBody>
      </p:sp>
      <p:sp>
        <p:nvSpPr>
          <p:cNvPr id="214" name="Google Shape;214;p46"/>
          <p:cNvSpPr/>
          <p:nvPr/>
        </p:nvSpPr>
        <p:spPr>
          <a:xfrm>
            <a:off x="228600" y="3143340"/>
            <a:ext cx="4343100" cy="628200"/>
          </a:xfrm>
          <a:prstGeom prst="rect">
            <a:avLst/>
          </a:prstGeom>
          <a:noFill/>
          <a:ln>
            <a:noFill/>
          </a:ln>
        </p:spPr>
        <p:txBody>
          <a:bodyPr spcFirstLastPara="1" wrap="square" lIns="91425" tIns="45700" rIns="91425" bIns="45700" anchor="t" anchorCtr="0">
            <a:noAutofit/>
          </a:bodyPr>
          <a:lstStyle/>
          <a:p>
            <a:pPr marL="457200" marR="0" lvl="0" indent="0" algn="l" rtl="0">
              <a:lnSpc>
                <a:spcPct val="100000"/>
              </a:lnSpc>
              <a:spcBef>
                <a:spcPts val="0"/>
              </a:spcBef>
              <a:spcAft>
                <a:spcPts val="0"/>
              </a:spcAft>
              <a:buNone/>
            </a:pPr>
            <a:endParaRPr sz="2800" b="0" strike="noStrike">
              <a:latin typeface="Arial"/>
              <a:ea typeface="Arial"/>
              <a:cs typeface="Arial"/>
              <a:sym typeface="Arial"/>
            </a:endParaRPr>
          </a:p>
        </p:txBody>
      </p:sp>
      <p:sp>
        <p:nvSpPr>
          <p:cNvPr id="215" name="Google Shape;215;p46"/>
          <p:cNvSpPr/>
          <p:nvPr/>
        </p:nvSpPr>
        <p:spPr>
          <a:xfrm>
            <a:off x="4572000" y="3143340"/>
            <a:ext cx="4343100" cy="628200"/>
          </a:xfrm>
          <a:prstGeom prst="rect">
            <a:avLst/>
          </a:prstGeom>
          <a:noFill/>
          <a:ln>
            <a:noFill/>
          </a:ln>
        </p:spPr>
        <p:txBody>
          <a:bodyPr spcFirstLastPara="1" wrap="square" lIns="91425" tIns="45700" rIns="91425" bIns="45700" anchor="t" anchorCtr="0">
            <a:noAutofit/>
          </a:bodyPr>
          <a:lstStyle/>
          <a:p>
            <a:pPr marL="457200" marR="0" lvl="0" indent="0" algn="l" rtl="0">
              <a:lnSpc>
                <a:spcPct val="100000"/>
              </a:lnSpc>
              <a:spcBef>
                <a:spcPts val="0"/>
              </a:spcBef>
              <a:spcAft>
                <a:spcPts val="0"/>
              </a:spcAft>
              <a:buNone/>
            </a:pPr>
            <a:endParaRPr sz="2800" b="0" strike="noStrike">
              <a:latin typeface="Arial"/>
              <a:ea typeface="Arial"/>
              <a:cs typeface="Arial"/>
              <a:sym typeface="Arial"/>
            </a:endParaRPr>
          </a:p>
        </p:txBody>
      </p:sp>
      <p:sp>
        <p:nvSpPr>
          <p:cNvPr id="216" name="Google Shape;216;p46"/>
          <p:cNvSpPr/>
          <p:nvPr/>
        </p:nvSpPr>
        <p:spPr>
          <a:xfrm>
            <a:off x="4572000" y="3891060"/>
            <a:ext cx="4343100" cy="628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800" b="0" strike="noStrike">
              <a:latin typeface="Arial"/>
              <a:ea typeface="Arial"/>
              <a:cs typeface="Arial"/>
              <a:sym typeface="Arial"/>
            </a:endParaRPr>
          </a:p>
          <a:p>
            <a:pPr marL="343080" marR="0" lvl="0" indent="-342720" algn="l" rtl="0">
              <a:lnSpc>
                <a:spcPct val="100000"/>
              </a:lnSpc>
              <a:spcBef>
                <a:spcPts val="561"/>
              </a:spcBef>
              <a:spcAft>
                <a:spcPts val="0"/>
              </a:spcAft>
              <a:buNone/>
            </a:pPr>
            <a:endParaRPr sz="2800" b="0" strike="noStrike">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7"/>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strike="noStrike">
                <a:solidFill>
                  <a:srgbClr val="0070C0"/>
                </a:solidFill>
                <a:latin typeface="Times New Roman"/>
                <a:ea typeface="Times New Roman"/>
                <a:cs typeface="Times New Roman"/>
                <a:sym typeface="Times New Roman"/>
              </a:rPr>
              <a:t>Software Characteristics</a:t>
            </a:r>
            <a:endParaRPr sz="3600" strike="noStrike">
              <a:solidFill>
                <a:srgbClr val="000000"/>
              </a:solidFill>
              <a:latin typeface="Times New Roman"/>
              <a:ea typeface="Times New Roman"/>
              <a:cs typeface="Times New Roman"/>
              <a:sym typeface="Times New Roman"/>
            </a:endParaRPr>
          </a:p>
        </p:txBody>
      </p:sp>
      <p:sp>
        <p:nvSpPr>
          <p:cNvPr id="222" name="Google Shape;222;p47"/>
          <p:cNvSpPr txBox="1"/>
          <p:nvPr/>
        </p:nvSpPr>
        <p:spPr>
          <a:xfrm>
            <a:off x="228600" y="685800"/>
            <a:ext cx="8686440" cy="4228740"/>
          </a:xfrm>
          <a:prstGeom prst="rect">
            <a:avLst/>
          </a:prstGeom>
          <a:noFill/>
          <a:ln>
            <a:noFill/>
          </a:ln>
        </p:spPr>
        <p:txBody>
          <a:bodyPr spcFirstLastPara="1" wrap="square" lIns="91425" tIns="45700" rIns="91425" bIns="45700" anchor="t" anchorCtr="0">
            <a:noAutofit/>
          </a:bodyPr>
          <a:lstStyle/>
          <a:p>
            <a:pPr marL="343080" marR="0" lvl="0" indent="-304620" algn="l" rtl="0">
              <a:lnSpc>
                <a:spcPct val="100000"/>
              </a:lnSpc>
              <a:spcBef>
                <a:spcPts val="0"/>
              </a:spcBef>
              <a:spcAft>
                <a:spcPts val="0"/>
              </a:spcAft>
              <a:buClr>
                <a:schemeClr val="dk1"/>
              </a:buClr>
              <a:buSzPts val="2200"/>
              <a:buFont typeface="Times New Roman"/>
              <a:buChar char="•"/>
            </a:pPr>
            <a:r>
              <a:rPr lang="en" sz="2200" strike="noStrike">
                <a:solidFill>
                  <a:schemeClr val="dk1"/>
                </a:solidFill>
                <a:latin typeface="Times New Roman"/>
                <a:ea typeface="Times New Roman"/>
                <a:cs typeface="Times New Roman"/>
                <a:sym typeface="Times New Roman"/>
              </a:rPr>
              <a:t>Software is intangible</a:t>
            </a:r>
            <a:endParaRPr sz="2200" strike="noStrike">
              <a:solidFill>
                <a:schemeClr val="dk1"/>
              </a:solidFill>
              <a:latin typeface="Times New Roman"/>
              <a:ea typeface="Times New Roman"/>
              <a:cs typeface="Times New Roman"/>
              <a:sym typeface="Times New Roman"/>
            </a:endParaRPr>
          </a:p>
          <a:p>
            <a:pPr marL="743040" marR="0" lvl="1" indent="-272780" algn="l" rtl="0">
              <a:lnSpc>
                <a:spcPct val="100000"/>
              </a:lnSpc>
              <a:spcBef>
                <a:spcPts val="479"/>
              </a:spcBef>
              <a:spcAft>
                <a:spcPts val="0"/>
              </a:spcAft>
              <a:buClr>
                <a:srgbClr val="7030A0"/>
              </a:buClr>
              <a:buSzPts val="2200"/>
              <a:buFont typeface="Times New Roman"/>
              <a:buChar char="–"/>
            </a:pPr>
            <a:r>
              <a:rPr lang="en" sz="2200" i="0" u="none" strike="noStrike" cap="none">
                <a:solidFill>
                  <a:srgbClr val="7030A0"/>
                </a:solidFill>
                <a:latin typeface="Times New Roman"/>
                <a:ea typeface="Times New Roman"/>
                <a:cs typeface="Times New Roman"/>
                <a:sym typeface="Times New Roman"/>
              </a:rPr>
              <a:t>Hard to understand development effort</a:t>
            </a:r>
            <a:endParaRPr sz="2200" i="0" u="none" strike="noStrike" cap="none">
              <a:solidFill>
                <a:srgbClr val="E46C0A"/>
              </a:solidFill>
              <a:latin typeface="Times New Roman"/>
              <a:ea typeface="Times New Roman"/>
              <a:cs typeface="Times New Roman"/>
              <a:sym typeface="Times New Roman"/>
            </a:endParaRPr>
          </a:p>
          <a:p>
            <a:pPr marL="343080" marR="0" lvl="0" indent="-304620" algn="l" rtl="0">
              <a:lnSpc>
                <a:spcPct val="100000"/>
              </a:lnSpc>
              <a:spcBef>
                <a:spcPts val="561"/>
              </a:spcBef>
              <a:spcAft>
                <a:spcPts val="0"/>
              </a:spcAft>
              <a:buClr>
                <a:schemeClr val="dk1"/>
              </a:buClr>
              <a:buSzPts val="2200"/>
              <a:buFont typeface="Times New Roman"/>
              <a:buChar char="•"/>
            </a:pPr>
            <a:r>
              <a:rPr lang="en" sz="2200" strike="noStrike">
                <a:solidFill>
                  <a:schemeClr val="dk1"/>
                </a:solidFill>
                <a:latin typeface="Times New Roman"/>
                <a:ea typeface="Times New Roman"/>
                <a:cs typeface="Times New Roman"/>
                <a:sym typeface="Times New Roman"/>
              </a:rPr>
              <a:t>Software is easy to reproduce</a:t>
            </a:r>
            <a:endParaRPr sz="2200" strike="noStrike">
              <a:solidFill>
                <a:schemeClr val="dk1"/>
              </a:solidFill>
              <a:latin typeface="Times New Roman"/>
              <a:ea typeface="Times New Roman"/>
              <a:cs typeface="Times New Roman"/>
              <a:sym typeface="Times New Roman"/>
            </a:endParaRPr>
          </a:p>
          <a:p>
            <a:pPr marL="743040" marR="0" lvl="1" indent="-272780" algn="l" rtl="0">
              <a:lnSpc>
                <a:spcPct val="100000"/>
              </a:lnSpc>
              <a:spcBef>
                <a:spcPts val="479"/>
              </a:spcBef>
              <a:spcAft>
                <a:spcPts val="0"/>
              </a:spcAft>
              <a:buClr>
                <a:srgbClr val="7030A0"/>
              </a:buClr>
              <a:buSzPts val="2200"/>
              <a:buFont typeface="Times New Roman"/>
              <a:buChar char="–"/>
            </a:pPr>
            <a:r>
              <a:rPr lang="en" sz="2200" i="0" u="none" strike="noStrike" cap="none">
                <a:solidFill>
                  <a:srgbClr val="7030A0"/>
                </a:solidFill>
                <a:latin typeface="Times New Roman"/>
                <a:ea typeface="Times New Roman"/>
                <a:cs typeface="Times New Roman"/>
                <a:sym typeface="Times New Roman"/>
              </a:rPr>
              <a:t>Cost is in its </a:t>
            </a:r>
            <a:r>
              <a:rPr lang="en" sz="2200" i="1" u="none" strike="noStrike" cap="none">
                <a:solidFill>
                  <a:srgbClr val="7030A0"/>
                </a:solidFill>
                <a:latin typeface="Times New Roman"/>
                <a:ea typeface="Times New Roman"/>
                <a:cs typeface="Times New Roman"/>
                <a:sym typeface="Times New Roman"/>
              </a:rPr>
              <a:t>development</a:t>
            </a:r>
            <a:endParaRPr sz="2200" i="0" u="none" strike="noStrike" cap="none">
              <a:solidFill>
                <a:srgbClr val="E46C0A"/>
              </a:solidFill>
              <a:latin typeface="Times New Roman"/>
              <a:ea typeface="Times New Roman"/>
              <a:cs typeface="Times New Roman"/>
              <a:sym typeface="Times New Roman"/>
            </a:endParaRPr>
          </a:p>
          <a:p>
            <a:pPr marL="743040" marR="0" lvl="1" indent="-272780" algn="l" rtl="0">
              <a:lnSpc>
                <a:spcPct val="100000"/>
              </a:lnSpc>
              <a:spcBef>
                <a:spcPts val="479"/>
              </a:spcBef>
              <a:spcAft>
                <a:spcPts val="0"/>
              </a:spcAft>
              <a:buClr>
                <a:srgbClr val="7030A0"/>
              </a:buClr>
              <a:buSzPts val="2200"/>
              <a:buFont typeface="Times New Roman"/>
              <a:buChar char="–"/>
            </a:pPr>
            <a:r>
              <a:rPr lang="en" sz="2200">
                <a:solidFill>
                  <a:srgbClr val="7030A0"/>
                </a:solidFill>
                <a:latin typeface="Times New Roman"/>
                <a:ea typeface="Times New Roman"/>
                <a:cs typeface="Times New Roman"/>
                <a:sym typeface="Times New Roman"/>
              </a:rPr>
              <a:t>I</a:t>
            </a:r>
            <a:r>
              <a:rPr lang="en" sz="2200" i="0" u="none" strike="noStrike" cap="none">
                <a:solidFill>
                  <a:srgbClr val="7030A0"/>
                </a:solidFill>
                <a:latin typeface="Times New Roman"/>
                <a:ea typeface="Times New Roman"/>
                <a:cs typeface="Times New Roman"/>
                <a:sym typeface="Times New Roman"/>
              </a:rPr>
              <a:t>n other engineering products, manufacturing is the costly stage</a:t>
            </a:r>
            <a:endParaRPr sz="2200" i="0" u="none" strike="noStrike" cap="none">
              <a:solidFill>
                <a:srgbClr val="E46C0A"/>
              </a:solidFill>
              <a:latin typeface="Times New Roman"/>
              <a:ea typeface="Times New Roman"/>
              <a:cs typeface="Times New Roman"/>
              <a:sym typeface="Times New Roman"/>
            </a:endParaRPr>
          </a:p>
          <a:p>
            <a:pPr marL="343080" marR="0" lvl="0" indent="-304620" algn="l" rtl="0">
              <a:lnSpc>
                <a:spcPct val="100000"/>
              </a:lnSpc>
              <a:spcBef>
                <a:spcPts val="561"/>
              </a:spcBef>
              <a:spcAft>
                <a:spcPts val="0"/>
              </a:spcAft>
              <a:buClr>
                <a:schemeClr val="dk1"/>
              </a:buClr>
              <a:buSzPts val="2200"/>
              <a:buFont typeface="Times New Roman"/>
              <a:buChar char="•"/>
            </a:pPr>
            <a:r>
              <a:rPr lang="en" sz="2200" strike="noStrike">
                <a:solidFill>
                  <a:schemeClr val="dk1"/>
                </a:solidFill>
                <a:latin typeface="Times New Roman"/>
                <a:ea typeface="Times New Roman"/>
                <a:cs typeface="Times New Roman"/>
                <a:sym typeface="Times New Roman"/>
              </a:rPr>
              <a:t>Software is easy to modify</a:t>
            </a:r>
            <a:endParaRPr sz="2200" strike="noStrike">
              <a:solidFill>
                <a:schemeClr val="dk1"/>
              </a:solidFill>
              <a:latin typeface="Times New Roman"/>
              <a:ea typeface="Times New Roman"/>
              <a:cs typeface="Times New Roman"/>
              <a:sym typeface="Times New Roman"/>
            </a:endParaRPr>
          </a:p>
          <a:p>
            <a:pPr marL="743040" marR="0" lvl="1" indent="-272780" algn="l" rtl="0">
              <a:lnSpc>
                <a:spcPct val="100000"/>
              </a:lnSpc>
              <a:spcBef>
                <a:spcPts val="479"/>
              </a:spcBef>
              <a:spcAft>
                <a:spcPts val="0"/>
              </a:spcAft>
              <a:buClr>
                <a:srgbClr val="7030A0"/>
              </a:buClr>
              <a:buSzPts val="2200"/>
              <a:buFont typeface="Times New Roman"/>
              <a:buChar char="–"/>
            </a:pPr>
            <a:r>
              <a:rPr lang="en" sz="2200" i="0" u="none" strike="noStrike" cap="none">
                <a:solidFill>
                  <a:srgbClr val="7030A0"/>
                </a:solidFill>
                <a:latin typeface="Times New Roman"/>
                <a:ea typeface="Times New Roman"/>
                <a:cs typeface="Times New Roman"/>
                <a:sym typeface="Times New Roman"/>
              </a:rPr>
              <a:t>People make changes without fully understanding it</a:t>
            </a:r>
            <a:endParaRPr sz="2200" i="0" u="none" strike="noStrike" cap="none">
              <a:solidFill>
                <a:srgbClr val="E46C0A"/>
              </a:solidFill>
              <a:latin typeface="Times New Roman"/>
              <a:ea typeface="Times New Roman"/>
              <a:cs typeface="Times New Roman"/>
              <a:sym typeface="Times New Roman"/>
            </a:endParaRPr>
          </a:p>
          <a:p>
            <a:pPr marL="343080" marR="0" lvl="0" indent="-304620" algn="l" rtl="0">
              <a:lnSpc>
                <a:spcPct val="100000"/>
              </a:lnSpc>
              <a:spcBef>
                <a:spcPts val="561"/>
              </a:spcBef>
              <a:spcAft>
                <a:spcPts val="0"/>
              </a:spcAft>
              <a:buClr>
                <a:schemeClr val="dk1"/>
              </a:buClr>
              <a:buSzPts val="2200"/>
              <a:buFont typeface="Times New Roman"/>
              <a:buChar char="•"/>
            </a:pPr>
            <a:r>
              <a:rPr lang="en" sz="2200" strike="noStrike">
                <a:solidFill>
                  <a:schemeClr val="dk1"/>
                </a:solidFill>
                <a:latin typeface="Times New Roman"/>
                <a:ea typeface="Times New Roman"/>
                <a:cs typeface="Times New Roman"/>
                <a:sym typeface="Times New Roman"/>
              </a:rPr>
              <a:t>Software does not ‘wear out’</a:t>
            </a:r>
            <a:endParaRPr sz="2200" strike="noStrike">
              <a:solidFill>
                <a:schemeClr val="dk1"/>
              </a:solidFill>
              <a:latin typeface="Times New Roman"/>
              <a:ea typeface="Times New Roman"/>
              <a:cs typeface="Times New Roman"/>
              <a:sym typeface="Times New Roman"/>
            </a:endParaRPr>
          </a:p>
          <a:p>
            <a:pPr marL="743040" marR="0" lvl="1" indent="-272780" algn="l" rtl="0">
              <a:lnSpc>
                <a:spcPct val="100000"/>
              </a:lnSpc>
              <a:spcBef>
                <a:spcPts val="479"/>
              </a:spcBef>
              <a:spcAft>
                <a:spcPts val="0"/>
              </a:spcAft>
              <a:buClr>
                <a:srgbClr val="7030A0"/>
              </a:buClr>
              <a:buSzPts val="2200"/>
              <a:buFont typeface="Times New Roman"/>
              <a:buChar char="–"/>
            </a:pPr>
            <a:r>
              <a:rPr lang="en" sz="2200" i="0" u="none" strike="noStrike" cap="none">
                <a:solidFill>
                  <a:srgbClr val="7030A0"/>
                </a:solidFill>
                <a:latin typeface="Times New Roman"/>
                <a:ea typeface="Times New Roman"/>
                <a:cs typeface="Times New Roman"/>
                <a:sym typeface="Times New Roman"/>
              </a:rPr>
              <a:t>It deteriorates by having its design changed:</a:t>
            </a:r>
            <a:endParaRPr sz="2200" i="0" u="none" strike="noStrike" cap="none">
              <a:solidFill>
                <a:srgbClr val="E46C0A"/>
              </a:solidFill>
              <a:latin typeface="Times New Roman"/>
              <a:ea typeface="Times New Roman"/>
              <a:cs typeface="Times New Roman"/>
              <a:sym typeface="Times New Roman"/>
            </a:endParaRPr>
          </a:p>
          <a:p>
            <a:pPr marL="1143000" marR="0" lvl="2" indent="-240940" algn="l" rtl="0">
              <a:lnSpc>
                <a:spcPct val="100000"/>
              </a:lnSpc>
              <a:spcBef>
                <a:spcPts val="400"/>
              </a:spcBef>
              <a:spcAft>
                <a:spcPts val="0"/>
              </a:spcAft>
              <a:buClr>
                <a:srgbClr val="CC0000"/>
              </a:buClr>
              <a:buSzPts val="2200"/>
              <a:buFont typeface="Times New Roman"/>
              <a:buChar char="•"/>
            </a:pPr>
            <a:r>
              <a:rPr lang="en" sz="2200" i="0" u="none" strike="noStrike" cap="none">
                <a:solidFill>
                  <a:srgbClr val="CC0000"/>
                </a:solidFill>
                <a:latin typeface="Times New Roman"/>
                <a:ea typeface="Times New Roman"/>
                <a:cs typeface="Times New Roman"/>
                <a:sym typeface="Times New Roman"/>
              </a:rPr>
              <a:t>erroneously, or</a:t>
            </a:r>
            <a:endParaRPr sz="2200" i="0" u="none" strike="noStrike" cap="none">
              <a:solidFill>
                <a:srgbClr val="CC0000"/>
              </a:solidFill>
              <a:latin typeface="Times New Roman"/>
              <a:ea typeface="Times New Roman"/>
              <a:cs typeface="Times New Roman"/>
              <a:sym typeface="Times New Roman"/>
            </a:endParaRPr>
          </a:p>
          <a:p>
            <a:pPr marL="1143000" marR="0" lvl="2" indent="-240940" algn="l" rtl="0">
              <a:lnSpc>
                <a:spcPct val="100000"/>
              </a:lnSpc>
              <a:spcBef>
                <a:spcPts val="400"/>
              </a:spcBef>
              <a:spcAft>
                <a:spcPts val="0"/>
              </a:spcAft>
              <a:buClr>
                <a:srgbClr val="CC0000"/>
              </a:buClr>
              <a:buSzPts val="2200"/>
              <a:buFont typeface="Times New Roman"/>
              <a:buChar char="•"/>
            </a:pPr>
            <a:r>
              <a:rPr lang="en" sz="2200" i="0" u="none" strike="noStrike" cap="none">
                <a:solidFill>
                  <a:srgbClr val="CC0000"/>
                </a:solidFill>
                <a:latin typeface="Times New Roman"/>
                <a:ea typeface="Times New Roman"/>
                <a:cs typeface="Times New Roman"/>
                <a:sym typeface="Times New Roman"/>
              </a:rPr>
              <a:t>in ways that were not anticipated, thus making it complex</a:t>
            </a:r>
            <a:endParaRPr sz="2200" i="0" u="none" strike="noStrike" cap="none">
              <a:solidFill>
                <a:srgbClr val="CC0000"/>
              </a:solidFill>
              <a:latin typeface="Times New Roman"/>
              <a:ea typeface="Times New Roman"/>
              <a:cs typeface="Times New Roman"/>
              <a:sym typeface="Times New Roman"/>
            </a:endParaRPr>
          </a:p>
          <a:p>
            <a:pPr marL="0" marR="0" lvl="0" indent="0" algn="l" rtl="0">
              <a:lnSpc>
                <a:spcPct val="100000"/>
              </a:lnSpc>
              <a:spcBef>
                <a:spcPts val="561"/>
              </a:spcBef>
              <a:spcAft>
                <a:spcPts val="0"/>
              </a:spcAft>
              <a:buNone/>
            </a:pPr>
            <a:endParaRPr sz="2200" strike="noStrike">
              <a:solidFill>
                <a:srgbClr val="003300"/>
              </a:solidFill>
              <a:latin typeface="Times New Roman"/>
              <a:ea typeface="Times New Roman"/>
              <a:cs typeface="Times New Roman"/>
              <a:sym typeface="Times New Roman"/>
            </a:endParaRPr>
          </a:p>
          <a:p>
            <a:pPr marL="0" marR="0" lvl="0" indent="0" algn="l" rtl="0">
              <a:lnSpc>
                <a:spcPct val="100000"/>
              </a:lnSpc>
              <a:spcBef>
                <a:spcPts val="561"/>
              </a:spcBef>
              <a:spcAft>
                <a:spcPts val="0"/>
              </a:spcAft>
              <a:buNone/>
            </a:pPr>
            <a:endParaRPr sz="2200" strike="noStrike">
              <a:solidFill>
                <a:srgbClr val="0033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48"/>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strike="noStrike">
                <a:solidFill>
                  <a:srgbClr val="0070C0"/>
                </a:solidFill>
                <a:latin typeface="Times New Roman"/>
                <a:ea typeface="Times New Roman"/>
                <a:cs typeface="Times New Roman"/>
                <a:sym typeface="Times New Roman"/>
              </a:rPr>
              <a:t>S</a:t>
            </a:r>
            <a:r>
              <a:rPr lang="en" sz="3600">
                <a:solidFill>
                  <a:srgbClr val="0070C0"/>
                </a:solidFill>
                <a:latin typeface="Times New Roman"/>
                <a:ea typeface="Times New Roman"/>
                <a:cs typeface="Times New Roman"/>
                <a:sym typeface="Times New Roman"/>
              </a:rPr>
              <a:t>oftware</a:t>
            </a:r>
            <a:r>
              <a:rPr lang="en" sz="3600" strike="noStrike">
                <a:solidFill>
                  <a:srgbClr val="0070C0"/>
                </a:solidFill>
                <a:latin typeface="Times New Roman"/>
                <a:ea typeface="Times New Roman"/>
                <a:cs typeface="Times New Roman"/>
                <a:sym typeface="Times New Roman"/>
              </a:rPr>
              <a:t> Failure </a:t>
            </a:r>
            <a:r>
              <a:rPr lang="en" sz="3600">
                <a:solidFill>
                  <a:srgbClr val="0070C0"/>
                </a:solidFill>
                <a:latin typeface="Times New Roman"/>
                <a:ea typeface="Times New Roman"/>
                <a:cs typeface="Times New Roman"/>
                <a:sym typeface="Times New Roman"/>
              </a:rPr>
              <a:t>R</a:t>
            </a:r>
            <a:r>
              <a:rPr lang="en" sz="3600" strike="noStrike">
                <a:solidFill>
                  <a:srgbClr val="0070C0"/>
                </a:solidFill>
                <a:latin typeface="Times New Roman"/>
                <a:ea typeface="Times New Roman"/>
                <a:cs typeface="Times New Roman"/>
                <a:sym typeface="Times New Roman"/>
              </a:rPr>
              <a:t>ate</a:t>
            </a:r>
            <a:endParaRPr sz="3600" strike="noStrike">
              <a:solidFill>
                <a:srgbClr val="000000"/>
              </a:solidFill>
              <a:latin typeface="Times New Roman"/>
              <a:ea typeface="Times New Roman"/>
              <a:cs typeface="Times New Roman"/>
              <a:sym typeface="Times New Roman"/>
            </a:endParaRPr>
          </a:p>
        </p:txBody>
      </p:sp>
      <p:pic>
        <p:nvPicPr>
          <p:cNvPr id="228" name="Google Shape;228;p48"/>
          <p:cNvPicPr preferRelativeResize="0"/>
          <p:nvPr/>
        </p:nvPicPr>
        <p:blipFill rotWithShape="1">
          <a:blip r:embed="rId3">
            <a:alphaModFix/>
          </a:blip>
          <a:srcRect/>
          <a:stretch/>
        </p:blipFill>
        <p:spPr>
          <a:xfrm>
            <a:off x="1610405" y="807115"/>
            <a:ext cx="6343380" cy="404433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9"/>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strike="noStrike">
                <a:solidFill>
                  <a:srgbClr val="0070C0"/>
                </a:solidFill>
                <a:latin typeface="Times New Roman"/>
                <a:ea typeface="Times New Roman"/>
                <a:cs typeface="Times New Roman"/>
                <a:sym typeface="Times New Roman"/>
              </a:rPr>
              <a:t>Software Engineering - </a:t>
            </a:r>
            <a:r>
              <a:rPr lang="en" sz="3600">
                <a:solidFill>
                  <a:srgbClr val="E46C0A"/>
                </a:solidFill>
                <a:latin typeface="Times New Roman"/>
                <a:ea typeface="Times New Roman"/>
                <a:cs typeface="Times New Roman"/>
                <a:sym typeface="Times New Roman"/>
              </a:rPr>
              <a:t>D</a:t>
            </a:r>
            <a:r>
              <a:rPr lang="en" sz="3600" strike="noStrike">
                <a:solidFill>
                  <a:srgbClr val="E46C0A"/>
                </a:solidFill>
                <a:latin typeface="Times New Roman"/>
                <a:ea typeface="Times New Roman"/>
                <a:cs typeface="Times New Roman"/>
                <a:sym typeface="Times New Roman"/>
              </a:rPr>
              <a:t>efining</a:t>
            </a:r>
            <a:endParaRPr sz="3600" strike="noStrike">
              <a:solidFill>
                <a:srgbClr val="000000"/>
              </a:solidFill>
              <a:latin typeface="Times New Roman"/>
              <a:ea typeface="Times New Roman"/>
              <a:cs typeface="Times New Roman"/>
              <a:sym typeface="Times New Roman"/>
            </a:endParaRPr>
          </a:p>
        </p:txBody>
      </p:sp>
      <p:sp>
        <p:nvSpPr>
          <p:cNvPr id="234" name="Google Shape;234;p49"/>
          <p:cNvSpPr txBox="1"/>
          <p:nvPr/>
        </p:nvSpPr>
        <p:spPr>
          <a:xfrm>
            <a:off x="228600" y="685800"/>
            <a:ext cx="8686440" cy="3908520"/>
          </a:xfrm>
          <a:prstGeom prst="rect">
            <a:avLst/>
          </a:prstGeom>
          <a:noFill/>
          <a:ln>
            <a:noFill/>
          </a:ln>
        </p:spPr>
        <p:txBody>
          <a:bodyPr spcFirstLastPara="1" wrap="square" lIns="91425" tIns="45700" rIns="91425" bIns="45700" anchor="t" anchorCtr="0">
            <a:normAutofit/>
          </a:bodyPr>
          <a:lstStyle/>
          <a:p>
            <a:pPr marL="343080" marR="0" lvl="0" indent="-335100" algn="just" rtl="0">
              <a:lnSpc>
                <a:spcPct val="100000"/>
              </a:lnSpc>
              <a:spcBef>
                <a:spcPts val="0"/>
              </a:spcBef>
              <a:spcAft>
                <a:spcPts val="0"/>
              </a:spcAft>
              <a:buClr>
                <a:srgbClr val="003300"/>
              </a:buClr>
              <a:buSzPts val="2400"/>
              <a:buFont typeface="Times New Roman"/>
              <a:buChar char="•"/>
            </a:pPr>
            <a:r>
              <a:rPr lang="en" sz="2400" strike="noStrike">
                <a:solidFill>
                  <a:srgbClr val="003300"/>
                </a:solidFill>
                <a:latin typeface="Times New Roman"/>
                <a:ea typeface="Times New Roman"/>
                <a:cs typeface="Times New Roman"/>
                <a:sym typeface="Times New Roman"/>
              </a:rPr>
              <a:t>Engineering approach to develop software.</a:t>
            </a:r>
            <a:endParaRPr sz="2400" strike="noStrike">
              <a:solidFill>
                <a:srgbClr val="003300"/>
              </a:solidFill>
              <a:latin typeface="Times New Roman"/>
              <a:ea typeface="Times New Roman"/>
              <a:cs typeface="Times New Roman"/>
              <a:sym typeface="Times New Roman"/>
            </a:endParaRPr>
          </a:p>
          <a:p>
            <a:pPr marL="743040" marR="0" lvl="1" indent="-300720" algn="just" rtl="0">
              <a:lnSpc>
                <a:spcPct val="100000"/>
              </a:lnSpc>
              <a:spcBef>
                <a:spcPts val="479"/>
              </a:spcBef>
              <a:spcAft>
                <a:spcPts val="0"/>
              </a:spcAft>
              <a:buClr>
                <a:srgbClr val="7030A0"/>
              </a:buClr>
              <a:buSzPts val="2400"/>
              <a:buFont typeface="Times New Roman"/>
              <a:buChar char="–"/>
            </a:pPr>
            <a:r>
              <a:rPr lang="en" sz="2400" i="0" u="none" strike="noStrike" cap="none">
                <a:solidFill>
                  <a:srgbClr val="7030A0"/>
                </a:solidFill>
                <a:latin typeface="Times New Roman"/>
                <a:ea typeface="Times New Roman"/>
                <a:cs typeface="Times New Roman"/>
                <a:sym typeface="Times New Roman"/>
              </a:rPr>
              <a:t>It discusses systematic and cost effective techniques for software development.</a:t>
            </a:r>
            <a:endParaRPr sz="2400" i="0" u="none" strike="noStrike" cap="none">
              <a:solidFill>
                <a:srgbClr val="E46C0A"/>
              </a:solidFill>
              <a:latin typeface="Times New Roman"/>
              <a:ea typeface="Times New Roman"/>
              <a:cs typeface="Times New Roman"/>
              <a:sym typeface="Times New Roman"/>
            </a:endParaRPr>
          </a:p>
          <a:p>
            <a:pPr marL="343080" marR="0" lvl="0" indent="-335100" algn="just" rtl="0">
              <a:lnSpc>
                <a:spcPct val="100000"/>
              </a:lnSpc>
              <a:spcBef>
                <a:spcPts val="561"/>
              </a:spcBef>
              <a:spcAft>
                <a:spcPts val="0"/>
              </a:spcAft>
              <a:buClr>
                <a:srgbClr val="003300"/>
              </a:buClr>
              <a:buSzPts val="2400"/>
              <a:buFont typeface="Times New Roman"/>
              <a:buChar char="•"/>
            </a:pPr>
            <a:r>
              <a:rPr lang="en" sz="2400" strike="noStrike">
                <a:solidFill>
                  <a:srgbClr val="003300"/>
                </a:solidFill>
                <a:latin typeface="Times New Roman"/>
                <a:ea typeface="Times New Roman"/>
                <a:cs typeface="Times New Roman"/>
                <a:sym typeface="Times New Roman"/>
              </a:rPr>
              <a:t>The process of solving customers’ problems by the systematic development and evolution of large, high-quality software systems within cost, time and other constraints</a:t>
            </a:r>
            <a:endParaRPr sz="2400" strike="noStrike">
              <a:solidFill>
                <a:srgbClr val="003300"/>
              </a:solidFill>
              <a:latin typeface="Times New Roman"/>
              <a:ea typeface="Times New Roman"/>
              <a:cs typeface="Times New Roman"/>
              <a:sym typeface="Times New Roman"/>
            </a:endParaRPr>
          </a:p>
          <a:p>
            <a:pPr marL="343080" marR="0" lvl="0" indent="-335100" algn="just" rtl="0">
              <a:lnSpc>
                <a:spcPct val="100000"/>
              </a:lnSpc>
              <a:spcBef>
                <a:spcPts val="561"/>
              </a:spcBef>
              <a:spcAft>
                <a:spcPts val="0"/>
              </a:spcAft>
              <a:buClr>
                <a:srgbClr val="003300"/>
              </a:buClr>
              <a:buSzPts val="2400"/>
              <a:buFont typeface="Times New Roman"/>
              <a:buChar char="•"/>
            </a:pPr>
            <a:r>
              <a:rPr lang="en" sz="2400" strike="noStrike">
                <a:solidFill>
                  <a:srgbClr val="003300"/>
                </a:solidFill>
                <a:latin typeface="Times New Roman"/>
                <a:ea typeface="Times New Roman"/>
                <a:cs typeface="Times New Roman"/>
                <a:sym typeface="Times New Roman"/>
              </a:rPr>
              <a:t>The application of a systematic, disciplined, quantifiable approach to the development, operation, maintenance of software; that is, the application of engineering to software. (IEEE)</a:t>
            </a:r>
            <a:endParaRPr sz="2400" strike="noStrike">
              <a:solidFill>
                <a:srgbClr val="0033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50"/>
          <p:cNvSpPr txBox="1"/>
          <p:nvPr/>
        </p:nvSpPr>
        <p:spPr>
          <a:xfrm>
            <a:off x="457200" y="114210"/>
            <a:ext cx="8229300" cy="857100"/>
          </a:xfrm>
          <a:prstGeom prst="rect">
            <a:avLst/>
          </a:prstGeom>
          <a:noFill/>
          <a:ln>
            <a:noFill/>
          </a:ln>
        </p:spPr>
        <p:txBody>
          <a:bodyPr spcFirstLastPara="1" wrap="square" lIns="91425" tIns="45700" rIns="91425" bIns="45700" anchor="ctr" anchorCtr="0">
            <a:normAutofit fontScale="92500"/>
          </a:bodyPr>
          <a:lstStyle/>
          <a:p>
            <a:pPr marL="0" marR="0" lvl="0" indent="0" algn="ctr" rtl="0">
              <a:lnSpc>
                <a:spcPct val="100000"/>
              </a:lnSpc>
              <a:spcBef>
                <a:spcPts val="0"/>
              </a:spcBef>
              <a:spcAft>
                <a:spcPts val="0"/>
              </a:spcAft>
              <a:buNone/>
            </a:pPr>
            <a:r>
              <a:rPr lang="en" sz="3600" strike="noStrike">
                <a:solidFill>
                  <a:srgbClr val="0070C0"/>
                </a:solidFill>
                <a:latin typeface="Times New Roman"/>
                <a:ea typeface="Times New Roman"/>
                <a:cs typeface="Times New Roman"/>
                <a:sym typeface="Times New Roman"/>
              </a:rPr>
              <a:t>Software Engineering: A Layered Technology</a:t>
            </a:r>
            <a:endParaRPr sz="3600" strike="noStrike">
              <a:solidFill>
                <a:srgbClr val="000000"/>
              </a:solidFill>
              <a:latin typeface="Times New Roman"/>
              <a:ea typeface="Times New Roman"/>
              <a:cs typeface="Times New Roman"/>
              <a:sym typeface="Times New Roman"/>
            </a:endParaRPr>
          </a:p>
        </p:txBody>
      </p:sp>
      <p:sp>
        <p:nvSpPr>
          <p:cNvPr id="240" name="Google Shape;240;p50"/>
          <p:cNvSpPr/>
          <p:nvPr/>
        </p:nvSpPr>
        <p:spPr>
          <a:xfrm>
            <a:off x="3790080" y="3771900"/>
            <a:ext cx="2388600" cy="251700"/>
          </a:xfrm>
          <a:prstGeom prst="rect">
            <a:avLst/>
          </a:prstGeom>
          <a:noFill/>
          <a:ln>
            <a:noFill/>
          </a:ln>
        </p:spPr>
        <p:txBody>
          <a:bodyPr spcFirstLastPara="1" wrap="square" lIns="90350" tIns="44275" rIns="90350" bIns="44275" anchor="t" anchorCtr="0">
            <a:noAutofit/>
          </a:bodyPr>
          <a:lstStyle/>
          <a:p>
            <a:pPr marL="0" marR="0" lvl="0" indent="0" algn="l" rtl="0">
              <a:lnSpc>
                <a:spcPct val="90000"/>
              </a:lnSpc>
              <a:spcBef>
                <a:spcPts val="0"/>
              </a:spcBef>
              <a:spcAft>
                <a:spcPts val="0"/>
              </a:spcAft>
              <a:buNone/>
            </a:pPr>
            <a:r>
              <a:rPr lang="en" sz="1800" b="1" i="1" strike="noStrike">
                <a:solidFill>
                  <a:srgbClr val="9A0000"/>
                </a:solidFill>
                <a:latin typeface="Palatino"/>
                <a:ea typeface="Palatino"/>
                <a:cs typeface="Palatino"/>
                <a:sym typeface="Palatino"/>
              </a:rPr>
              <a:t>Software Engineering</a:t>
            </a:r>
            <a:endParaRPr sz="1800" b="0" strike="noStrike">
              <a:latin typeface="Arial"/>
              <a:ea typeface="Arial"/>
              <a:cs typeface="Arial"/>
              <a:sym typeface="Arial"/>
            </a:endParaRPr>
          </a:p>
        </p:txBody>
      </p:sp>
      <p:sp>
        <p:nvSpPr>
          <p:cNvPr id="241" name="Google Shape;241;p50"/>
          <p:cNvSpPr/>
          <p:nvPr/>
        </p:nvSpPr>
        <p:spPr>
          <a:xfrm>
            <a:off x="1004760" y="2547990"/>
            <a:ext cx="7619700" cy="964200"/>
          </a:xfrm>
          <a:prstGeom prst="ellipse">
            <a:avLst/>
          </a:prstGeom>
          <a:solidFill>
            <a:srgbClr val="01EA89"/>
          </a:solidFill>
          <a:ln>
            <a:noFill/>
          </a:ln>
          <a:effectLst>
            <a:outerShdw dist="107932" dir="2700000" algn="ctr" rotWithShape="0">
              <a:srgbClr val="80808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50"/>
          <p:cNvSpPr/>
          <p:nvPr/>
        </p:nvSpPr>
        <p:spPr>
          <a:xfrm>
            <a:off x="1461960" y="2226420"/>
            <a:ext cx="6629100" cy="900000"/>
          </a:xfrm>
          <a:prstGeom prst="ellipse">
            <a:avLst/>
          </a:prstGeom>
          <a:solidFill>
            <a:srgbClr val="BC3700"/>
          </a:solidFill>
          <a:ln>
            <a:noFill/>
          </a:ln>
          <a:effectLst>
            <a:outerShdw dist="107932" dir="2700000" algn="ctr" rotWithShape="0">
              <a:srgbClr val="80808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50"/>
          <p:cNvSpPr/>
          <p:nvPr/>
        </p:nvSpPr>
        <p:spPr>
          <a:xfrm>
            <a:off x="1995480" y="2000160"/>
            <a:ext cx="5486100" cy="771300"/>
          </a:xfrm>
          <a:prstGeom prst="ellipse">
            <a:avLst/>
          </a:prstGeom>
          <a:solidFill>
            <a:srgbClr val="003366"/>
          </a:solidFill>
          <a:ln>
            <a:noFill/>
          </a:ln>
          <a:effectLst>
            <a:outerShdw dist="107932" dir="2700000" algn="ctr" rotWithShape="0">
              <a:srgbClr val="80808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50"/>
          <p:cNvSpPr/>
          <p:nvPr/>
        </p:nvSpPr>
        <p:spPr>
          <a:xfrm>
            <a:off x="2376360" y="1712070"/>
            <a:ext cx="4723800" cy="514200"/>
          </a:xfrm>
          <a:prstGeom prst="ellipse">
            <a:avLst/>
          </a:prstGeom>
          <a:solidFill>
            <a:srgbClr val="790015"/>
          </a:solidFill>
          <a:ln>
            <a:noFill/>
          </a:ln>
          <a:effectLst>
            <a:outerShdw dist="107932" dir="2700000" algn="ctr" rotWithShape="0">
              <a:srgbClr val="80808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50"/>
          <p:cNvSpPr/>
          <p:nvPr/>
        </p:nvSpPr>
        <p:spPr>
          <a:xfrm>
            <a:off x="3654360" y="3178980"/>
            <a:ext cx="2151000" cy="295200"/>
          </a:xfrm>
          <a:prstGeom prst="rect">
            <a:avLst/>
          </a:prstGeom>
          <a:noFill/>
          <a:ln>
            <a:noFill/>
          </a:ln>
        </p:spPr>
        <p:txBody>
          <a:bodyPr spcFirstLastPara="1" wrap="square" lIns="90350" tIns="44275" rIns="90350" bIns="44275" anchor="t" anchorCtr="0">
            <a:noAutofit/>
          </a:bodyPr>
          <a:lstStyle/>
          <a:p>
            <a:pPr marL="0" marR="0" lvl="0" indent="0" algn="l" rtl="0">
              <a:lnSpc>
                <a:spcPct val="100000"/>
              </a:lnSpc>
              <a:spcBef>
                <a:spcPts val="0"/>
              </a:spcBef>
              <a:spcAft>
                <a:spcPts val="0"/>
              </a:spcAft>
              <a:buNone/>
            </a:pPr>
            <a:r>
              <a:rPr lang="en" sz="2000" b="1" strike="noStrike">
                <a:solidFill>
                  <a:srgbClr val="000000"/>
                </a:solidFill>
                <a:latin typeface="Palatino"/>
                <a:ea typeface="Palatino"/>
                <a:cs typeface="Palatino"/>
                <a:sym typeface="Palatino"/>
              </a:rPr>
              <a:t>a “quality” focus</a:t>
            </a:r>
            <a:endParaRPr sz="2000" b="0" strike="noStrike">
              <a:latin typeface="Arial"/>
              <a:ea typeface="Arial"/>
              <a:cs typeface="Arial"/>
              <a:sym typeface="Arial"/>
            </a:endParaRPr>
          </a:p>
        </p:txBody>
      </p:sp>
      <p:sp>
        <p:nvSpPr>
          <p:cNvPr id="246" name="Google Shape;246;p50"/>
          <p:cNvSpPr/>
          <p:nvPr/>
        </p:nvSpPr>
        <p:spPr>
          <a:xfrm>
            <a:off x="3760560" y="2790720"/>
            <a:ext cx="1841400" cy="295200"/>
          </a:xfrm>
          <a:prstGeom prst="rect">
            <a:avLst/>
          </a:prstGeom>
          <a:noFill/>
          <a:ln>
            <a:noFill/>
          </a:ln>
        </p:spPr>
        <p:txBody>
          <a:bodyPr spcFirstLastPara="1" wrap="square" lIns="90350" tIns="44275" rIns="90350" bIns="44275" anchor="t" anchorCtr="0">
            <a:noAutofit/>
          </a:bodyPr>
          <a:lstStyle/>
          <a:p>
            <a:pPr marL="0" marR="0" lvl="0" indent="0" algn="l" rtl="0">
              <a:lnSpc>
                <a:spcPct val="100000"/>
              </a:lnSpc>
              <a:spcBef>
                <a:spcPts val="0"/>
              </a:spcBef>
              <a:spcAft>
                <a:spcPts val="0"/>
              </a:spcAft>
              <a:buNone/>
            </a:pPr>
            <a:r>
              <a:rPr lang="en" sz="2000" b="1" strike="noStrike">
                <a:solidFill>
                  <a:srgbClr val="DADADA"/>
                </a:solidFill>
                <a:latin typeface="Palatino"/>
                <a:ea typeface="Palatino"/>
                <a:cs typeface="Palatino"/>
                <a:sym typeface="Palatino"/>
              </a:rPr>
              <a:t>process model</a:t>
            </a:r>
            <a:endParaRPr sz="2000" b="0" strike="noStrike">
              <a:latin typeface="Arial"/>
              <a:ea typeface="Arial"/>
              <a:cs typeface="Arial"/>
              <a:sym typeface="Arial"/>
            </a:endParaRPr>
          </a:p>
        </p:txBody>
      </p:sp>
      <p:sp>
        <p:nvSpPr>
          <p:cNvPr id="247" name="Google Shape;247;p50"/>
          <p:cNvSpPr/>
          <p:nvPr/>
        </p:nvSpPr>
        <p:spPr>
          <a:xfrm>
            <a:off x="4115160" y="2390850"/>
            <a:ext cx="1189200" cy="295200"/>
          </a:xfrm>
          <a:prstGeom prst="rect">
            <a:avLst/>
          </a:prstGeom>
          <a:noFill/>
          <a:ln>
            <a:noFill/>
          </a:ln>
        </p:spPr>
        <p:txBody>
          <a:bodyPr spcFirstLastPara="1" wrap="square" lIns="90350" tIns="44275" rIns="90350" bIns="44275" anchor="t" anchorCtr="0">
            <a:noAutofit/>
          </a:bodyPr>
          <a:lstStyle/>
          <a:p>
            <a:pPr marL="0" marR="0" lvl="0" indent="0" algn="l" rtl="0">
              <a:lnSpc>
                <a:spcPct val="100000"/>
              </a:lnSpc>
              <a:spcBef>
                <a:spcPts val="0"/>
              </a:spcBef>
              <a:spcAft>
                <a:spcPts val="0"/>
              </a:spcAft>
              <a:buNone/>
            </a:pPr>
            <a:r>
              <a:rPr lang="en" sz="2000" b="1" strike="noStrike">
                <a:solidFill>
                  <a:srgbClr val="DADADA"/>
                </a:solidFill>
                <a:latin typeface="Palatino"/>
                <a:ea typeface="Palatino"/>
                <a:cs typeface="Palatino"/>
                <a:sym typeface="Palatino"/>
              </a:rPr>
              <a:t>methods</a:t>
            </a:r>
            <a:endParaRPr sz="2000" b="0" strike="noStrike">
              <a:latin typeface="Arial"/>
              <a:ea typeface="Arial"/>
              <a:cs typeface="Arial"/>
              <a:sym typeface="Arial"/>
            </a:endParaRPr>
          </a:p>
        </p:txBody>
      </p:sp>
      <p:sp>
        <p:nvSpPr>
          <p:cNvPr id="248" name="Google Shape;248;p50"/>
          <p:cNvSpPr/>
          <p:nvPr/>
        </p:nvSpPr>
        <p:spPr>
          <a:xfrm>
            <a:off x="4419720" y="1828710"/>
            <a:ext cx="747300" cy="295200"/>
          </a:xfrm>
          <a:prstGeom prst="rect">
            <a:avLst/>
          </a:prstGeom>
          <a:noFill/>
          <a:ln>
            <a:noFill/>
          </a:ln>
        </p:spPr>
        <p:txBody>
          <a:bodyPr spcFirstLastPara="1" wrap="square" lIns="90350" tIns="44275" rIns="90350" bIns="44275" anchor="t" anchorCtr="0">
            <a:noAutofit/>
          </a:bodyPr>
          <a:lstStyle/>
          <a:p>
            <a:pPr marL="0" marR="0" lvl="0" indent="0" algn="l" rtl="0">
              <a:lnSpc>
                <a:spcPct val="100000"/>
              </a:lnSpc>
              <a:spcBef>
                <a:spcPts val="0"/>
              </a:spcBef>
              <a:spcAft>
                <a:spcPts val="0"/>
              </a:spcAft>
              <a:buNone/>
            </a:pPr>
            <a:r>
              <a:rPr lang="en" sz="2000" b="1" strike="noStrike">
                <a:solidFill>
                  <a:srgbClr val="DADADA"/>
                </a:solidFill>
                <a:latin typeface="Palatino"/>
                <a:ea typeface="Palatino"/>
                <a:cs typeface="Palatino"/>
                <a:sym typeface="Palatino"/>
              </a:rPr>
              <a:t>tools</a:t>
            </a:r>
            <a:endParaRPr sz="2000" b="0" strike="noStrike">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51"/>
          <p:cNvSpPr txBox="1">
            <a:spLocks noGrp="1"/>
          </p:cNvSpPr>
          <p:nvPr>
            <p:ph type="title"/>
          </p:nvPr>
        </p:nvSpPr>
        <p:spPr>
          <a:xfrm>
            <a:off x="457200" y="114210"/>
            <a:ext cx="8229300" cy="59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Time and Change</a:t>
            </a:r>
            <a:endParaRPr/>
          </a:p>
        </p:txBody>
      </p:sp>
      <p:sp>
        <p:nvSpPr>
          <p:cNvPr id="254" name="Google Shape;254;p51"/>
          <p:cNvSpPr txBox="1">
            <a:spLocks noGrp="1"/>
          </p:cNvSpPr>
          <p:nvPr>
            <p:ph type="subTitle" idx="1"/>
          </p:nvPr>
        </p:nvSpPr>
        <p:spPr>
          <a:xfrm>
            <a:off x="250400" y="685800"/>
            <a:ext cx="8664600" cy="39084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1371600" lvl="0" indent="457200" algn="l" rtl="0">
              <a:spcBef>
                <a:spcPts val="0"/>
              </a:spcBef>
              <a:spcAft>
                <a:spcPts val="0"/>
              </a:spcAft>
              <a:buNone/>
            </a:pPr>
            <a:r>
              <a:rPr lang="en"/>
              <a:t>Lifespan and the importance of upgrades</a:t>
            </a:r>
            <a:endParaRPr/>
          </a:p>
        </p:txBody>
      </p:sp>
      <p:pic>
        <p:nvPicPr>
          <p:cNvPr id="255" name="Google Shape;255;p51" title="time &amp; change.png"/>
          <p:cNvPicPr preferRelativeResize="0"/>
          <p:nvPr/>
        </p:nvPicPr>
        <p:blipFill>
          <a:blip r:embed="rId3">
            <a:alphaModFix/>
          </a:blip>
          <a:stretch>
            <a:fillRect/>
          </a:stretch>
        </p:blipFill>
        <p:spPr>
          <a:xfrm>
            <a:off x="792925" y="847375"/>
            <a:ext cx="7355301" cy="25986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52"/>
          <p:cNvSpPr txBox="1">
            <a:spLocks noGrp="1"/>
          </p:cNvSpPr>
          <p:nvPr>
            <p:ph type="title"/>
          </p:nvPr>
        </p:nvSpPr>
        <p:spPr>
          <a:xfrm>
            <a:off x="457200" y="114210"/>
            <a:ext cx="8229300" cy="5937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 sz="2500">
                <a:solidFill>
                  <a:schemeClr val="accent1"/>
                </a:solidFill>
                <a:latin typeface="Times New Roman"/>
                <a:ea typeface="Times New Roman"/>
                <a:cs typeface="Times New Roman"/>
                <a:sym typeface="Times New Roman"/>
              </a:rPr>
              <a:t>Time and Change</a:t>
            </a:r>
            <a:endParaRPr sz="2500">
              <a:solidFill>
                <a:schemeClr val="accent1"/>
              </a:solidFill>
              <a:latin typeface="Times New Roman"/>
              <a:ea typeface="Times New Roman"/>
              <a:cs typeface="Times New Roman"/>
              <a:sym typeface="Times New Roman"/>
            </a:endParaRPr>
          </a:p>
        </p:txBody>
      </p:sp>
      <p:sp>
        <p:nvSpPr>
          <p:cNvPr id="261" name="Google Shape;261;p52"/>
          <p:cNvSpPr txBox="1">
            <a:spLocks noGrp="1"/>
          </p:cNvSpPr>
          <p:nvPr>
            <p:ph type="subTitle" idx="1"/>
          </p:nvPr>
        </p:nvSpPr>
        <p:spPr>
          <a:xfrm>
            <a:off x="228750" y="366750"/>
            <a:ext cx="8686500" cy="3342000"/>
          </a:xfrm>
          <a:prstGeom prst="rect">
            <a:avLst/>
          </a:prstGeom>
        </p:spPr>
        <p:txBody>
          <a:bodyPr spcFirstLastPara="1" wrap="square" lIns="0" tIns="0" rIns="0" bIns="0" anchor="ctr" anchorCtr="0">
            <a:noAutofit/>
          </a:bodyPr>
          <a:lstStyle/>
          <a:p>
            <a:pPr marL="457200" lvl="0" indent="-317500" algn="just" rtl="0">
              <a:spcBef>
                <a:spcPts val="0"/>
              </a:spcBef>
              <a:spcAft>
                <a:spcPts val="0"/>
              </a:spcAft>
              <a:buSzPts val="1400"/>
              <a:buFont typeface="Times New Roman"/>
              <a:buChar char="●"/>
            </a:pPr>
            <a:r>
              <a:rPr lang="en">
                <a:latin typeface="Times New Roman"/>
                <a:ea typeface="Times New Roman"/>
                <a:cs typeface="Times New Roman"/>
                <a:sym typeface="Times New Roman"/>
              </a:rPr>
              <a:t>You’re performing a task that hasn’t yet been done for this project; </a:t>
            </a:r>
            <a:endParaRPr>
              <a:latin typeface="Times New Roman"/>
              <a:ea typeface="Times New Roman"/>
              <a:cs typeface="Times New Roman"/>
              <a:sym typeface="Times New Roman"/>
            </a:endParaRPr>
          </a:p>
          <a:p>
            <a:pPr marL="457200" lvl="0" indent="0" algn="just" rtl="0">
              <a:spcBef>
                <a:spcPts val="0"/>
              </a:spcBef>
              <a:spcAft>
                <a:spcPts val="0"/>
              </a:spcAft>
              <a:buNone/>
            </a:pPr>
            <a:r>
              <a:rPr lang="en">
                <a:latin typeface="Times New Roman"/>
                <a:ea typeface="Times New Roman"/>
                <a:cs typeface="Times New Roman"/>
                <a:sym typeface="Times New Roman"/>
              </a:rPr>
              <a:t>more hidden assumptions have been baked-in</a:t>
            </a:r>
            <a:endParaRPr>
              <a:latin typeface="Times New Roman"/>
              <a:ea typeface="Times New Roman"/>
              <a:cs typeface="Times New Roman"/>
              <a:sym typeface="Times New Roman"/>
            </a:endParaRPr>
          </a:p>
          <a:p>
            <a:pPr marL="457200" lvl="0" indent="0" algn="just" rtl="0">
              <a:spcBef>
                <a:spcPts val="0"/>
              </a:spcBef>
              <a:spcAft>
                <a:spcPts val="0"/>
              </a:spcAft>
              <a:buNone/>
            </a:pPr>
            <a:endParaRPr>
              <a:latin typeface="Times New Roman"/>
              <a:ea typeface="Times New Roman"/>
              <a:cs typeface="Times New Roman"/>
              <a:sym typeface="Times New Roman"/>
            </a:endParaRPr>
          </a:p>
          <a:p>
            <a:pPr marL="457200" lvl="0" indent="-317500" algn="just" rtl="0">
              <a:spcBef>
                <a:spcPts val="0"/>
              </a:spcBef>
              <a:spcAft>
                <a:spcPts val="0"/>
              </a:spcAft>
              <a:buSzPts val="1400"/>
              <a:buFont typeface="Times New Roman"/>
              <a:buChar char="●"/>
            </a:pPr>
            <a:r>
              <a:rPr lang="en">
                <a:latin typeface="Times New Roman"/>
                <a:ea typeface="Times New Roman"/>
                <a:cs typeface="Times New Roman"/>
                <a:sym typeface="Times New Roman"/>
              </a:rPr>
              <a:t>The engineers trying to do the upgrade are less likely to have experience in this sort of task.</a:t>
            </a:r>
            <a:endParaRPr>
              <a:latin typeface="Times New Roman"/>
              <a:ea typeface="Times New Roman"/>
              <a:cs typeface="Times New Roman"/>
              <a:sym typeface="Times New Roman"/>
            </a:endParaRPr>
          </a:p>
          <a:p>
            <a:pPr marL="457200" lvl="0" indent="0" algn="just" rtl="0">
              <a:spcBef>
                <a:spcPts val="0"/>
              </a:spcBef>
              <a:spcAft>
                <a:spcPts val="0"/>
              </a:spcAft>
              <a:buNone/>
            </a:pPr>
            <a:endParaRPr>
              <a:latin typeface="Times New Roman"/>
              <a:ea typeface="Times New Roman"/>
              <a:cs typeface="Times New Roman"/>
              <a:sym typeface="Times New Roman"/>
            </a:endParaRPr>
          </a:p>
          <a:p>
            <a:pPr marL="457200" lvl="0" indent="-317500" algn="just" rtl="0">
              <a:spcBef>
                <a:spcPts val="0"/>
              </a:spcBef>
              <a:spcAft>
                <a:spcPts val="0"/>
              </a:spcAft>
              <a:buSzPts val="1400"/>
              <a:buFont typeface="Times New Roman"/>
              <a:buChar char="●"/>
            </a:pPr>
            <a:r>
              <a:rPr lang="en">
                <a:latin typeface="Times New Roman"/>
                <a:ea typeface="Times New Roman"/>
                <a:cs typeface="Times New Roman"/>
                <a:sym typeface="Times New Roman"/>
              </a:rPr>
              <a:t>The size of the upgrade is often larger than usual, doing several years’ worth of upgrades at once instead of a more incremental upgrade.</a:t>
            </a:r>
            <a:endParaRPr>
              <a:latin typeface="Times New Roman"/>
              <a:ea typeface="Times New Roman"/>
              <a:cs typeface="Times New Roman"/>
              <a:sym typeface="Times New Roman"/>
            </a:endParaRPr>
          </a:p>
          <a:p>
            <a:pPr marL="0" lvl="0" indent="0" algn="just"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53"/>
          <p:cNvSpPr txBox="1">
            <a:spLocks noGrp="1"/>
          </p:cNvSpPr>
          <p:nvPr>
            <p:ph type="title"/>
          </p:nvPr>
        </p:nvSpPr>
        <p:spPr>
          <a:xfrm>
            <a:off x="457200" y="114210"/>
            <a:ext cx="8229300" cy="59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2500">
                <a:solidFill>
                  <a:schemeClr val="accent1"/>
                </a:solidFill>
                <a:latin typeface="Times New Roman"/>
                <a:ea typeface="Times New Roman"/>
                <a:cs typeface="Times New Roman"/>
                <a:sym typeface="Times New Roman"/>
              </a:rPr>
              <a:t>Hyrum’s Law</a:t>
            </a:r>
            <a:endParaRPr sz="2500">
              <a:solidFill>
                <a:schemeClr val="accent1"/>
              </a:solidFill>
              <a:latin typeface="Times New Roman"/>
              <a:ea typeface="Times New Roman"/>
              <a:cs typeface="Times New Roman"/>
              <a:sym typeface="Times New Roman"/>
            </a:endParaRPr>
          </a:p>
        </p:txBody>
      </p:sp>
      <p:sp>
        <p:nvSpPr>
          <p:cNvPr id="267" name="Google Shape;267;p53"/>
          <p:cNvSpPr txBox="1">
            <a:spLocks noGrp="1"/>
          </p:cNvSpPr>
          <p:nvPr>
            <p:ph type="subTitle" idx="1"/>
          </p:nvPr>
        </p:nvSpPr>
        <p:spPr>
          <a:xfrm>
            <a:off x="228600" y="685800"/>
            <a:ext cx="8686500" cy="3908400"/>
          </a:xfrm>
          <a:prstGeom prst="rect">
            <a:avLst/>
          </a:prstGeom>
        </p:spPr>
        <p:txBody>
          <a:bodyPr spcFirstLastPara="1" wrap="square" lIns="0" tIns="0" rIns="0" bIns="0" anchor="ctr" anchorCtr="0">
            <a:noAutofit/>
          </a:bodyPr>
          <a:lstStyle/>
          <a:p>
            <a:pPr marL="0" lvl="0" indent="0" algn="just" rtl="0">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If you are maintaining a project that is used by other engineers, the most important lesson about “it works” versus “it is maintainable” is what we’ve come to call Hyrum’s Law:</a:t>
            </a:r>
            <a:endParaRPr>
              <a:latin typeface="Times New Roman"/>
              <a:ea typeface="Times New Roman"/>
              <a:cs typeface="Times New Roman"/>
              <a:sym typeface="Times New Roman"/>
            </a:endParaRPr>
          </a:p>
          <a:p>
            <a:pPr marL="0" lvl="0" indent="0" algn="just" rtl="0">
              <a:spcBef>
                <a:spcPts val="0"/>
              </a:spcBef>
              <a:spcAft>
                <a:spcPts val="0"/>
              </a:spcAft>
              <a:buClr>
                <a:schemeClr val="dk1"/>
              </a:buClr>
              <a:buSzPts val="1100"/>
              <a:buFont typeface="Arial"/>
              <a:buNone/>
            </a:pPr>
            <a:endParaRPr>
              <a:latin typeface="Times New Roman"/>
              <a:ea typeface="Times New Roman"/>
              <a:cs typeface="Times New Roman"/>
              <a:sym typeface="Times New Roman"/>
            </a:endParaRPr>
          </a:p>
          <a:p>
            <a:pPr marL="0" lvl="0" indent="0" algn="just" rtl="0">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With a sufficient number of users of an API, it does not matter what you promise in the contract: all observable behaviours of your system will be depended on by somebody.</a:t>
            </a:r>
            <a:endParaRPr>
              <a:latin typeface="Times New Roman"/>
              <a:ea typeface="Times New Roman"/>
              <a:cs typeface="Times New Roman"/>
              <a:sym typeface="Times New Roman"/>
            </a:endParaRPr>
          </a:p>
          <a:p>
            <a:pPr marL="0" lvl="0" indent="0" algn="just"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54"/>
          <p:cNvSpPr txBox="1">
            <a:spLocks noGrp="1"/>
          </p:cNvSpPr>
          <p:nvPr>
            <p:ph type="title"/>
          </p:nvPr>
        </p:nvSpPr>
        <p:spPr>
          <a:xfrm>
            <a:off x="457200" y="114210"/>
            <a:ext cx="8229300" cy="59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2500">
                <a:solidFill>
                  <a:schemeClr val="accent1"/>
                </a:solidFill>
                <a:latin typeface="Times New Roman"/>
                <a:ea typeface="Times New Roman"/>
                <a:cs typeface="Times New Roman"/>
                <a:sym typeface="Times New Roman"/>
              </a:rPr>
              <a:t>Timeline of the developer workflow</a:t>
            </a:r>
            <a:endParaRPr sz="2500">
              <a:solidFill>
                <a:schemeClr val="accent1"/>
              </a:solidFill>
              <a:latin typeface="Times New Roman"/>
              <a:ea typeface="Times New Roman"/>
              <a:cs typeface="Times New Roman"/>
              <a:sym typeface="Times New Roman"/>
            </a:endParaRPr>
          </a:p>
        </p:txBody>
      </p:sp>
      <p:sp>
        <p:nvSpPr>
          <p:cNvPr id="273" name="Google Shape;273;p54"/>
          <p:cNvSpPr txBox="1">
            <a:spLocks noGrp="1"/>
          </p:cNvSpPr>
          <p:nvPr>
            <p:ph type="subTitle" idx="1"/>
          </p:nvPr>
        </p:nvSpPr>
        <p:spPr>
          <a:xfrm>
            <a:off x="228600" y="685800"/>
            <a:ext cx="8686500" cy="39084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ctr" rtl="0">
              <a:spcBef>
                <a:spcPts val="0"/>
              </a:spcBef>
              <a:spcAft>
                <a:spcPts val="0"/>
              </a:spcAft>
              <a:buNone/>
            </a:pPr>
            <a:r>
              <a:rPr lang="en">
                <a:latin typeface="Times New Roman"/>
                <a:ea typeface="Times New Roman"/>
                <a:cs typeface="Times New Roman"/>
                <a:sym typeface="Times New Roman"/>
              </a:rPr>
              <a:t>Timeline of the developer workflow</a:t>
            </a:r>
            <a:endParaRPr>
              <a:latin typeface="Times New Roman"/>
              <a:ea typeface="Times New Roman"/>
              <a:cs typeface="Times New Roman"/>
              <a:sym typeface="Times New Roman"/>
            </a:endParaRPr>
          </a:p>
        </p:txBody>
      </p:sp>
      <p:pic>
        <p:nvPicPr>
          <p:cNvPr id="274" name="Google Shape;274;p54" title="time line of developer workflow.png"/>
          <p:cNvPicPr preferRelativeResize="0"/>
          <p:nvPr/>
        </p:nvPicPr>
        <p:blipFill>
          <a:blip r:embed="rId3">
            <a:alphaModFix/>
          </a:blip>
          <a:stretch>
            <a:fillRect/>
          </a:stretch>
        </p:blipFill>
        <p:spPr>
          <a:xfrm>
            <a:off x="719875" y="1127350"/>
            <a:ext cx="8021500" cy="2976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55"/>
          <p:cNvSpPr txBox="1">
            <a:spLocks noGrp="1"/>
          </p:cNvSpPr>
          <p:nvPr>
            <p:ph type="title"/>
          </p:nvPr>
        </p:nvSpPr>
        <p:spPr>
          <a:xfrm>
            <a:off x="457200" y="114210"/>
            <a:ext cx="8229300" cy="59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2400">
                <a:solidFill>
                  <a:schemeClr val="accent1"/>
                </a:solidFill>
                <a:latin typeface="Times New Roman"/>
                <a:ea typeface="Times New Roman"/>
                <a:cs typeface="Times New Roman"/>
                <a:sym typeface="Times New Roman"/>
              </a:rPr>
              <a:t>Efforts and Costs</a:t>
            </a:r>
            <a:endParaRPr sz="2400">
              <a:solidFill>
                <a:schemeClr val="accent1"/>
              </a:solidFill>
              <a:latin typeface="Times New Roman"/>
              <a:ea typeface="Times New Roman"/>
              <a:cs typeface="Times New Roman"/>
              <a:sym typeface="Times New Roman"/>
            </a:endParaRPr>
          </a:p>
        </p:txBody>
      </p:sp>
      <p:sp>
        <p:nvSpPr>
          <p:cNvPr id="280" name="Google Shape;280;p55"/>
          <p:cNvSpPr txBox="1">
            <a:spLocks noGrp="1"/>
          </p:cNvSpPr>
          <p:nvPr>
            <p:ph type="subTitle" idx="1"/>
          </p:nvPr>
        </p:nvSpPr>
        <p:spPr>
          <a:xfrm>
            <a:off x="228600" y="685800"/>
            <a:ext cx="8686500" cy="39084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a:t>
            </a:r>
            <a:r>
              <a:rPr lang="en" sz="2000">
                <a:latin typeface="Times New Roman"/>
                <a:ea typeface="Times New Roman"/>
                <a:cs typeface="Times New Roman"/>
                <a:sym typeface="Times New Roman"/>
              </a:rPr>
              <a:t>Cost” roughly translates to effort, and can involve any or all of these factors:</a:t>
            </a:r>
            <a:endParaRPr sz="2000">
              <a:latin typeface="Times New Roman"/>
              <a:ea typeface="Times New Roman"/>
              <a:cs typeface="Times New Roman"/>
              <a:sym typeface="Times New Roman"/>
            </a:endParaRPr>
          </a:p>
          <a:p>
            <a:pPr marL="0" lvl="0" indent="0" algn="l" rtl="0">
              <a:spcBef>
                <a:spcPts val="0"/>
              </a:spcBef>
              <a:spcAft>
                <a:spcPts val="0"/>
              </a:spcAft>
              <a:buNone/>
            </a:pPr>
            <a:endParaRPr sz="2000">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 sz="2000">
                <a:latin typeface="Times New Roman"/>
                <a:ea typeface="Times New Roman"/>
                <a:cs typeface="Times New Roman"/>
                <a:sym typeface="Times New Roman"/>
              </a:rPr>
              <a:t>Financial costs (e.g., money)</a:t>
            </a:r>
            <a:endParaRPr sz="2000">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 sz="2000">
                <a:latin typeface="Times New Roman"/>
                <a:ea typeface="Times New Roman"/>
                <a:cs typeface="Times New Roman"/>
                <a:sym typeface="Times New Roman"/>
              </a:rPr>
              <a:t>Resource costs (e.g., CPU time)</a:t>
            </a:r>
            <a:endParaRPr sz="2000">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 sz="2000">
                <a:latin typeface="Times New Roman"/>
                <a:ea typeface="Times New Roman"/>
                <a:cs typeface="Times New Roman"/>
                <a:sym typeface="Times New Roman"/>
              </a:rPr>
              <a:t>Personnel costs (e.g., engineering effort)</a:t>
            </a:r>
            <a:endParaRPr sz="2000">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 sz="2000">
                <a:latin typeface="Times New Roman"/>
                <a:ea typeface="Times New Roman"/>
                <a:cs typeface="Times New Roman"/>
                <a:sym typeface="Times New Roman"/>
              </a:rPr>
              <a:t>Transaction costs (e.g., what does it cost to take action?)</a:t>
            </a:r>
            <a:endParaRPr sz="2000">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 sz="2000">
                <a:latin typeface="Times New Roman"/>
                <a:ea typeface="Times New Roman"/>
                <a:cs typeface="Times New Roman"/>
                <a:sym typeface="Times New Roman"/>
              </a:rPr>
              <a:t>Opportunity costs (e.g., what does it cost to “not” take action?)</a:t>
            </a:r>
            <a:endParaRPr sz="2000">
              <a:latin typeface="Times New Roman"/>
              <a:ea typeface="Times New Roman"/>
              <a:cs typeface="Times New Roman"/>
              <a:sym typeface="Times New Roman"/>
            </a:endParaRPr>
          </a:p>
          <a:p>
            <a:pPr marL="457200" lvl="0" indent="-330200" algn="l" rtl="0">
              <a:spcBef>
                <a:spcPts val="0"/>
              </a:spcBef>
              <a:spcAft>
                <a:spcPts val="0"/>
              </a:spcAft>
              <a:buSzPts val="1600"/>
              <a:buFont typeface="Times New Roman"/>
              <a:buChar char="●"/>
            </a:pPr>
            <a:r>
              <a:rPr lang="en" sz="2000">
                <a:latin typeface="Times New Roman"/>
                <a:ea typeface="Times New Roman"/>
                <a:cs typeface="Times New Roman"/>
                <a:sym typeface="Times New Roman"/>
              </a:rPr>
              <a:t>Societal costs (e.g., what impact will this choice have on society at large?)</a:t>
            </a:r>
            <a:endParaRPr sz="200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2000">
              <a:latin typeface="Times New Roman"/>
              <a:ea typeface="Times New Roman"/>
              <a:cs typeface="Times New Roman"/>
              <a:sym typeface="Times New Roman"/>
            </a:endParaRPr>
          </a:p>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56"/>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strike="noStrike">
                <a:solidFill>
                  <a:srgbClr val="0070C0"/>
                </a:solidFill>
                <a:latin typeface="Times New Roman"/>
                <a:ea typeface="Times New Roman"/>
                <a:cs typeface="Times New Roman"/>
                <a:sym typeface="Times New Roman"/>
              </a:rPr>
              <a:t>Evolution Pattern </a:t>
            </a:r>
            <a:endParaRPr sz="3600" strike="noStrike">
              <a:solidFill>
                <a:srgbClr val="000000"/>
              </a:solidFill>
              <a:latin typeface="Times New Roman"/>
              <a:ea typeface="Times New Roman"/>
              <a:cs typeface="Times New Roman"/>
              <a:sym typeface="Times New Roman"/>
            </a:endParaRPr>
          </a:p>
        </p:txBody>
      </p:sp>
      <p:sp>
        <p:nvSpPr>
          <p:cNvPr id="286" name="Google Shape;286;p56"/>
          <p:cNvSpPr txBox="1"/>
          <p:nvPr/>
        </p:nvSpPr>
        <p:spPr>
          <a:xfrm>
            <a:off x="228600" y="685800"/>
            <a:ext cx="8686440" cy="3908520"/>
          </a:xfrm>
          <a:prstGeom prst="rect">
            <a:avLst/>
          </a:prstGeom>
          <a:noFill/>
          <a:ln>
            <a:noFill/>
          </a:ln>
        </p:spPr>
        <p:txBody>
          <a:bodyPr spcFirstLastPara="1" wrap="square" lIns="91425" tIns="45700" rIns="91425" bIns="45700" anchor="t" anchorCtr="0">
            <a:normAutofit fontScale="85000" lnSpcReduction="20000"/>
          </a:bodyPr>
          <a:lstStyle/>
          <a:p>
            <a:pPr marL="343080" marR="0" lvl="0" indent="-369390" algn="just" rtl="0">
              <a:lnSpc>
                <a:spcPct val="100000"/>
              </a:lnSpc>
              <a:spcBef>
                <a:spcPts val="0"/>
              </a:spcBef>
              <a:spcAft>
                <a:spcPts val="0"/>
              </a:spcAft>
              <a:buClr>
                <a:srgbClr val="003300"/>
              </a:buClr>
              <a:buSzPct val="100000"/>
              <a:buFont typeface="Times New Roman"/>
              <a:buChar char="•"/>
            </a:pPr>
            <a:r>
              <a:rPr lang="en" sz="2800" strike="noStrike">
                <a:solidFill>
                  <a:srgbClr val="003300"/>
                </a:solidFill>
                <a:latin typeface="Times New Roman"/>
                <a:ea typeface="Times New Roman"/>
                <a:cs typeface="Times New Roman"/>
                <a:sym typeface="Times New Roman"/>
              </a:rPr>
              <a:t>Every technology in the initial years starts from an </a:t>
            </a:r>
            <a:r>
              <a:rPr lang="en" sz="2800" strike="noStrike">
                <a:solidFill>
                  <a:srgbClr val="FF0000"/>
                </a:solidFill>
                <a:latin typeface="Times New Roman"/>
                <a:ea typeface="Times New Roman"/>
                <a:cs typeface="Times New Roman"/>
                <a:sym typeface="Times New Roman"/>
              </a:rPr>
              <a:t>art</a:t>
            </a:r>
            <a:r>
              <a:rPr lang="en" sz="2800" strike="noStrike">
                <a:solidFill>
                  <a:srgbClr val="003300"/>
                </a:solidFill>
                <a:latin typeface="Times New Roman"/>
                <a:ea typeface="Times New Roman"/>
                <a:cs typeface="Times New Roman"/>
                <a:sym typeface="Times New Roman"/>
              </a:rPr>
              <a:t>.</a:t>
            </a:r>
            <a:endParaRPr sz="2800" strike="noStrike">
              <a:solidFill>
                <a:srgbClr val="003300"/>
              </a:solidFill>
              <a:latin typeface="Times New Roman"/>
              <a:ea typeface="Times New Roman"/>
              <a:cs typeface="Times New Roman"/>
              <a:sym typeface="Times New Roman"/>
            </a:endParaRPr>
          </a:p>
          <a:p>
            <a:pPr marL="343080" marR="0" lvl="0" indent="-369390" algn="just" rtl="0">
              <a:lnSpc>
                <a:spcPct val="100000"/>
              </a:lnSpc>
              <a:spcBef>
                <a:spcPts val="561"/>
              </a:spcBef>
              <a:spcAft>
                <a:spcPts val="0"/>
              </a:spcAft>
              <a:buClr>
                <a:srgbClr val="003300"/>
              </a:buClr>
              <a:buSzPct val="100000"/>
              <a:buFont typeface="Times New Roman"/>
              <a:buChar char="•"/>
            </a:pPr>
            <a:r>
              <a:rPr lang="en" sz="2800" strike="noStrike">
                <a:solidFill>
                  <a:srgbClr val="003300"/>
                </a:solidFill>
                <a:latin typeface="Times New Roman"/>
                <a:ea typeface="Times New Roman"/>
                <a:cs typeface="Times New Roman"/>
                <a:sym typeface="Times New Roman"/>
              </a:rPr>
              <a:t>Over time, it graduates to a </a:t>
            </a:r>
            <a:r>
              <a:rPr lang="en" sz="2800" strike="noStrike">
                <a:solidFill>
                  <a:srgbClr val="E46C0A"/>
                </a:solidFill>
                <a:latin typeface="Times New Roman"/>
                <a:ea typeface="Times New Roman"/>
                <a:cs typeface="Times New Roman"/>
                <a:sym typeface="Times New Roman"/>
              </a:rPr>
              <a:t>craft</a:t>
            </a:r>
            <a:r>
              <a:rPr lang="en" sz="2800" strike="noStrike">
                <a:solidFill>
                  <a:srgbClr val="003300"/>
                </a:solidFill>
                <a:latin typeface="Times New Roman"/>
                <a:ea typeface="Times New Roman"/>
                <a:cs typeface="Times New Roman"/>
                <a:sym typeface="Times New Roman"/>
              </a:rPr>
              <a:t> and finally emerges as an </a:t>
            </a:r>
            <a:r>
              <a:rPr lang="en" sz="2800" strike="noStrike">
                <a:solidFill>
                  <a:srgbClr val="00B0F0"/>
                </a:solidFill>
                <a:latin typeface="Times New Roman"/>
                <a:ea typeface="Times New Roman"/>
                <a:cs typeface="Times New Roman"/>
                <a:sym typeface="Times New Roman"/>
              </a:rPr>
              <a:t>engineering</a:t>
            </a:r>
            <a:r>
              <a:rPr lang="en" sz="2800" strike="noStrike">
                <a:solidFill>
                  <a:srgbClr val="003300"/>
                </a:solidFill>
                <a:latin typeface="Times New Roman"/>
                <a:ea typeface="Times New Roman"/>
                <a:cs typeface="Times New Roman"/>
                <a:sym typeface="Times New Roman"/>
              </a:rPr>
              <a:t> discipline.</a:t>
            </a:r>
            <a:endParaRPr sz="2800" strike="noStrike">
              <a:solidFill>
                <a:srgbClr val="003300"/>
              </a:solidFill>
              <a:latin typeface="Times New Roman"/>
              <a:ea typeface="Times New Roman"/>
              <a:cs typeface="Times New Roman"/>
              <a:sym typeface="Times New Roman"/>
            </a:endParaRPr>
          </a:p>
          <a:p>
            <a:pPr marL="743040" marR="0" lvl="1" indent="-308340" algn="just" rtl="0">
              <a:lnSpc>
                <a:spcPct val="100000"/>
              </a:lnSpc>
              <a:spcBef>
                <a:spcPts val="479"/>
              </a:spcBef>
              <a:spcAft>
                <a:spcPts val="0"/>
              </a:spcAft>
              <a:buClr>
                <a:srgbClr val="E46C0A"/>
              </a:buClr>
              <a:buSzPct val="100000"/>
              <a:buFont typeface="Times New Roman"/>
              <a:buChar char="–"/>
            </a:pPr>
            <a:r>
              <a:rPr lang="en" sz="2400" i="0" u="none" strike="noStrike" cap="none">
                <a:solidFill>
                  <a:srgbClr val="E46C0A"/>
                </a:solidFill>
                <a:latin typeface="Times New Roman"/>
                <a:ea typeface="Times New Roman"/>
                <a:cs typeface="Times New Roman"/>
                <a:sym typeface="Times New Roman"/>
              </a:rPr>
              <a:t>Example</a:t>
            </a:r>
            <a:r>
              <a:rPr lang="en" sz="2400" i="0" u="none" strike="noStrike" cap="none">
                <a:solidFill>
                  <a:srgbClr val="7030A0"/>
                </a:solidFill>
                <a:latin typeface="Times New Roman"/>
                <a:ea typeface="Times New Roman"/>
                <a:cs typeface="Times New Roman"/>
                <a:sym typeface="Times New Roman"/>
              </a:rPr>
              <a:t>: Iron making, paper making, software development, or building construction.</a:t>
            </a:r>
            <a:endParaRPr sz="2400" i="0" u="none" strike="noStrike" cap="none">
              <a:solidFill>
                <a:srgbClr val="E46C0A"/>
              </a:solidFill>
              <a:latin typeface="Times New Roman"/>
              <a:ea typeface="Times New Roman"/>
              <a:cs typeface="Times New Roman"/>
              <a:sym typeface="Times New Roman"/>
            </a:endParaRPr>
          </a:p>
          <a:p>
            <a:pPr marL="343080" marR="0" lvl="0" indent="-369390" algn="just" rtl="0">
              <a:lnSpc>
                <a:spcPct val="100000"/>
              </a:lnSpc>
              <a:spcBef>
                <a:spcPts val="561"/>
              </a:spcBef>
              <a:spcAft>
                <a:spcPts val="0"/>
              </a:spcAft>
              <a:buClr>
                <a:srgbClr val="003300"/>
              </a:buClr>
              <a:buSzPct val="100000"/>
              <a:buFont typeface="Times New Roman"/>
              <a:buChar char="•"/>
            </a:pPr>
            <a:r>
              <a:rPr lang="en" sz="2800" strike="noStrike">
                <a:solidFill>
                  <a:srgbClr val="003300"/>
                </a:solidFill>
                <a:latin typeface="Times New Roman"/>
                <a:ea typeface="Times New Roman"/>
                <a:cs typeface="Times New Roman"/>
                <a:sym typeface="Times New Roman"/>
              </a:rPr>
              <a:t>i.e. say iron making: </a:t>
            </a:r>
            <a:endParaRPr sz="2800" strike="noStrike">
              <a:solidFill>
                <a:srgbClr val="003300"/>
              </a:solidFill>
              <a:latin typeface="Times New Roman"/>
              <a:ea typeface="Times New Roman"/>
              <a:cs typeface="Times New Roman"/>
              <a:sym typeface="Times New Roman"/>
            </a:endParaRPr>
          </a:p>
          <a:p>
            <a:pPr marL="743040" marR="0" lvl="1" indent="-308340" algn="just" rtl="0">
              <a:lnSpc>
                <a:spcPct val="100000"/>
              </a:lnSpc>
              <a:spcBef>
                <a:spcPts val="479"/>
              </a:spcBef>
              <a:spcAft>
                <a:spcPts val="0"/>
              </a:spcAft>
              <a:buClr>
                <a:srgbClr val="7030A0"/>
              </a:buClr>
              <a:buSzPct val="100000"/>
              <a:buFont typeface="Times New Roman"/>
              <a:buChar char="–"/>
            </a:pPr>
            <a:r>
              <a:rPr lang="en" sz="2400" i="0" u="none" strike="noStrike" cap="none">
                <a:solidFill>
                  <a:srgbClr val="7030A0"/>
                </a:solidFill>
                <a:latin typeface="Times New Roman"/>
                <a:ea typeface="Times New Roman"/>
                <a:cs typeface="Times New Roman"/>
                <a:sym typeface="Times New Roman"/>
              </a:rPr>
              <a:t>The esoteric knowledge got transferred from generation to generation as a family secret</a:t>
            </a:r>
            <a:endParaRPr sz="2400" i="0" u="none" strike="noStrike" cap="none">
              <a:solidFill>
                <a:srgbClr val="E46C0A"/>
              </a:solidFill>
              <a:latin typeface="Times New Roman"/>
              <a:ea typeface="Times New Roman"/>
              <a:cs typeface="Times New Roman"/>
              <a:sym typeface="Times New Roman"/>
            </a:endParaRPr>
          </a:p>
          <a:p>
            <a:pPr marL="743040" marR="0" lvl="1" indent="-308340" algn="just" rtl="0">
              <a:lnSpc>
                <a:spcPct val="100000"/>
              </a:lnSpc>
              <a:spcBef>
                <a:spcPts val="479"/>
              </a:spcBef>
              <a:spcAft>
                <a:spcPts val="0"/>
              </a:spcAft>
              <a:buClr>
                <a:srgbClr val="7030A0"/>
              </a:buClr>
              <a:buSzPct val="100000"/>
              <a:buFont typeface="Times New Roman"/>
              <a:buChar char="–"/>
            </a:pPr>
            <a:r>
              <a:rPr lang="en" sz="2400" i="0" u="none" strike="noStrike" cap="none">
                <a:solidFill>
                  <a:srgbClr val="7030A0"/>
                </a:solidFill>
                <a:latin typeface="Times New Roman"/>
                <a:ea typeface="Times New Roman"/>
                <a:cs typeface="Times New Roman"/>
                <a:sym typeface="Times New Roman"/>
              </a:rPr>
              <a:t>Slowly a tradesman shared their knowledge with their apprentices and the knowledge pool continues to grow.</a:t>
            </a:r>
            <a:endParaRPr sz="2400" i="0" u="none" strike="noStrike" cap="none">
              <a:solidFill>
                <a:srgbClr val="E46C0A"/>
              </a:solidFill>
              <a:latin typeface="Times New Roman"/>
              <a:ea typeface="Times New Roman"/>
              <a:cs typeface="Times New Roman"/>
              <a:sym typeface="Times New Roman"/>
            </a:endParaRPr>
          </a:p>
          <a:p>
            <a:pPr marL="743040" marR="0" lvl="1" indent="-308340" algn="just" rtl="0">
              <a:lnSpc>
                <a:spcPct val="100000"/>
              </a:lnSpc>
              <a:spcBef>
                <a:spcPts val="479"/>
              </a:spcBef>
              <a:spcAft>
                <a:spcPts val="0"/>
              </a:spcAft>
              <a:buClr>
                <a:srgbClr val="7030A0"/>
              </a:buClr>
              <a:buSzPct val="100000"/>
              <a:buFont typeface="Times New Roman"/>
              <a:buChar char="–"/>
            </a:pPr>
            <a:r>
              <a:rPr lang="en" sz="2400" i="0" u="none" strike="noStrike" cap="none">
                <a:solidFill>
                  <a:srgbClr val="7030A0"/>
                </a:solidFill>
                <a:latin typeface="Times New Roman"/>
                <a:ea typeface="Times New Roman"/>
                <a:cs typeface="Times New Roman"/>
                <a:sym typeface="Times New Roman"/>
              </a:rPr>
              <a:t>Much later, through a systematic organization and documentation of knowledge, and incorporation of scientific basic, modern steel making technology emerged.</a:t>
            </a:r>
            <a:endParaRPr sz="2400" i="0" u="none" strike="noStrike" cap="none">
              <a:solidFill>
                <a:srgbClr val="E46C0A"/>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57"/>
          <p:cNvSpPr txBox="1"/>
          <p:nvPr/>
        </p:nvSpPr>
        <p:spPr>
          <a:xfrm>
            <a:off x="457200" y="114210"/>
            <a:ext cx="8229240" cy="593730"/>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00000"/>
              </a:lnSpc>
              <a:spcBef>
                <a:spcPts val="0"/>
              </a:spcBef>
              <a:spcAft>
                <a:spcPts val="0"/>
              </a:spcAft>
              <a:buNone/>
            </a:pPr>
            <a:r>
              <a:rPr lang="en" sz="3600" strike="noStrike">
                <a:solidFill>
                  <a:srgbClr val="0070C0"/>
                </a:solidFill>
                <a:latin typeface="Times New Roman"/>
                <a:ea typeface="Times New Roman"/>
                <a:cs typeface="Times New Roman"/>
                <a:sym typeface="Times New Roman"/>
              </a:rPr>
              <a:t>Evolution of Pattern of Technology</a:t>
            </a:r>
            <a:endParaRPr sz="3600" strike="noStrike">
              <a:solidFill>
                <a:srgbClr val="000000"/>
              </a:solidFill>
              <a:latin typeface="Times New Roman"/>
              <a:ea typeface="Times New Roman"/>
              <a:cs typeface="Times New Roman"/>
              <a:sym typeface="Times New Roman"/>
            </a:endParaRPr>
          </a:p>
        </p:txBody>
      </p:sp>
      <p:cxnSp>
        <p:nvCxnSpPr>
          <p:cNvPr id="292" name="Google Shape;292;p57"/>
          <p:cNvCxnSpPr/>
          <p:nvPr/>
        </p:nvCxnSpPr>
        <p:spPr>
          <a:xfrm>
            <a:off x="1114200" y="908280"/>
            <a:ext cx="0" cy="3024270"/>
          </a:xfrm>
          <a:prstGeom prst="straightConnector1">
            <a:avLst/>
          </a:prstGeom>
          <a:noFill/>
          <a:ln w="28425" cap="flat" cmpd="sng">
            <a:solidFill>
              <a:srgbClr val="000000"/>
            </a:solidFill>
            <a:prstDash val="solid"/>
            <a:round/>
            <a:headEnd type="none" w="sm" len="sm"/>
            <a:tailEnd type="none" w="sm" len="sm"/>
          </a:ln>
        </p:spPr>
      </p:cxnSp>
      <p:cxnSp>
        <p:nvCxnSpPr>
          <p:cNvPr id="293" name="Google Shape;293;p57"/>
          <p:cNvCxnSpPr/>
          <p:nvPr/>
        </p:nvCxnSpPr>
        <p:spPr>
          <a:xfrm>
            <a:off x="1120680" y="3942000"/>
            <a:ext cx="6727680" cy="1350"/>
          </a:xfrm>
          <a:prstGeom prst="straightConnector1">
            <a:avLst/>
          </a:prstGeom>
          <a:noFill/>
          <a:ln w="28425" cap="flat" cmpd="sng">
            <a:solidFill>
              <a:srgbClr val="000000"/>
            </a:solidFill>
            <a:prstDash val="solid"/>
            <a:round/>
            <a:headEnd type="none" w="sm" len="sm"/>
            <a:tailEnd type="none" w="sm" len="sm"/>
          </a:ln>
        </p:spPr>
      </p:cxnSp>
      <p:sp>
        <p:nvSpPr>
          <p:cNvPr id="294" name="Google Shape;294;p57"/>
          <p:cNvSpPr/>
          <p:nvPr/>
        </p:nvSpPr>
        <p:spPr>
          <a:xfrm>
            <a:off x="1281240" y="1476360"/>
            <a:ext cx="5732280" cy="2034450"/>
          </a:xfrm>
          <a:custGeom>
            <a:avLst/>
            <a:gdLst/>
            <a:ahLst/>
            <a:cxnLst/>
            <a:rect l="l" t="t" r="r" b="b"/>
            <a:pathLst>
              <a:path w="14447" h="6845" extrusionOk="0">
                <a:moveTo>
                  <a:pt x="0" y="6773"/>
                </a:moveTo>
                <a:cubicBezTo>
                  <a:pt x="331" y="6809"/>
                  <a:pt x="662" y="6844"/>
                  <a:pt x="1046" y="6773"/>
                </a:cubicBezTo>
                <a:cubicBezTo>
                  <a:pt x="1430" y="6703"/>
                  <a:pt x="1918" y="6632"/>
                  <a:pt x="2302" y="6350"/>
                </a:cubicBezTo>
                <a:cubicBezTo>
                  <a:pt x="2686" y="6068"/>
                  <a:pt x="3000" y="5433"/>
                  <a:pt x="3350" y="5080"/>
                </a:cubicBezTo>
                <a:cubicBezTo>
                  <a:pt x="3698" y="4727"/>
                  <a:pt x="3594" y="4445"/>
                  <a:pt x="4396" y="4233"/>
                </a:cubicBezTo>
                <a:cubicBezTo>
                  <a:pt x="5198" y="4022"/>
                  <a:pt x="7327" y="3951"/>
                  <a:pt x="8165" y="3810"/>
                </a:cubicBezTo>
                <a:cubicBezTo>
                  <a:pt x="9002" y="3669"/>
                  <a:pt x="8932" y="3845"/>
                  <a:pt x="9421" y="3387"/>
                </a:cubicBezTo>
                <a:cubicBezTo>
                  <a:pt x="9909" y="2928"/>
                  <a:pt x="10572" y="1552"/>
                  <a:pt x="11095" y="1058"/>
                </a:cubicBezTo>
                <a:cubicBezTo>
                  <a:pt x="11620" y="564"/>
                  <a:pt x="12003" y="600"/>
                  <a:pt x="12561" y="423"/>
                </a:cubicBezTo>
                <a:cubicBezTo>
                  <a:pt x="13119" y="247"/>
                  <a:pt x="13783" y="123"/>
                  <a:pt x="14446" y="0"/>
                </a:cubicBezTo>
              </a:path>
            </a:pathLst>
          </a:custGeom>
          <a:noFill/>
          <a:ln w="41025" cap="flat" cmpd="sng">
            <a:solidFill>
              <a:srgbClr val="8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5" name="Google Shape;295;p57"/>
          <p:cNvGrpSpPr/>
          <p:nvPr/>
        </p:nvGrpSpPr>
        <p:grpSpPr>
          <a:xfrm>
            <a:off x="1281240" y="1223910"/>
            <a:ext cx="6281280" cy="2695140"/>
            <a:chOff x="1281240" y="1631880"/>
            <a:chExt cx="6281280" cy="3593520"/>
          </a:xfrm>
        </p:grpSpPr>
        <p:sp>
          <p:nvSpPr>
            <p:cNvPr id="296" name="Google Shape;296;p57"/>
            <p:cNvSpPr/>
            <p:nvPr/>
          </p:nvSpPr>
          <p:spPr>
            <a:xfrm>
              <a:off x="1281240" y="4724280"/>
              <a:ext cx="996480" cy="501120"/>
            </a:xfrm>
            <a:prstGeom prst="rect">
              <a:avLst/>
            </a:prstGeom>
            <a:noFill/>
            <a:ln>
              <a:noFill/>
            </a:ln>
          </p:spPr>
          <p:txBody>
            <a:bodyPr spcFirstLastPara="1" wrap="square" lIns="19800" tIns="51475" rIns="19800" bIns="51475" anchor="t" anchorCtr="0">
              <a:noAutofit/>
            </a:bodyPr>
            <a:lstStyle/>
            <a:p>
              <a:pPr marL="0" marR="0" lvl="0" indent="0" algn="l" rtl="0">
                <a:lnSpc>
                  <a:spcPct val="85000"/>
                </a:lnSpc>
                <a:spcBef>
                  <a:spcPts val="0"/>
                </a:spcBef>
                <a:spcAft>
                  <a:spcPts val="0"/>
                </a:spcAft>
                <a:buNone/>
              </a:pPr>
              <a:r>
                <a:rPr lang="en" sz="2600" b="1" strike="noStrike">
                  <a:solidFill>
                    <a:srgbClr val="FF0066"/>
                  </a:solidFill>
                  <a:latin typeface="Comic Sans MS"/>
                  <a:ea typeface="Comic Sans MS"/>
                  <a:cs typeface="Comic Sans MS"/>
                  <a:sym typeface="Comic Sans MS"/>
                </a:rPr>
                <a:t>Art</a:t>
              </a:r>
              <a:endParaRPr sz="2600" b="0" strike="noStrike">
                <a:latin typeface="Arial"/>
                <a:ea typeface="Arial"/>
                <a:cs typeface="Arial"/>
                <a:sym typeface="Arial"/>
              </a:endParaRPr>
            </a:p>
          </p:txBody>
        </p:sp>
        <p:sp>
          <p:nvSpPr>
            <p:cNvPr id="297" name="Google Shape;297;p57"/>
            <p:cNvSpPr/>
            <p:nvPr/>
          </p:nvSpPr>
          <p:spPr>
            <a:xfrm>
              <a:off x="3214800" y="3143160"/>
              <a:ext cx="1077480" cy="502920"/>
            </a:xfrm>
            <a:prstGeom prst="rect">
              <a:avLst/>
            </a:prstGeom>
            <a:noFill/>
            <a:ln>
              <a:noFill/>
            </a:ln>
          </p:spPr>
          <p:txBody>
            <a:bodyPr spcFirstLastPara="1" wrap="square" lIns="19800" tIns="51475" rIns="19800" bIns="51475" anchor="t" anchorCtr="0">
              <a:noAutofit/>
            </a:bodyPr>
            <a:lstStyle/>
            <a:p>
              <a:pPr marL="0" marR="0" lvl="0" indent="0" algn="l" rtl="0">
                <a:lnSpc>
                  <a:spcPct val="85000"/>
                </a:lnSpc>
                <a:spcBef>
                  <a:spcPts val="0"/>
                </a:spcBef>
                <a:spcAft>
                  <a:spcPts val="0"/>
                </a:spcAft>
                <a:buNone/>
              </a:pPr>
              <a:r>
                <a:rPr lang="en" sz="2600" b="1" strike="noStrike">
                  <a:solidFill>
                    <a:srgbClr val="0000FF"/>
                  </a:solidFill>
                  <a:latin typeface="Comic Sans MS"/>
                  <a:ea typeface="Comic Sans MS"/>
                  <a:cs typeface="Comic Sans MS"/>
                  <a:sym typeface="Comic Sans MS"/>
                </a:rPr>
                <a:t>Craft</a:t>
              </a:r>
              <a:endParaRPr sz="2600" b="0" strike="noStrike">
                <a:latin typeface="Arial"/>
                <a:ea typeface="Arial"/>
                <a:cs typeface="Arial"/>
                <a:sym typeface="Arial"/>
              </a:endParaRPr>
            </a:p>
          </p:txBody>
        </p:sp>
        <p:sp>
          <p:nvSpPr>
            <p:cNvPr id="298" name="Google Shape;298;p57"/>
            <p:cNvSpPr/>
            <p:nvPr/>
          </p:nvSpPr>
          <p:spPr>
            <a:xfrm>
              <a:off x="5481720" y="1631880"/>
              <a:ext cx="2080800" cy="501120"/>
            </a:xfrm>
            <a:prstGeom prst="rect">
              <a:avLst/>
            </a:prstGeom>
            <a:noFill/>
            <a:ln>
              <a:noFill/>
            </a:ln>
          </p:spPr>
          <p:txBody>
            <a:bodyPr spcFirstLastPara="1" wrap="square" lIns="19800" tIns="51475" rIns="19800" bIns="51475" anchor="t" anchorCtr="0">
              <a:noAutofit/>
            </a:bodyPr>
            <a:lstStyle/>
            <a:p>
              <a:pPr marL="0" marR="0" lvl="0" indent="0" algn="l" rtl="0">
                <a:lnSpc>
                  <a:spcPct val="85000"/>
                </a:lnSpc>
                <a:spcBef>
                  <a:spcPts val="0"/>
                </a:spcBef>
                <a:spcAft>
                  <a:spcPts val="0"/>
                </a:spcAft>
                <a:buNone/>
              </a:pPr>
              <a:r>
                <a:rPr lang="en" sz="2600" b="1" strike="noStrike">
                  <a:solidFill>
                    <a:srgbClr val="008000"/>
                  </a:solidFill>
                  <a:latin typeface="Comic Sans MS"/>
                  <a:ea typeface="Comic Sans MS"/>
                  <a:cs typeface="Comic Sans MS"/>
                  <a:sym typeface="Comic Sans MS"/>
                </a:rPr>
                <a:t>Engineering</a:t>
              </a:r>
              <a:endParaRPr sz="2600" b="0" strike="noStrike">
                <a:latin typeface="Arial"/>
                <a:ea typeface="Arial"/>
                <a:cs typeface="Arial"/>
                <a:sym typeface="Arial"/>
              </a:endParaRPr>
            </a:p>
          </p:txBody>
        </p:sp>
      </p:grpSp>
      <p:grpSp>
        <p:nvGrpSpPr>
          <p:cNvPr id="299" name="Google Shape;299;p57"/>
          <p:cNvGrpSpPr/>
          <p:nvPr/>
        </p:nvGrpSpPr>
        <p:grpSpPr>
          <a:xfrm>
            <a:off x="5045040" y="2106000"/>
            <a:ext cx="3553920" cy="1202310"/>
            <a:chOff x="5045040" y="2808000"/>
            <a:chExt cx="3553920" cy="1603080"/>
          </a:xfrm>
        </p:grpSpPr>
        <p:sp>
          <p:nvSpPr>
            <p:cNvPr id="300" name="Google Shape;300;p57"/>
            <p:cNvSpPr/>
            <p:nvPr/>
          </p:nvSpPr>
          <p:spPr>
            <a:xfrm>
              <a:off x="5045040" y="3368520"/>
              <a:ext cx="3553920" cy="1042560"/>
            </a:xfrm>
            <a:prstGeom prst="rect">
              <a:avLst/>
            </a:prstGeom>
            <a:noFill/>
            <a:ln>
              <a:noFill/>
            </a:ln>
          </p:spPr>
          <p:txBody>
            <a:bodyPr spcFirstLastPara="1" wrap="square" lIns="19800" tIns="51475" rIns="19800" bIns="51475" anchor="t" anchorCtr="0">
              <a:noAutofit/>
            </a:bodyPr>
            <a:lstStyle/>
            <a:p>
              <a:pPr marL="0" marR="0" lvl="0" indent="0" algn="l" rtl="0">
                <a:lnSpc>
                  <a:spcPct val="85000"/>
                </a:lnSpc>
                <a:spcBef>
                  <a:spcPts val="0"/>
                </a:spcBef>
                <a:spcAft>
                  <a:spcPts val="0"/>
                </a:spcAft>
                <a:buNone/>
              </a:pPr>
              <a:r>
                <a:rPr lang="en" sz="2000" b="1" strike="noStrike">
                  <a:solidFill>
                    <a:srgbClr val="000000"/>
                  </a:solidFill>
                  <a:latin typeface="Times New Roman"/>
                  <a:ea typeface="Times New Roman"/>
                  <a:cs typeface="Times New Roman"/>
                  <a:sym typeface="Times New Roman"/>
                </a:rPr>
                <a:t>Systematic Use of Past</a:t>
              </a:r>
              <a:endParaRPr sz="2000" b="0" strike="noStrike">
                <a:latin typeface="Arial"/>
                <a:ea typeface="Arial"/>
                <a:cs typeface="Arial"/>
                <a:sym typeface="Arial"/>
              </a:endParaRPr>
            </a:p>
            <a:p>
              <a:pPr marL="0" marR="0" lvl="0" indent="0" algn="l" rtl="0">
                <a:lnSpc>
                  <a:spcPct val="85000"/>
                </a:lnSpc>
                <a:spcBef>
                  <a:spcPts val="451"/>
                </a:spcBef>
                <a:spcAft>
                  <a:spcPts val="0"/>
                </a:spcAft>
                <a:buNone/>
              </a:pPr>
              <a:r>
                <a:rPr lang="en" sz="2000" b="1" strike="noStrike">
                  <a:solidFill>
                    <a:srgbClr val="000000"/>
                  </a:solidFill>
                  <a:latin typeface="Times New Roman"/>
                  <a:ea typeface="Times New Roman"/>
                  <a:cs typeface="Times New Roman"/>
                  <a:sym typeface="Times New Roman"/>
                </a:rPr>
                <a:t>Experience and Scientific Basis</a:t>
              </a:r>
              <a:endParaRPr sz="2000" b="0" strike="noStrike">
                <a:latin typeface="Arial"/>
                <a:ea typeface="Arial"/>
                <a:cs typeface="Arial"/>
                <a:sym typeface="Arial"/>
              </a:endParaRPr>
            </a:p>
          </p:txBody>
        </p:sp>
        <p:cxnSp>
          <p:nvCxnSpPr>
            <p:cNvPr id="301" name="Google Shape;301;p57"/>
            <p:cNvCxnSpPr/>
            <p:nvPr/>
          </p:nvCxnSpPr>
          <p:spPr>
            <a:xfrm rot="10800000">
              <a:off x="5397480" y="2808000"/>
              <a:ext cx="655560" cy="671760"/>
            </a:xfrm>
            <a:prstGeom prst="straightConnector1">
              <a:avLst/>
            </a:prstGeom>
            <a:noFill/>
            <a:ln w="28425" cap="flat" cmpd="sng">
              <a:solidFill>
                <a:srgbClr val="000000"/>
              </a:solidFill>
              <a:prstDash val="solid"/>
              <a:round/>
              <a:headEnd type="none" w="sm" len="sm"/>
              <a:tailEnd type="triangle" w="lg" len="lg"/>
            </a:ln>
          </p:spPr>
        </p:cxnSp>
      </p:grpSp>
      <p:grpSp>
        <p:nvGrpSpPr>
          <p:cNvPr id="302" name="Google Shape;302;p57"/>
          <p:cNvGrpSpPr/>
          <p:nvPr/>
        </p:nvGrpSpPr>
        <p:grpSpPr>
          <a:xfrm>
            <a:off x="1308240" y="1650240"/>
            <a:ext cx="1861920" cy="1715580"/>
            <a:chOff x="1308240" y="2200320"/>
            <a:chExt cx="1861920" cy="2287440"/>
          </a:xfrm>
        </p:grpSpPr>
        <p:sp>
          <p:nvSpPr>
            <p:cNvPr id="303" name="Google Shape;303;p57"/>
            <p:cNvSpPr/>
            <p:nvPr/>
          </p:nvSpPr>
          <p:spPr>
            <a:xfrm>
              <a:off x="1308240" y="2200320"/>
              <a:ext cx="1861920" cy="748800"/>
            </a:xfrm>
            <a:prstGeom prst="rect">
              <a:avLst/>
            </a:prstGeom>
            <a:noFill/>
            <a:ln>
              <a:noFill/>
            </a:ln>
          </p:spPr>
          <p:txBody>
            <a:bodyPr spcFirstLastPara="1" wrap="square" lIns="19800" tIns="51475" rIns="19800" bIns="51475" anchor="t" anchorCtr="0">
              <a:noAutofit/>
            </a:bodyPr>
            <a:lstStyle/>
            <a:p>
              <a:pPr marL="0" marR="0" lvl="0" indent="0" algn="l" rtl="0">
                <a:lnSpc>
                  <a:spcPct val="85000"/>
                </a:lnSpc>
                <a:spcBef>
                  <a:spcPts val="0"/>
                </a:spcBef>
                <a:spcAft>
                  <a:spcPts val="0"/>
                </a:spcAft>
                <a:buNone/>
              </a:pPr>
              <a:r>
                <a:rPr lang="en" sz="2000" b="1" strike="noStrike">
                  <a:solidFill>
                    <a:srgbClr val="000000"/>
                  </a:solidFill>
                  <a:latin typeface="Times New Roman"/>
                  <a:ea typeface="Times New Roman"/>
                  <a:cs typeface="Times New Roman"/>
                  <a:sym typeface="Times New Roman"/>
                </a:rPr>
                <a:t>Esoteric Past</a:t>
              </a:r>
              <a:endParaRPr sz="2000" b="0" strike="noStrike">
                <a:latin typeface="Arial"/>
                <a:ea typeface="Arial"/>
                <a:cs typeface="Arial"/>
                <a:sym typeface="Arial"/>
              </a:endParaRPr>
            </a:p>
            <a:p>
              <a:pPr marL="0" marR="0" lvl="0" indent="0" algn="l" rtl="0">
                <a:lnSpc>
                  <a:spcPct val="85000"/>
                </a:lnSpc>
                <a:spcBef>
                  <a:spcPts val="451"/>
                </a:spcBef>
                <a:spcAft>
                  <a:spcPts val="0"/>
                </a:spcAft>
                <a:buNone/>
              </a:pPr>
              <a:r>
                <a:rPr lang="en" sz="2000" b="1" strike="noStrike">
                  <a:solidFill>
                    <a:srgbClr val="000000"/>
                  </a:solidFill>
                  <a:latin typeface="Times New Roman"/>
                  <a:ea typeface="Times New Roman"/>
                  <a:cs typeface="Times New Roman"/>
                  <a:sym typeface="Times New Roman"/>
                </a:rPr>
                <a:t> Experience</a:t>
              </a:r>
              <a:endParaRPr sz="2000" b="0" strike="noStrike">
                <a:latin typeface="Arial"/>
                <a:ea typeface="Arial"/>
                <a:cs typeface="Arial"/>
                <a:sym typeface="Arial"/>
              </a:endParaRPr>
            </a:p>
          </p:txBody>
        </p:sp>
        <p:cxnSp>
          <p:nvCxnSpPr>
            <p:cNvPr id="304" name="Google Shape;304;p57"/>
            <p:cNvCxnSpPr/>
            <p:nvPr/>
          </p:nvCxnSpPr>
          <p:spPr>
            <a:xfrm>
              <a:off x="1809720" y="2814480"/>
              <a:ext cx="379440" cy="1673280"/>
            </a:xfrm>
            <a:prstGeom prst="straightConnector1">
              <a:avLst/>
            </a:prstGeom>
            <a:noFill/>
            <a:ln w="28425" cap="flat" cmpd="sng">
              <a:solidFill>
                <a:srgbClr val="000000"/>
              </a:solidFill>
              <a:prstDash val="solid"/>
              <a:round/>
              <a:headEnd type="none" w="sm" len="sm"/>
              <a:tailEnd type="triangle" w="lg" len="lg"/>
            </a:ln>
          </p:spPr>
        </p:cxnSp>
      </p:grpSp>
      <p:grpSp>
        <p:nvGrpSpPr>
          <p:cNvPr id="305" name="Google Shape;305;p57"/>
          <p:cNvGrpSpPr/>
          <p:nvPr/>
        </p:nvGrpSpPr>
        <p:grpSpPr>
          <a:xfrm>
            <a:off x="6" y="1625720"/>
            <a:ext cx="1281758" cy="1764641"/>
            <a:chOff x="686160" y="2361960"/>
            <a:chExt cx="914040" cy="1982520"/>
          </a:xfrm>
        </p:grpSpPr>
        <p:sp>
          <p:nvSpPr>
            <p:cNvPr id="306" name="Google Shape;306;p57"/>
            <p:cNvSpPr/>
            <p:nvPr/>
          </p:nvSpPr>
          <p:spPr>
            <a:xfrm>
              <a:off x="686160" y="2385720"/>
              <a:ext cx="914040" cy="1958760"/>
            </a:xfrm>
            <a:prstGeom prst="rect">
              <a:avLst/>
            </a:prstGeom>
            <a:noFill/>
            <a:ln>
              <a:noFill/>
            </a:ln>
          </p:spPr>
          <p:txBody>
            <a:bodyPr spcFirstLastPara="1" wrap="square" lIns="51475" tIns="19800" rIns="51475" bIns="19800" anchor="t" anchorCtr="0">
              <a:noAutofit/>
            </a:bodyPr>
            <a:lstStyle/>
            <a:p>
              <a:pPr marL="0" marR="0" lvl="0" indent="0" algn="l" rtl="0">
                <a:lnSpc>
                  <a:spcPct val="85000"/>
                </a:lnSpc>
                <a:spcBef>
                  <a:spcPts val="0"/>
                </a:spcBef>
                <a:spcAft>
                  <a:spcPts val="0"/>
                </a:spcAft>
                <a:buNone/>
              </a:pPr>
              <a:r>
                <a:rPr lang="en" sz="1800" b="1" strike="noStrike">
                  <a:solidFill>
                    <a:srgbClr val="000000"/>
                  </a:solidFill>
                  <a:latin typeface="Times New Roman"/>
                  <a:ea typeface="Times New Roman"/>
                  <a:cs typeface="Times New Roman"/>
                  <a:sym typeface="Times New Roman"/>
                </a:rPr>
                <a:t>Technology</a:t>
              </a:r>
              <a:endParaRPr sz="1800" b="0" strike="noStrike">
                <a:latin typeface="Arial"/>
                <a:ea typeface="Arial"/>
                <a:cs typeface="Arial"/>
                <a:sym typeface="Arial"/>
              </a:endParaRPr>
            </a:p>
          </p:txBody>
        </p:sp>
        <p:cxnSp>
          <p:nvCxnSpPr>
            <p:cNvPr id="307" name="Google Shape;307;p57"/>
            <p:cNvCxnSpPr/>
            <p:nvPr/>
          </p:nvCxnSpPr>
          <p:spPr>
            <a:xfrm rot="10800000">
              <a:off x="838080" y="2361960"/>
              <a:ext cx="0" cy="503280"/>
            </a:xfrm>
            <a:prstGeom prst="straightConnector1">
              <a:avLst/>
            </a:prstGeom>
            <a:noFill/>
            <a:ln w="28425" cap="flat" cmpd="sng">
              <a:solidFill>
                <a:srgbClr val="000000"/>
              </a:solidFill>
              <a:prstDash val="solid"/>
              <a:round/>
              <a:headEnd type="none" w="sm" len="sm"/>
              <a:tailEnd type="triangle" w="lg" len="lg"/>
            </a:ln>
          </p:spPr>
        </p:cxnSp>
      </p:grpSp>
      <p:grpSp>
        <p:nvGrpSpPr>
          <p:cNvPr id="308" name="Google Shape;308;p57"/>
          <p:cNvGrpSpPr/>
          <p:nvPr/>
        </p:nvGrpSpPr>
        <p:grpSpPr>
          <a:xfrm>
            <a:off x="3228840" y="3983850"/>
            <a:ext cx="1742760" cy="302130"/>
            <a:chOff x="3228840" y="5311800"/>
            <a:chExt cx="1742760" cy="402840"/>
          </a:xfrm>
        </p:grpSpPr>
        <p:sp>
          <p:nvSpPr>
            <p:cNvPr id="309" name="Google Shape;309;p57"/>
            <p:cNvSpPr/>
            <p:nvPr/>
          </p:nvSpPr>
          <p:spPr>
            <a:xfrm>
              <a:off x="3228840" y="5311800"/>
              <a:ext cx="1742760" cy="402840"/>
            </a:xfrm>
            <a:prstGeom prst="rect">
              <a:avLst/>
            </a:prstGeom>
            <a:noFill/>
            <a:ln>
              <a:noFill/>
            </a:ln>
          </p:spPr>
          <p:txBody>
            <a:bodyPr spcFirstLastPara="1" wrap="square" lIns="19800" tIns="51475" rIns="19800" bIns="51475" anchor="t" anchorCtr="0">
              <a:noAutofit/>
            </a:bodyPr>
            <a:lstStyle/>
            <a:p>
              <a:pPr marL="0" marR="0" lvl="0" indent="0" algn="l" rtl="0">
                <a:lnSpc>
                  <a:spcPct val="85000"/>
                </a:lnSpc>
                <a:spcBef>
                  <a:spcPts val="0"/>
                </a:spcBef>
                <a:spcAft>
                  <a:spcPts val="0"/>
                </a:spcAft>
                <a:buNone/>
              </a:pPr>
              <a:r>
                <a:rPr lang="en" sz="1800" b="1" strike="noStrike">
                  <a:solidFill>
                    <a:srgbClr val="000000"/>
                  </a:solidFill>
                  <a:latin typeface="Times New Roman"/>
                  <a:ea typeface="Times New Roman"/>
                  <a:cs typeface="Times New Roman"/>
                  <a:sym typeface="Times New Roman"/>
                </a:rPr>
                <a:t>Time</a:t>
              </a:r>
              <a:endParaRPr sz="1800" b="0" strike="noStrike">
                <a:latin typeface="Arial"/>
                <a:ea typeface="Arial"/>
                <a:cs typeface="Arial"/>
                <a:sym typeface="Arial"/>
              </a:endParaRPr>
            </a:p>
          </p:txBody>
        </p:sp>
        <p:cxnSp>
          <p:nvCxnSpPr>
            <p:cNvPr id="310" name="Google Shape;310;p57"/>
            <p:cNvCxnSpPr/>
            <p:nvPr/>
          </p:nvCxnSpPr>
          <p:spPr>
            <a:xfrm>
              <a:off x="4138560" y="5479920"/>
              <a:ext cx="664920" cy="1440"/>
            </a:xfrm>
            <a:prstGeom prst="straightConnector1">
              <a:avLst/>
            </a:prstGeom>
            <a:noFill/>
            <a:ln w="28425" cap="flat" cmpd="sng">
              <a:solidFill>
                <a:srgbClr val="000000"/>
              </a:solidFill>
              <a:prstDash val="solid"/>
              <a:round/>
              <a:headEnd type="none" w="sm" len="sm"/>
              <a:tailEnd type="triangle" w="lg" len="lg"/>
            </a:ln>
          </p:spPr>
        </p:cxnSp>
      </p:grpSp>
      <p:grpSp>
        <p:nvGrpSpPr>
          <p:cNvPr id="311" name="Google Shape;311;p57"/>
          <p:cNvGrpSpPr/>
          <p:nvPr/>
        </p:nvGrpSpPr>
        <p:grpSpPr>
          <a:xfrm>
            <a:off x="2692080" y="2943000"/>
            <a:ext cx="2716200" cy="1114290"/>
            <a:chOff x="2692080" y="3924000"/>
            <a:chExt cx="2716200" cy="1485720"/>
          </a:xfrm>
        </p:grpSpPr>
        <p:sp>
          <p:nvSpPr>
            <p:cNvPr id="312" name="Google Shape;312;p57"/>
            <p:cNvSpPr/>
            <p:nvPr/>
          </p:nvSpPr>
          <p:spPr>
            <a:xfrm>
              <a:off x="2763720" y="4367160"/>
              <a:ext cx="2644560" cy="1042560"/>
            </a:xfrm>
            <a:prstGeom prst="rect">
              <a:avLst/>
            </a:prstGeom>
            <a:noFill/>
            <a:ln>
              <a:noFill/>
            </a:ln>
          </p:spPr>
          <p:txBody>
            <a:bodyPr spcFirstLastPara="1" wrap="square" lIns="19800" tIns="51475" rIns="19800" bIns="51475" anchor="t" anchorCtr="0">
              <a:noAutofit/>
            </a:bodyPr>
            <a:lstStyle/>
            <a:p>
              <a:pPr marL="0" marR="0" lvl="0" indent="0" algn="l" rtl="0">
                <a:lnSpc>
                  <a:spcPct val="85000"/>
                </a:lnSpc>
                <a:spcBef>
                  <a:spcPts val="0"/>
                </a:spcBef>
                <a:spcAft>
                  <a:spcPts val="0"/>
                </a:spcAft>
                <a:buNone/>
              </a:pPr>
              <a:r>
                <a:rPr lang="en" sz="2000" b="1" strike="noStrike">
                  <a:solidFill>
                    <a:srgbClr val="000000"/>
                  </a:solidFill>
                  <a:latin typeface="Times New Roman"/>
                  <a:ea typeface="Times New Roman"/>
                  <a:cs typeface="Times New Roman"/>
                  <a:sym typeface="Times New Roman"/>
                </a:rPr>
                <a:t>Unorganized Use of</a:t>
              </a:r>
              <a:endParaRPr sz="2000" b="0" strike="noStrike">
                <a:latin typeface="Arial"/>
                <a:ea typeface="Arial"/>
                <a:cs typeface="Arial"/>
                <a:sym typeface="Arial"/>
              </a:endParaRPr>
            </a:p>
            <a:p>
              <a:pPr marL="0" marR="0" lvl="0" indent="0" algn="l" rtl="0">
                <a:lnSpc>
                  <a:spcPct val="85000"/>
                </a:lnSpc>
                <a:spcBef>
                  <a:spcPts val="451"/>
                </a:spcBef>
                <a:spcAft>
                  <a:spcPts val="0"/>
                </a:spcAft>
                <a:buNone/>
              </a:pPr>
              <a:r>
                <a:rPr lang="en" sz="2000" b="1" strike="noStrike">
                  <a:solidFill>
                    <a:srgbClr val="000000"/>
                  </a:solidFill>
                  <a:latin typeface="Times New Roman"/>
                  <a:ea typeface="Times New Roman"/>
                  <a:cs typeface="Times New Roman"/>
                  <a:sym typeface="Times New Roman"/>
                </a:rPr>
                <a:t> Past Experience</a:t>
              </a:r>
              <a:endParaRPr sz="2000" b="0" strike="noStrike">
                <a:latin typeface="Arial"/>
                <a:ea typeface="Arial"/>
                <a:cs typeface="Arial"/>
                <a:sym typeface="Arial"/>
              </a:endParaRPr>
            </a:p>
          </p:txBody>
        </p:sp>
        <p:cxnSp>
          <p:nvCxnSpPr>
            <p:cNvPr id="313" name="Google Shape;313;p57"/>
            <p:cNvCxnSpPr/>
            <p:nvPr/>
          </p:nvCxnSpPr>
          <p:spPr>
            <a:xfrm rot="10800000">
              <a:off x="2692080" y="3924000"/>
              <a:ext cx="744840" cy="476280"/>
            </a:xfrm>
            <a:prstGeom prst="straightConnector1">
              <a:avLst/>
            </a:prstGeom>
            <a:noFill/>
            <a:ln w="28425" cap="flat" cmpd="sng">
              <a:solidFill>
                <a:srgbClr val="000000"/>
              </a:solidFill>
              <a:prstDash val="solid"/>
              <a:round/>
              <a:headEnd type="none" w="sm" len="sm"/>
              <a:tailEnd type="triangle" w="lg" len="lg"/>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2"/>
                                        </p:tgtEl>
                                        <p:attrNameLst>
                                          <p:attrName>style.visibility</p:attrName>
                                        </p:attrNameLst>
                                      </p:cBhvr>
                                      <p:to>
                                        <p:strVal val="visible"/>
                                      </p:to>
                                    </p:set>
                                    <p:animEffect transition="in" filter="fade">
                                      <p:cBhvr>
                                        <p:cTn id="7" dur="500"/>
                                        <p:tgtEl>
                                          <p:spTgt spid="29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93"/>
                                        </p:tgtEl>
                                        <p:attrNameLst>
                                          <p:attrName>style.visibility</p:attrName>
                                        </p:attrNameLst>
                                      </p:cBhvr>
                                      <p:to>
                                        <p:strVal val="visible"/>
                                      </p:to>
                                    </p:set>
                                    <p:animEffect transition="in" filter="fade">
                                      <p:cBhvr>
                                        <p:cTn id="11" dur="500"/>
                                        <p:tgtEl>
                                          <p:spTgt spid="29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05"/>
                                        </p:tgtEl>
                                        <p:attrNameLst>
                                          <p:attrName>style.visibility</p:attrName>
                                        </p:attrNameLst>
                                      </p:cBhvr>
                                      <p:to>
                                        <p:strVal val="visible"/>
                                      </p:to>
                                    </p:set>
                                    <p:animEffect transition="in" filter="fade">
                                      <p:cBhvr>
                                        <p:cTn id="16" dur="500"/>
                                        <p:tgtEl>
                                          <p:spTgt spid="30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08"/>
                                        </p:tgtEl>
                                        <p:attrNameLst>
                                          <p:attrName>style.visibility</p:attrName>
                                        </p:attrNameLst>
                                      </p:cBhvr>
                                      <p:to>
                                        <p:strVal val="visible"/>
                                      </p:to>
                                    </p:set>
                                    <p:animEffect transition="in" filter="fade">
                                      <p:cBhvr>
                                        <p:cTn id="21" dur="500"/>
                                        <p:tgtEl>
                                          <p:spTgt spid="30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94"/>
                                        </p:tgtEl>
                                        <p:attrNameLst>
                                          <p:attrName>style.visibility</p:attrName>
                                        </p:attrNameLst>
                                      </p:cBhvr>
                                      <p:to>
                                        <p:strVal val="visible"/>
                                      </p:to>
                                    </p:set>
                                    <p:animEffect transition="in" filter="fade">
                                      <p:cBhvr>
                                        <p:cTn id="26" dur="2000"/>
                                        <p:tgtEl>
                                          <p:spTgt spid="29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5"/>
                                        </p:tgtEl>
                                        <p:attrNameLst>
                                          <p:attrName>style.visibility</p:attrName>
                                        </p:attrNameLst>
                                      </p:cBhvr>
                                      <p:to>
                                        <p:strVal val="visible"/>
                                      </p:to>
                                    </p:set>
                                    <p:animEffect transition="in" filter="fade">
                                      <p:cBhvr>
                                        <p:cTn id="31" dur="3000"/>
                                        <p:tgtEl>
                                          <p:spTgt spid="29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02"/>
                                        </p:tgtEl>
                                        <p:attrNameLst>
                                          <p:attrName>style.visibility</p:attrName>
                                        </p:attrNameLst>
                                      </p:cBhvr>
                                      <p:to>
                                        <p:strVal val="visible"/>
                                      </p:to>
                                    </p:set>
                                    <p:animEffect transition="in" filter="fade">
                                      <p:cBhvr>
                                        <p:cTn id="36" dur="500"/>
                                        <p:tgtEl>
                                          <p:spTgt spid="30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11"/>
                                        </p:tgtEl>
                                        <p:attrNameLst>
                                          <p:attrName>style.visibility</p:attrName>
                                        </p:attrNameLst>
                                      </p:cBhvr>
                                      <p:to>
                                        <p:strVal val="visible"/>
                                      </p:to>
                                    </p:set>
                                    <p:animEffect transition="in" filter="fade">
                                      <p:cBhvr>
                                        <p:cTn id="41" dur="500"/>
                                        <p:tgtEl>
                                          <p:spTgt spid="31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99"/>
                                        </p:tgtEl>
                                        <p:attrNameLst>
                                          <p:attrName>style.visibility</p:attrName>
                                        </p:attrNameLst>
                                      </p:cBhvr>
                                      <p:to>
                                        <p:strVal val="visible"/>
                                      </p:to>
                                    </p:set>
                                    <p:animEffect transition="in" filter="fade">
                                      <p:cBhvr>
                                        <p:cTn id="46" dur="500"/>
                                        <p:tgtEl>
                                          <p:spTgt spid="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58"/>
          <p:cNvSpPr txBox="1"/>
          <p:nvPr/>
        </p:nvSpPr>
        <p:spPr>
          <a:xfrm>
            <a:off x="457200" y="114210"/>
            <a:ext cx="8229240" cy="593730"/>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00000"/>
              </a:lnSpc>
              <a:spcBef>
                <a:spcPts val="0"/>
              </a:spcBef>
              <a:spcAft>
                <a:spcPts val="0"/>
              </a:spcAft>
              <a:buNone/>
            </a:pPr>
            <a:r>
              <a:rPr lang="en" sz="3600" strike="noStrike">
                <a:solidFill>
                  <a:srgbClr val="0070C0"/>
                </a:solidFill>
                <a:latin typeface="Times New Roman"/>
                <a:ea typeface="Times New Roman"/>
                <a:cs typeface="Times New Roman"/>
                <a:sym typeface="Times New Roman"/>
              </a:rPr>
              <a:t>Types of Software - I </a:t>
            </a:r>
            <a:endParaRPr sz="3600" strike="noStrike">
              <a:solidFill>
                <a:srgbClr val="000000"/>
              </a:solidFill>
              <a:latin typeface="Times New Roman"/>
              <a:ea typeface="Times New Roman"/>
              <a:cs typeface="Times New Roman"/>
              <a:sym typeface="Times New Roman"/>
            </a:endParaRPr>
          </a:p>
        </p:txBody>
      </p:sp>
      <p:sp>
        <p:nvSpPr>
          <p:cNvPr id="319" name="Google Shape;319;p58"/>
          <p:cNvSpPr txBox="1"/>
          <p:nvPr/>
        </p:nvSpPr>
        <p:spPr>
          <a:xfrm>
            <a:off x="228600" y="685800"/>
            <a:ext cx="8686440" cy="3908520"/>
          </a:xfrm>
          <a:prstGeom prst="rect">
            <a:avLst/>
          </a:prstGeom>
          <a:noFill/>
          <a:ln>
            <a:noFill/>
          </a:ln>
        </p:spPr>
        <p:txBody>
          <a:bodyPr spcFirstLastPara="1" wrap="square" lIns="91425" tIns="45700" rIns="91425" bIns="45700" anchor="t" anchorCtr="0">
            <a:noAutofit/>
          </a:bodyPr>
          <a:lstStyle/>
          <a:p>
            <a:pPr marL="343080" marR="0" lvl="0" indent="-323670" algn="l" rtl="0">
              <a:lnSpc>
                <a:spcPct val="100000"/>
              </a:lnSpc>
              <a:spcBef>
                <a:spcPts val="0"/>
              </a:spcBef>
              <a:spcAft>
                <a:spcPts val="0"/>
              </a:spcAft>
              <a:buClr>
                <a:srgbClr val="003300"/>
              </a:buClr>
              <a:buSzPts val="2500"/>
              <a:buFont typeface="Times New Roman"/>
              <a:buChar char="•"/>
            </a:pPr>
            <a:r>
              <a:rPr lang="en" sz="2500" strike="noStrike">
                <a:solidFill>
                  <a:srgbClr val="003300"/>
                </a:solidFill>
                <a:latin typeface="Times New Roman"/>
                <a:ea typeface="Times New Roman"/>
                <a:cs typeface="Times New Roman"/>
                <a:sym typeface="Times New Roman"/>
              </a:rPr>
              <a:t>Customized</a:t>
            </a:r>
            <a:endParaRPr sz="2500" strike="noStrike">
              <a:solidFill>
                <a:srgbClr val="003300"/>
              </a:solidFill>
              <a:latin typeface="Times New Roman"/>
              <a:ea typeface="Times New Roman"/>
              <a:cs typeface="Times New Roman"/>
              <a:sym typeface="Times New Roman"/>
            </a:endParaRPr>
          </a:p>
          <a:p>
            <a:pPr marL="743040" marR="0" lvl="1" indent="-266430" algn="l" rtl="0">
              <a:lnSpc>
                <a:spcPct val="100000"/>
              </a:lnSpc>
              <a:spcBef>
                <a:spcPts val="479"/>
              </a:spcBef>
              <a:spcAft>
                <a:spcPts val="0"/>
              </a:spcAft>
              <a:buClr>
                <a:srgbClr val="7030A0"/>
              </a:buClr>
              <a:buSzPts val="2100"/>
              <a:buFont typeface="Times New Roman"/>
              <a:buChar char="–"/>
            </a:pPr>
            <a:r>
              <a:rPr lang="en" sz="2100" i="0" u="none" strike="noStrike" cap="none">
                <a:solidFill>
                  <a:srgbClr val="7030A0"/>
                </a:solidFill>
                <a:latin typeface="Times New Roman"/>
                <a:ea typeface="Times New Roman"/>
                <a:cs typeface="Times New Roman"/>
                <a:sym typeface="Times New Roman"/>
              </a:rPr>
              <a:t>For a specific customer according to requirement.</a:t>
            </a:r>
            <a:endParaRPr sz="2100" i="0" u="none" strike="noStrike" cap="none">
              <a:solidFill>
                <a:srgbClr val="E46C0A"/>
              </a:solidFill>
              <a:latin typeface="Times New Roman"/>
              <a:ea typeface="Times New Roman"/>
              <a:cs typeface="Times New Roman"/>
              <a:sym typeface="Times New Roman"/>
            </a:endParaRPr>
          </a:p>
          <a:p>
            <a:pPr marL="343080" marR="0" lvl="0" indent="-323670" algn="l" rtl="0">
              <a:lnSpc>
                <a:spcPct val="100000"/>
              </a:lnSpc>
              <a:spcBef>
                <a:spcPts val="561"/>
              </a:spcBef>
              <a:spcAft>
                <a:spcPts val="0"/>
              </a:spcAft>
              <a:buClr>
                <a:srgbClr val="003300"/>
              </a:buClr>
              <a:buSzPts val="2500"/>
              <a:buFont typeface="Times New Roman"/>
              <a:buChar char="•"/>
            </a:pPr>
            <a:r>
              <a:rPr lang="en" sz="2500" strike="noStrike">
                <a:solidFill>
                  <a:srgbClr val="003300"/>
                </a:solidFill>
                <a:latin typeface="Times New Roman"/>
                <a:ea typeface="Times New Roman"/>
                <a:cs typeface="Times New Roman"/>
                <a:sym typeface="Times New Roman"/>
              </a:rPr>
              <a:t>Generic</a:t>
            </a:r>
            <a:endParaRPr sz="2500" strike="noStrike">
              <a:solidFill>
                <a:srgbClr val="003300"/>
              </a:solidFill>
              <a:latin typeface="Times New Roman"/>
              <a:ea typeface="Times New Roman"/>
              <a:cs typeface="Times New Roman"/>
              <a:sym typeface="Times New Roman"/>
            </a:endParaRPr>
          </a:p>
          <a:p>
            <a:pPr marL="743040" marR="0" lvl="1" indent="-266430" algn="l" rtl="0">
              <a:lnSpc>
                <a:spcPct val="100000"/>
              </a:lnSpc>
              <a:spcBef>
                <a:spcPts val="479"/>
              </a:spcBef>
              <a:spcAft>
                <a:spcPts val="0"/>
              </a:spcAft>
              <a:buClr>
                <a:srgbClr val="7030A0"/>
              </a:buClr>
              <a:buSzPts val="2100"/>
              <a:buFont typeface="Times New Roman"/>
              <a:buChar char="–"/>
            </a:pPr>
            <a:r>
              <a:rPr lang="en" sz="2100" i="0" u="none" strike="noStrike" cap="none">
                <a:solidFill>
                  <a:srgbClr val="7030A0"/>
                </a:solidFill>
                <a:latin typeface="Times New Roman"/>
                <a:ea typeface="Times New Roman"/>
                <a:cs typeface="Times New Roman"/>
                <a:sym typeface="Times New Roman"/>
              </a:rPr>
              <a:t>Used by a diverse range of customers</a:t>
            </a:r>
            <a:endParaRPr sz="2100" i="0" u="none" strike="noStrike" cap="none">
              <a:solidFill>
                <a:srgbClr val="E46C0A"/>
              </a:solidFill>
              <a:latin typeface="Times New Roman"/>
              <a:ea typeface="Times New Roman"/>
              <a:cs typeface="Times New Roman"/>
              <a:sym typeface="Times New Roman"/>
            </a:endParaRPr>
          </a:p>
          <a:p>
            <a:pPr marL="743040" marR="0" lvl="1" indent="-266430" algn="l" rtl="0">
              <a:lnSpc>
                <a:spcPct val="100000"/>
              </a:lnSpc>
              <a:spcBef>
                <a:spcPts val="479"/>
              </a:spcBef>
              <a:spcAft>
                <a:spcPts val="0"/>
              </a:spcAft>
              <a:buClr>
                <a:srgbClr val="7030A0"/>
              </a:buClr>
              <a:buSzPts val="2100"/>
              <a:buFont typeface="Times New Roman"/>
              <a:buChar char="–"/>
            </a:pPr>
            <a:r>
              <a:rPr lang="en" sz="2100" i="0" u="none" strike="noStrike" cap="none">
                <a:solidFill>
                  <a:srgbClr val="7030A0"/>
                </a:solidFill>
                <a:latin typeface="Times New Roman"/>
                <a:ea typeface="Times New Roman"/>
                <a:cs typeface="Times New Roman"/>
                <a:sym typeface="Times New Roman"/>
              </a:rPr>
              <a:t>Sold on open market (Ms. Windows, Oracle, …)</a:t>
            </a:r>
            <a:endParaRPr sz="2100" i="0" u="none" strike="noStrike" cap="none">
              <a:solidFill>
                <a:srgbClr val="E46C0A"/>
              </a:solidFill>
              <a:latin typeface="Times New Roman"/>
              <a:ea typeface="Times New Roman"/>
              <a:cs typeface="Times New Roman"/>
              <a:sym typeface="Times New Roman"/>
            </a:endParaRPr>
          </a:p>
          <a:p>
            <a:pPr marL="743040" marR="0" lvl="1" indent="-266430" algn="l" rtl="0">
              <a:lnSpc>
                <a:spcPct val="100000"/>
              </a:lnSpc>
              <a:spcBef>
                <a:spcPts val="479"/>
              </a:spcBef>
              <a:spcAft>
                <a:spcPts val="0"/>
              </a:spcAft>
              <a:buClr>
                <a:srgbClr val="7030A0"/>
              </a:buClr>
              <a:buSzPts val="2100"/>
              <a:buFont typeface="Times New Roman"/>
              <a:buChar char="–"/>
            </a:pPr>
            <a:r>
              <a:rPr lang="en" sz="2100" i="0" u="none" strike="noStrike" cap="none">
                <a:solidFill>
                  <a:srgbClr val="7030A0"/>
                </a:solidFill>
                <a:latin typeface="Times New Roman"/>
                <a:ea typeface="Times New Roman"/>
                <a:cs typeface="Times New Roman"/>
                <a:sym typeface="Times New Roman"/>
              </a:rPr>
              <a:t>Often called</a:t>
            </a:r>
            <a:endParaRPr sz="2100" i="0" u="none" strike="noStrike" cap="none">
              <a:solidFill>
                <a:srgbClr val="E46C0A"/>
              </a:solidFill>
              <a:latin typeface="Times New Roman"/>
              <a:ea typeface="Times New Roman"/>
              <a:cs typeface="Times New Roman"/>
              <a:sym typeface="Times New Roman"/>
            </a:endParaRPr>
          </a:p>
          <a:p>
            <a:pPr marL="1143000" marR="0" lvl="2" indent="-209190" algn="l" rtl="0">
              <a:lnSpc>
                <a:spcPct val="100000"/>
              </a:lnSpc>
              <a:spcBef>
                <a:spcPts val="400"/>
              </a:spcBef>
              <a:spcAft>
                <a:spcPts val="0"/>
              </a:spcAft>
              <a:buClr>
                <a:srgbClr val="E46C0A"/>
              </a:buClr>
              <a:buSzPts val="1700"/>
              <a:buFont typeface="Times New Roman"/>
              <a:buChar char="•"/>
            </a:pPr>
            <a:r>
              <a:rPr lang="en" sz="1700" i="0" u="none" strike="noStrike" cap="none">
                <a:solidFill>
                  <a:srgbClr val="E46C0A"/>
                </a:solidFill>
                <a:latin typeface="Times New Roman"/>
                <a:ea typeface="Times New Roman"/>
                <a:cs typeface="Times New Roman"/>
                <a:sym typeface="Times New Roman"/>
              </a:rPr>
              <a:t>COTS (Commercial Off The Shelf)</a:t>
            </a:r>
            <a:endParaRPr sz="1700" i="0" u="none" strike="noStrike" cap="none">
              <a:solidFill>
                <a:srgbClr val="000000"/>
              </a:solidFill>
              <a:latin typeface="Times New Roman"/>
              <a:ea typeface="Times New Roman"/>
              <a:cs typeface="Times New Roman"/>
              <a:sym typeface="Times New Roman"/>
            </a:endParaRPr>
          </a:p>
          <a:p>
            <a:pPr marL="1143000" marR="0" lvl="2" indent="-209190" algn="l" rtl="0">
              <a:lnSpc>
                <a:spcPct val="100000"/>
              </a:lnSpc>
              <a:spcBef>
                <a:spcPts val="400"/>
              </a:spcBef>
              <a:spcAft>
                <a:spcPts val="0"/>
              </a:spcAft>
              <a:buClr>
                <a:srgbClr val="E46C0A"/>
              </a:buClr>
              <a:buSzPts val="1700"/>
              <a:buFont typeface="Times New Roman"/>
              <a:buChar char="•"/>
            </a:pPr>
            <a:r>
              <a:rPr lang="en" sz="1700" i="0" u="none" strike="noStrike" cap="none">
                <a:solidFill>
                  <a:srgbClr val="E46C0A"/>
                </a:solidFill>
                <a:latin typeface="Times New Roman"/>
                <a:ea typeface="Times New Roman"/>
                <a:cs typeface="Times New Roman"/>
                <a:sym typeface="Times New Roman"/>
              </a:rPr>
              <a:t>Shrink-wrapped</a:t>
            </a:r>
            <a:endParaRPr sz="1700" i="0" u="none" strike="noStrike" cap="none">
              <a:solidFill>
                <a:srgbClr val="000000"/>
              </a:solidFill>
              <a:latin typeface="Times New Roman"/>
              <a:ea typeface="Times New Roman"/>
              <a:cs typeface="Times New Roman"/>
              <a:sym typeface="Times New Roman"/>
            </a:endParaRPr>
          </a:p>
          <a:p>
            <a:pPr marL="343080" marR="0" lvl="0" indent="-323670" algn="l" rtl="0">
              <a:lnSpc>
                <a:spcPct val="100000"/>
              </a:lnSpc>
              <a:spcBef>
                <a:spcPts val="561"/>
              </a:spcBef>
              <a:spcAft>
                <a:spcPts val="0"/>
              </a:spcAft>
              <a:buClr>
                <a:srgbClr val="003300"/>
              </a:buClr>
              <a:buSzPts val="2500"/>
              <a:buFont typeface="Times New Roman"/>
              <a:buChar char="•"/>
            </a:pPr>
            <a:r>
              <a:rPr lang="en" sz="2500" strike="noStrike">
                <a:solidFill>
                  <a:srgbClr val="003300"/>
                </a:solidFill>
                <a:latin typeface="Times New Roman"/>
                <a:ea typeface="Times New Roman"/>
                <a:cs typeface="Times New Roman"/>
                <a:sym typeface="Times New Roman"/>
              </a:rPr>
              <a:t>Embedded</a:t>
            </a:r>
            <a:endParaRPr sz="2500" strike="noStrike">
              <a:solidFill>
                <a:srgbClr val="003300"/>
              </a:solidFill>
              <a:latin typeface="Times New Roman"/>
              <a:ea typeface="Times New Roman"/>
              <a:cs typeface="Times New Roman"/>
              <a:sym typeface="Times New Roman"/>
            </a:endParaRPr>
          </a:p>
          <a:p>
            <a:pPr marL="743040" marR="0" lvl="1" indent="-266430" algn="l" rtl="0">
              <a:lnSpc>
                <a:spcPct val="100000"/>
              </a:lnSpc>
              <a:spcBef>
                <a:spcPts val="479"/>
              </a:spcBef>
              <a:spcAft>
                <a:spcPts val="0"/>
              </a:spcAft>
              <a:buClr>
                <a:srgbClr val="7030A0"/>
              </a:buClr>
              <a:buSzPts val="2100"/>
              <a:buFont typeface="Times New Roman"/>
              <a:buChar char="–"/>
            </a:pPr>
            <a:r>
              <a:rPr lang="en" sz="2100" i="0" u="none" strike="noStrike" cap="none">
                <a:solidFill>
                  <a:srgbClr val="7030A0"/>
                </a:solidFill>
                <a:latin typeface="Times New Roman"/>
                <a:ea typeface="Times New Roman"/>
                <a:cs typeface="Times New Roman"/>
                <a:sym typeface="Times New Roman"/>
              </a:rPr>
              <a:t>Built into hardware</a:t>
            </a:r>
            <a:endParaRPr sz="2100" i="0" u="none" strike="noStrike" cap="none">
              <a:solidFill>
                <a:srgbClr val="E46C0A"/>
              </a:solidFill>
              <a:latin typeface="Times New Roman"/>
              <a:ea typeface="Times New Roman"/>
              <a:cs typeface="Times New Roman"/>
              <a:sym typeface="Times New Roman"/>
            </a:endParaRPr>
          </a:p>
          <a:p>
            <a:pPr marL="743040" marR="0" lvl="1" indent="-266430" algn="l" rtl="0">
              <a:lnSpc>
                <a:spcPct val="100000"/>
              </a:lnSpc>
              <a:spcBef>
                <a:spcPts val="479"/>
              </a:spcBef>
              <a:spcAft>
                <a:spcPts val="0"/>
              </a:spcAft>
              <a:buClr>
                <a:srgbClr val="7030A0"/>
              </a:buClr>
              <a:buSzPts val="2100"/>
              <a:buFont typeface="Times New Roman"/>
              <a:buChar char="–"/>
            </a:pPr>
            <a:r>
              <a:rPr lang="en" sz="2100" i="0" u="none" strike="noStrike" cap="none">
                <a:solidFill>
                  <a:srgbClr val="7030A0"/>
                </a:solidFill>
                <a:latin typeface="Times New Roman"/>
                <a:ea typeface="Times New Roman"/>
                <a:cs typeface="Times New Roman"/>
                <a:sym typeface="Times New Roman"/>
              </a:rPr>
              <a:t>Hard to change</a:t>
            </a:r>
            <a:endParaRPr sz="2100" i="0" u="none" strike="noStrike" cap="none">
              <a:solidFill>
                <a:srgbClr val="E46C0A"/>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59"/>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b="0" strike="noStrike">
                <a:solidFill>
                  <a:srgbClr val="0070C0"/>
                </a:solidFill>
                <a:latin typeface="Comic Sans MS"/>
                <a:ea typeface="Comic Sans MS"/>
                <a:cs typeface="Comic Sans MS"/>
                <a:sym typeface="Comic Sans MS"/>
              </a:rPr>
              <a:t>Types of Software - II</a:t>
            </a:r>
            <a:endParaRPr sz="3600" b="0" strike="noStrike">
              <a:solidFill>
                <a:srgbClr val="000000"/>
              </a:solidFill>
              <a:latin typeface="Calibri"/>
              <a:ea typeface="Calibri"/>
              <a:cs typeface="Calibri"/>
              <a:sym typeface="Calibri"/>
            </a:endParaRPr>
          </a:p>
        </p:txBody>
      </p:sp>
      <p:sp>
        <p:nvSpPr>
          <p:cNvPr id="325" name="Google Shape;325;p59"/>
          <p:cNvSpPr txBox="1"/>
          <p:nvPr/>
        </p:nvSpPr>
        <p:spPr>
          <a:xfrm>
            <a:off x="228600" y="685800"/>
            <a:ext cx="8686440" cy="3908520"/>
          </a:xfrm>
          <a:prstGeom prst="rect">
            <a:avLst/>
          </a:prstGeom>
          <a:noFill/>
          <a:ln>
            <a:noFill/>
          </a:ln>
        </p:spPr>
        <p:txBody>
          <a:bodyPr spcFirstLastPara="1" wrap="square" lIns="91425" tIns="45700" rIns="91425" bIns="45700" anchor="t" anchorCtr="0">
            <a:noAutofit/>
          </a:bodyPr>
          <a:lstStyle/>
          <a:p>
            <a:pPr marL="343080" marR="0" lvl="0" indent="-349070" algn="l" rtl="0">
              <a:lnSpc>
                <a:spcPct val="100000"/>
              </a:lnSpc>
              <a:spcBef>
                <a:spcPts val="0"/>
              </a:spcBef>
              <a:spcAft>
                <a:spcPts val="0"/>
              </a:spcAft>
              <a:buClr>
                <a:srgbClr val="003300"/>
              </a:buClr>
              <a:buSzPts val="2900"/>
              <a:buFont typeface="Arial"/>
              <a:buChar char="•"/>
            </a:pPr>
            <a:r>
              <a:rPr lang="en" sz="2900" b="0" strike="noStrike">
                <a:solidFill>
                  <a:srgbClr val="003300"/>
                </a:solidFill>
                <a:latin typeface="Candara"/>
                <a:ea typeface="Candara"/>
                <a:cs typeface="Candara"/>
                <a:sym typeface="Candara"/>
              </a:rPr>
              <a:t>Real time software</a:t>
            </a:r>
            <a:endParaRPr sz="2900" b="0" strike="noStrike">
              <a:solidFill>
                <a:srgbClr val="003300"/>
              </a:solidFill>
              <a:latin typeface="Candara"/>
              <a:ea typeface="Candara"/>
              <a:cs typeface="Candara"/>
              <a:sym typeface="Candara"/>
            </a:endParaRPr>
          </a:p>
          <a:p>
            <a:pPr marL="743040" marR="0" lvl="1" indent="-291830" algn="l" rtl="0">
              <a:lnSpc>
                <a:spcPct val="100000"/>
              </a:lnSpc>
              <a:spcBef>
                <a:spcPts val="479"/>
              </a:spcBef>
              <a:spcAft>
                <a:spcPts val="0"/>
              </a:spcAft>
              <a:buClr>
                <a:srgbClr val="7030A0"/>
              </a:buClr>
              <a:buSzPts val="2500"/>
              <a:buFont typeface="Arial"/>
              <a:buChar char="–"/>
            </a:pPr>
            <a:r>
              <a:rPr lang="en" sz="2500" b="0" i="0" u="none" strike="noStrike" cap="none">
                <a:solidFill>
                  <a:srgbClr val="7030A0"/>
                </a:solidFill>
                <a:latin typeface="Century Gothic"/>
                <a:ea typeface="Century Gothic"/>
                <a:cs typeface="Century Gothic"/>
                <a:sym typeface="Century Gothic"/>
              </a:rPr>
              <a:t>E.g. control and monitoring systems</a:t>
            </a:r>
            <a:endParaRPr sz="2500" b="0" i="0" u="none" strike="noStrike" cap="none">
              <a:solidFill>
                <a:srgbClr val="E46C0A"/>
              </a:solidFill>
              <a:latin typeface="Arial"/>
              <a:ea typeface="Arial"/>
              <a:cs typeface="Arial"/>
              <a:sym typeface="Arial"/>
            </a:endParaRPr>
          </a:p>
          <a:p>
            <a:pPr marL="743040" marR="0" lvl="1" indent="-291830" algn="l" rtl="0">
              <a:lnSpc>
                <a:spcPct val="100000"/>
              </a:lnSpc>
              <a:spcBef>
                <a:spcPts val="479"/>
              </a:spcBef>
              <a:spcAft>
                <a:spcPts val="0"/>
              </a:spcAft>
              <a:buClr>
                <a:srgbClr val="7030A0"/>
              </a:buClr>
              <a:buSzPts val="2500"/>
              <a:buFont typeface="Arial"/>
              <a:buChar char="–"/>
            </a:pPr>
            <a:r>
              <a:rPr lang="en" sz="2500" b="0" i="0" u="none" strike="noStrike" cap="none">
                <a:solidFill>
                  <a:srgbClr val="7030A0"/>
                </a:solidFill>
                <a:latin typeface="Century Gothic"/>
                <a:ea typeface="Century Gothic"/>
                <a:cs typeface="Century Gothic"/>
                <a:sym typeface="Century Gothic"/>
              </a:rPr>
              <a:t>Must react in time</a:t>
            </a:r>
            <a:endParaRPr sz="2500" b="0" i="0" u="none" strike="noStrike" cap="none">
              <a:solidFill>
                <a:srgbClr val="E46C0A"/>
              </a:solidFill>
              <a:latin typeface="Arial"/>
              <a:ea typeface="Arial"/>
              <a:cs typeface="Arial"/>
              <a:sym typeface="Arial"/>
            </a:endParaRPr>
          </a:p>
          <a:p>
            <a:pPr marL="743040" marR="0" lvl="1" indent="-291830" algn="l" rtl="0">
              <a:lnSpc>
                <a:spcPct val="100000"/>
              </a:lnSpc>
              <a:spcBef>
                <a:spcPts val="479"/>
              </a:spcBef>
              <a:spcAft>
                <a:spcPts val="0"/>
              </a:spcAft>
              <a:buClr>
                <a:srgbClr val="7030A0"/>
              </a:buClr>
              <a:buSzPts val="2500"/>
              <a:buFont typeface="Arial"/>
              <a:buChar char="–"/>
            </a:pPr>
            <a:r>
              <a:rPr lang="en" sz="2500" b="0" i="0" u="none" strike="noStrike" cap="none">
                <a:solidFill>
                  <a:srgbClr val="7030A0"/>
                </a:solidFill>
                <a:latin typeface="Century Gothic"/>
                <a:ea typeface="Century Gothic"/>
                <a:cs typeface="Century Gothic"/>
                <a:sym typeface="Century Gothic"/>
              </a:rPr>
              <a:t>Safety often a concern</a:t>
            </a:r>
            <a:endParaRPr sz="2500" b="0" i="0" u="none" strike="noStrike" cap="none">
              <a:solidFill>
                <a:srgbClr val="E46C0A"/>
              </a:solidFill>
              <a:latin typeface="Arial"/>
              <a:ea typeface="Arial"/>
              <a:cs typeface="Arial"/>
              <a:sym typeface="Arial"/>
            </a:endParaRPr>
          </a:p>
          <a:p>
            <a:pPr marL="343080" marR="0" lvl="0" indent="-349070" algn="l" rtl="0">
              <a:lnSpc>
                <a:spcPct val="100000"/>
              </a:lnSpc>
              <a:spcBef>
                <a:spcPts val="561"/>
              </a:spcBef>
              <a:spcAft>
                <a:spcPts val="0"/>
              </a:spcAft>
              <a:buClr>
                <a:srgbClr val="003300"/>
              </a:buClr>
              <a:buSzPts val="2900"/>
              <a:buFont typeface="Arial"/>
              <a:buChar char="•"/>
            </a:pPr>
            <a:r>
              <a:rPr lang="en" sz="2900" b="0" strike="noStrike">
                <a:solidFill>
                  <a:srgbClr val="003300"/>
                </a:solidFill>
                <a:latin typeface="Candara"/>
                <a:ea typeface="Candara"/>
                <a:cs typeface="Candara"/>
                <a:sym typeface="Candara"/>
              </a:rPr>
              <a:t>Data processing software</a:t>
            </a:r>
            <a:endParaRPr sz="2900" b="0" strike="noStrike">
              <a:solidFill>
                <a:srgbClr val="003300"/>
              </a:solidFill>
              <a:latin typeface="Candara"/>
              <a:ea typeface="Candara"/>
              <a:cs typeface="Candara"/>
              <a:sym typeface="Candara"/>
            </a:endParaRPr>
          </a:p>
          <a:p>
            <a:pPr marL="743040" marR="0" lvl="1" indent="-291830" algn="l" rtl="0">
              <a:lnSpc>
                <a:spcPct val="100000"/>
              </a:lnSpc>
              <a:spcBef>
                <a:spcPts val="479"/>
              </a:spcBef>
              <a:spcAft>
                <a:spcPts val="0"/>
              </a:spcAft>
              <a:buClr>
                <a:srgbClr val="7030A0"/>
              </a:buClr>
              <a:buSzPts val="2500"/>
              <a:buFont typeface="Arial"/>
              <a:buChar char="–"/>
            </a:pPr>
            <a:r>
              <a:rPr lang="en" sz="2500" b="0" i="0" u="none" strike="noStrike" cap="none">
                <a:solidFill>
                  <a:srgbClr val="7030A0"/>
                </a:solidFill>
                <a:latin typeface="Century Gothic"/>
                <a:ea typeface="Century Gothic"/>
                <a:cs typeface="Century Gothic"/>
                <a:sym typeface="Century Gothic"/>
              </a:rPr>
              <a:t>Used to run businesses</a:t>
            </a:r>
            <a:endParaRPr sz="2500" b="0" i="0" u="none" strike="noStrike" cap="none">
              <a:solidFill>
                <a:srgbClr val="E46C0A"/>
              </a:solidFill>
              <a:latin typeface="Arial"/>
              <a:ea typeface="Arial"/>
              <a:cs typeface="Arial"/>
              <a:sym typeface="Arial"/>
            </a:endParaRPr>
          </a:p>
          <a:p>
            <a:pPr marL="743040" marR="0" lvl="1" indent="-291830" algn="l" rtl="0">
              <a:lnSpc>
                <a:spcPct val="100000"/>
              </a:lnSpc>
              <a:spcBef>
                <a:spcPts val="479"/>
              </a:spcBef>
              <a:spcAft>
                <a:spcPts val="0"/>
              </a:spcAft>
              <a:buClr>
                <a:srgbClr val="7030A0"/>
              </a:buClr>
              <a:buSzPts val="2500"/>
              <a:buFont typeface="Arial"/>
              <a:buChar char="–"/>
            </a:pPr>
            <a:r>
              <a:rPr lang="en" sz="2500" b="0" i="0" u="none" strike="noStrike" cap="none">
                <a:solidFill>
                  <a:srgbClr val="7030A0"/>
                </a:solidFill>
                <a:latin typeface="Century Gothic"/>
                <a:ea typeface="Century Gothic"/>
                <a:cs typeface="Century Gothic"/>
                <a:sym typeface="Century Gothic"/>
              </a:rPr>
              <a:t>Accuracy and security of data are key</a:t>
            </a:r>
            <a:endParaRPr sz="2500" b="0" i="0" u="none" strike="noStrike" cap="none">
              <a:solidFill>
                <a:srgbClr val="E46C0A"/>
              </a:solidFill>
              <a:latin typeface="Arial"/>
              <a:ea typeface="Arial"/>
              <a:cs typeface="Arial"/>
              <a:sym typeface="Arial"/>
            </a:endParaRPr>
          </a:p>
          <a:p>
            <a:pPr marL="343080" marR="0" lvl="0" indent="-349070" algn="l" rtl="0">
              <a:lnSpc>
                <a:spcPct val="100000"/>
              </a:lnSpc>
              <a:spcBef>
                <a:spcPts val="561"/>
              </a:spcBef>
              <a:spcAft>
                <a:spcPts val="0"/>
              </a:spcAft>
              <a:buClr>
                <a:srgbClr val="003300"/>
              </a:buClr>
              <a:buSzPts val="2900"/>
              <a:buFont typeface="Arial"/>
              <a:buChar char="•"/>
            </a:pPr>
            <a:r>
              <a:rPr lang="en" sz="2900" b="0" strike="noStrike">
                <a:solidFill>
                  <a:srgbClr val="003300"/>
                </a:solidFill>
                <a:latin typeface="Candara"/>
                <a:ea typeface="Candara"/>
                <a:cs typeface="Candara"/>
                <a:sym typeface="Candara"/>
              </a:rPr>
              <a:t>Some software has both aspects</a:t>
            </a:r>
            <a:endParaRPr sz="2900" b="0" strike="noStrike">
              <a:solidFill>
                <a:srgbClr val="003300"/>
              </a:solidFill>
              <a:latin typeface="Candara"/>
              <a:ea typeface="Candara"/>
              <a:cs typeface="Candara"/>
              <a:sym typeface="Candara"/>
            </a:endParaRPr>
          </a:p>
          <a:p>
            <a:pPr marL="0" marR="0" lvl="0" indent="0" algn="l" rtl="0">
              <a:lnSpc>
                <a:spcPct val="100000"/>
              </a:lnSpc>
              <a:spcBef>
                <a:spcPts val="561"/>
              </a:spcBef>
              <a:spcAft>
                <a:spcPts val="0"/>
              </a:spcAft>
              <a:buNone/>
            </a:pPr>
            <a:endParaRPr sz="2900" b="0" strike="noStrike">
              <a:solidFill>
                <a:srgbClr val="003300"/>
              </a:solidFill>
              <a:latin typeface="Candara"/>
              <a:ea typeface="Candara"/>
              <a:cs typeface="Candara"/>
              <a:sym typeface="Candar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60"/>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b="0" strike="noStrike">
                <a:solidFill>
                  <a:srgbClr val="0070C0"/>
                </a:solidFill>
                <a:latin typeface="Comic Sans MS"/>
                <a:ea typeface="Comic Sans MS"/>
                <a:cs typeface="Comic Sans MS"/>
                <a:sym typeface="Comic Sans MS"/>
              </a:rPr>
              <a:t>Generic versus Custom S/W</a:t>
            </a:r>
            <a:endParaRPr sz="3600" b="0" strike="noStrike">
              <a:solidFill>
                <a:srgbClr val="000000"/>
              </a:solidFill>
              <a:latin typeface="Calibri"/>
              <a:ea typeface="Calibri"/>
              <a:cs typeface="Calibri"/>
              <a:sym typeface="Calibri"/>
            </a:endParaRPr>
          </a:p>
        </p:txBody>
      </p:sp>
      <p:sp>
        <p:nvSpPr>
          <p:cNvPr id="332" name="Google Shape;332;p60"/>
          <p:cNvSpPr txBox="1"/>
          <p:nvPr/>
        </p:nvSpPr>
        <p:spPr>
          <a:xfrm>
            <a:off x="228600" y="685800"/>
            <a:ext cx="8686440" cy="456840"/>
          </a:xfrm>
          <a:prstGeom prst="rect">
            <a:avLst/>
          </a:prstGeom>
          <a:noFill/>
          <a:ln>
            <a:noFill/>
          </a:ln>
        </p:spPr>
        <p:txBody>
          <a:bodyPr spcFirstLastPara="1" wrap="square" lIns="91425" tIns="45700" rIns="91425" bIns="45700" anchor="t" anchorCtr="0">
            <a:noAutofit/>
          </a:bodyPr>
          <a:lstStyle/>
          <a:p>
            <a:pPr marL="343080" marR="0" lvl="0" indent="-342720" algn="l" rtl="0">
              <a:lnSpc>
                <a:spcPct val="100000"/>
              </a:lnSpc>
              <a:spcBef>
                <a:spcPts val="0"/>
              </a:spcBef>
              <a:spcAft>
                <a:spcPts val="0"/>
              </a:spcAft>
              <a:buNone/>
            </a:pPr>
            <a:r>
              <a:rPr lang="en" sz="2800" b="0" strike="noStrike">
                <a:solidFill>
                  <a:srgbClr val="E82ABF"/>
                </a:solidFill>
                <a:latin typeface="Candara"/>
                <a:ea typeface="Candara"/>
                <a:cs typeface="Candara"/>
                <a:sym typeface="Candara"/>
              </a:rPr>
              <a:t>Generic</a:t>
            </a:r>
            <a:r>
              <a:rPr lang="en" sz="2800" b="0" strike="noStrike">
                <a:solidFill>
                  <a:srgbClr val="003300"/>
                </a:solidFill>
                <a:latin typeface="Candara"/>
                <a:ea typeface="Candara"/>
                <a:cs typeface="Candara"/>
                <a:sym typeface="Candara"/>
              </a:rPr>
              <a:t> 									</a:t>
            </a:r>
            <a:r>
              <a:rPr lang="en" sz="2800" b="0" strike="noStrike">
                <a:solidFill>
                  <a:srgbClr val="E82ABF"/>
                </a:solidFill>
                <a:latin typeface="Candara"/>
                <a:ea typeface="Candara"/>
                <a:cs typeface="Candara"/>
                <a:sym typeface="Candara"/>
              </a:rPr>
              <a:t>Custom</a:t>
            </a:r>
            <a:r>
              <a:rPr lang="en" sz="2800" b="0" strike="noStrike">
                <a:solidFill>
                  <a:srgbClr val="003300"/>
                </a:solidFill>
                <a:latin typeface="Candara"/>
                <a:ea typeface="Candara"/>
                <a:cs typeface="Candara"/>
                <a:sym typeface="Candara"/>
              </a:rPr>
              <a:t> </a:t>
            </a:r>
            <a:endParaRPr sz="2800" b="0" strike="noStrike">
              <a:solidFill>
                <a:srgbClr val="003300"/>
              </a:solidFill>
              <a:latin typeface="Candara"/>
              <a:ea typeface="Candara"/>
              <a:cs typeface="Candara"/>
              <a:sym typeface="Candara"/>
            </a:endParaRPr>
          </a:p>
        </p:txBody>
      </p:sp>
      <p:cxnSp>
        <p:nvCxnSpPr>
          <p:cNvPr id="333" name="Google Shape;333;p60"/>
          <p:cNvCxnSpPr/>
          <p:nvPr/>
        </p:nvCxnSpPr>
        <p:spPr>
          <a:xfrm flipH="1">
            <a:off x="4572750" y="939250"/>
            <a:ext cx="7200" cy="3883800"/>
          </a:xfrm>
          <a:prstGeom prst="straightConnector1">
            <a:avLst/>
          </a:prstGeom>
          <a:noFill/>
          <a:ln w="25550" cap="flat" cmpd="sng">
            <a:solidFill>
              <a:srgbClr val="FFC000"/>
            </a:solidFill>
            <a:prstDash val="solid"/>
            <a:round/>
            <a:headEnd type="none" w="sm" len="sm"/>
            <a:tailEnd type="none" w="sm" len="sm"/>
          </a:ln>
        </p:spPr>
      </p:cxnSp>
      <p:sp>
        <p:nvSpPr>
          <p:cNvPr id="334" name="Google Shape;334;p60"/>
          <p:cNvSpPr/>
          <p:nvPr/>
        </p:nvSpPr>
        <p:spPr>
          <a:xfrm>
            <a:off x="228600" y="1142910"/>
            <a:ext cx="4343040" cy="628290"/>
          </a:xfrm>
          <a:prstGeom prst="rect">
            <a:avLst/>
          </a:prstGeom>
          <a:noFill/>
          <a:ln>
            <a:noFill/>
          </a:ln>
        </p:spPr>
        <p:txBody>
          <a:bodyPr spcFirstLastPara="1" wrap="square" lIns="91425" tIns="45700" rIns="91425" bIns="45700" anchor="t" anchorCtr="0">
            <a:noAutofit/>
          </a:bodyPr>
          <a:lstStyle/>
          <a:p>
            <a:pPr marL="343080" marR="0" lvl="0" indent="-355420" algn="just" rtl="0">
              <a:lnSpc>
                <a:spcPct val="100000"/>
              </a:lnSpc>
              <a:spcBef>
                <a:spcPts val="0"/>
              </a:spcBef>
              <a:spcAft>
                <a:spcPts val="0"/>
              </a:spcAft>
              <a:buClr>
                <a:srgbClr val="000000"/>
              </a:buClr>
              <a:buSzPts val="1544"/>
              <a:buFont typeface="Times New Roman"/>
              <a:buChar char="•"/>
            </a:pPr>
            <a:r>
              <a:rPr lang="en" sz="1544" strike="noStrike">
                <a:solidFill>
                  <a:srgbClr val="000000"/>
                </a:solidFill>
                <a:latin typeface="Times New Roman"/>
                <a:ea typeface="Times New Roman"/>
                <a:cs typeface="Times New Roman"/>
                <a:sym typeface="Times New Roman"/>
              </a:rPr>
              <a:t>The specification is owned by the product developer.</a:t>
            </a:r>
            <a:endParaRPr sz="1544" strike="noStrike">
              <a:solidFill>
                <a:srgbClr val="000000"/>
              </a:solidFill>
              <a:latin typeface="Times New Roman"/>
              <a:ea typeface="Times New Roman"/>
              <a:cs typeface="Times New Roman"/>
              <a:sym typeface="Times New Roman"/>
            </a:endParaRPr>
          </a:p>
          <a:p>
            <a:pPr marL="343080" marR="0" lvl="0" indent="-355420" algn="just" rtl="0">
              <a:lnSpc>
                <a:spcPct val="100000"/>
              </a:lnSpc>
              <a:spcBef>
                <a:spcPts val="0"/>
              </a:spcBef>
              <a:spcAft>
                <a:spcPts val="0"/>
              </a:spcAft>
              <a:buClr>
                <a:srgbClr val="000000"/>
              </a:buClr>
              <a:buSzPts val="1544"/>
              <a:buFont typeface="Times New Roman"/>
              <a:buChar char="•"/>
            </a:pPr>
            <a:r>
              <a:rPr lang="en" sz="1544" strike="noStrike">
                <a:solidFill>
                  <a:srgbClr val="000000"/>
                </a:solidFill>
                <a:latin typeface="Times New Roman"/>
                <a:ea typeface="Times New Roman"/>
                <a:cs typeface="Times New Roman"/>
                <a:sym typeface="Times New Roman"/>
              </a:rPr>
              <a:t>The developer can quickly decide to change the specification in response to some external change.</a:t>
            </a:r>
            <a:endParaRPr sz="1544" strike="noStrike">
              <a:solidFill>
                <a:srgbClr val="000000"/>
              </a:solidFill>
              <a:latin typeface="Times New Roman"/>
              <a:ea typeface="Times New Roman"/>
              <a:cs typeface="Times New Roman"/>
              <a:sym typeface="Times New Roman"/>
            </a:endParaRPr>
          </a:p>
          <a:p>
            <a:pPr marL="343080" marR="0" lvl="0" indent="-355420" algn="just" rtl="0">
              <a:lnSpc>
                <a:spcPct val="100000"/>
              </a:lnSpc>
              <a:spcBef>
                <a:spcPts val="0"/>
              </a:spcBef>
              <a:spcAft>
                <a:spcPts val="0"/>
              </a:spcAft>
              <a:buClr>
                <a:srgbClr val="000000"/>
              </a:buClr>
              <a:buSzPts val="1544"/>
              <a:buFont typeface="Times New Roman"/>
              <a:buChar char="•"/>
            </a:pPr>
            <a:r>
              <a:rPr lang="en" sz="1544" strike="noStrike">
                <a:solidFill>
                  <a:srgbClr val="000000"/>
                </a:solidFill>
                <a:latin typeface="Times New Roman"/>
                <a:ea typeface="Times New Roman"/>
                <a:cs typeface="Times New Roman"/>
                <a:sym typeface="Times New Roman"/>
              </a:rPr>
              <a:t>Users of generic products have no control over the software specification so cannot control the evolution of the product. </a:t>
            </a:r>
            <a:endParaRPr sz="1544" strike="noStrike">
              <a:solidFill>
                <a:srgbClr val="000000"/>
              </a:solidFill>
              <a:latin typeface="Times New Roman"/>
              <a:ea typeface="Times New Roman"/>
              <a:cs typeface="Times New Roman"/>
              <a:sym typeface="Times New Roman"/>
            </a:endParaRPr>
          </a:p>
          <a:p>
            <a:pPr marL="343080" marR="0" lvl="0" indent="-355420" algn="just" rtl="0">
              <a:lnSpc>
                <a:spcPct val="100000"/>
              </a:lnSpc>
              <a:spcBef>
                <a:spcPts val="0"/>
              </a:spcBef>
              <a:spcAft>
                <a:spcPts val="0"/>
              </a:spcAft>
              <a:buClr>
                <a:srgbClr val="000000"/>
              </a:buClr>
              <a:buSzPts val="1544"/>
              <a:buFont typeface="Times New Roman"/>
              <a:buChar char="•"/>
            </a:pPr>
            <a:r>
              <a:rPr lang="en" sz="1544" strike="noStrike">
                <a:solidFill>
                  <a:srgbClr val="000000"/>
                </a:solidFill>
                <a:latin typeface="Times New Roman"/>
                <a:ea typeface="Times New Roman"/>
                <a:cs typeface="Times New Roman"/>
                <a:sym typeface="Times New Roman"/>
              </a:rPr>
              <a:t>The developer may include/exclude features and change the user interface which may affect user’s business processes and add extra training costs when new versions of the system are installed. Again it may limit the customer’s flexibility to change their own business processes.</a:t>
            </a:r>
            <a:endParaRPr sz="1544">
              <a:latin typeface="Times New Roman"/>
              <a:ea typeface="Times New Roman"/>
              <a:cs typeface="Times New Roman"/>
              <a:sym typeface="Times New Roman"/>
            </a:endParaRPr>
          </a:p>
        </p:txBody>
      </p:sp>
      <p:sp>
        <p:nvSpPr>
          <p:cNvPr id="335" name="Google Shape;335;p60"/>
          <p:cNvSpPr/>
          <p:nvPr/>
        </p:nvSpPr>
        <p:spPr>
          <a:xfrm>
            <a:off x="4572000" y="1142910"/>
            <a:ext cx="4571640" cy="1428570"/>
          </a:xfrm>
          <a:prstGeom prst="rect">
            <a:avLst/>
          </a:prstGeom>
          <a:noFill/>
          <a:ln>
            <a:noFill/>
          </a:ln>
        </p:spPr>
        <p:txBody>
          <a:bodyPr spcFirstLastPara="1" wrap="square" lIns="91425" tIns="45700" rIns="91425" bIns="45700" anchor="t" anchorCtr="0">
            <a:noAutofit/>
          </a:bodyPr>
          <a:lstStyle/>
          <a:p>
            <a:pPr marL="343080" marR="0" lvl="0" indent="-323670" algn="just" rtl="0">
              <a:lnSpc>
                <a:spcPct val="100000"/>
              </a:lnSpc>
              <a:spcBef>
                <a:spcPts val="0"/>
              </a:spcBef>
              <a:spcAft>
                <a:spcPts val="0"/>
              </a:spcAft>
              <a:buClr>
                <a:srgbClr val="000000"/>
              </a:buClr>
              <a:buSzPts val="1548"/>
              <a:buFont typeface="Times New Roman"/>
              <a:buChar char="•"/>
            </a:pPr>
            <a:r>
              <a:rPr lang="en" sz="1548" strike="noStrike">
                <a:solidFill>
                  <a:srgbClr val="000000"/>
                </a:solidFill>
                <a:latin typeface="Times New Roman"/>
                <a:ea typeface="Times New Roman"/>
                <a:cs typeface="Times New Roman"/>
                <a:sym typeface="Times New Roman"/>
              </a:rPr>
              <a:t>The specification is owned and controlled by the customer as the domain, requirement and environment being   unique to the customer.</a:t>
            </a:r>
            <a:endParaRPr sz="1548" strike="noStrike">
              <a:solidFill>
                <a:srgbClr val="000000"/>
              </a:solidFill>
              <a:latin typeface="Times New Roman"/>
              <a:ea typeface="Times New Roman"/>
              <a:cs typeface="Times New Roman"/>
              <a:sym typeface="Times New Roman"/>
            </a:endParaRPr>
          </a:p>
          <a:p>
            <a:pPr marL="343080" marR="0" lvl="0" indent="-323670" algn="just" rtl="0">
              <a:lnSpc>
                <a:spcPct val="100000"/>
              </a:lnSpc>
              <a:spcBef>
                <a:spcPts val="0"/>
              </a:spcBef>
              <a:spcAft>
                <a:spcPts val="0"/>
              </a:spcAft>
              <a:buSzPts val="1548"/>
              <a:buFont typeface="Times New Roman"/>
              <a:buChar char="•"/>
            </a:pPr>
            <a:r>
              <a:rPr lang="en" sz="1548">
                <a:latin typeface="Times New Roman"/>
                <a:ea typeface="Times New Roman"/>
                <a:cs typeface="Times New Roman"/>
                <a:sym typeface="Times New Roman"/>
              </a:rPr>
              <a:t>changes have to be negotiated between the customer and the developer and may have contractual implications.</a:t>
            </a:r>
            <a:endParaRPr sz="1548">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48">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61"/>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b="0" strike="noStrike">
                <a:solidFill>
                  <a:srgbClr val="0070C0"/>
                </a:solidFill>
                <a:latin typeface="Comic Sans MS"/>
                <a:ea typeface="Comic Sans MS"/>
                <a:cs typeface="Comic Sans MS"/>
                <a:sym typeface="Comic Sans MS"/>
              </a:rPr>
              <a:t>Quiz - I</a:t>
            </a:r>
            <a:endParaRPr sz="3600" b="0" strike="noStrike">
              <a:solidFill>
                <a:srgbClr val="000000"/>
              </a:solidFill>
              <a:latin typeface="Calibri"/>
              <a:ea typeface="Calibri"/>
              <a:cs typeface="Calibri"/>
              <a:sym typeface="Calibri"/>
            </a:endParaRPr>
          </a:p>
        </p:txBody>
      </p:sp>
      <p:sp>
        <p:nvSpPr>
          <p:cNvPr id="341" name="Google Shape;341;p61"/>
          <p:cNvSpPr txBox="1"/>
          <p:nvPr/>
        </p:nvSpPr>
        <p:spPr>
          <a:xfrm>
            <a:off x="228600" y="685800"/>
            <a:ext cx="8686440" cy="4343220"/>
          </a:xfrm>
          <a:prstGeom prst="rect">
            <a:avLst/>
          </a:prstGeom>
          <a:noFill/>
          <a:ln>
            <a:noFill/>
          </a:ln>
        </p:spPr>
        <p:txBody>
          <a:bodyPr spcFirstLastPara="1" wrap="square" lIns="91425" tIns="45700" rIns="91425" bIns="45700" anchor="t" anchorCtr="0">
            <a:normAutofit fontScale="73000"/>
          </a:bodyPr>
          <a:lstStyle/>
          <a:p>
            <a:pPr marL="343080" marR="0" lvl="0" indent="-342720" algn="l" rtl="0">
              <a:lnSpc>
                <a:spcPct val="100000"/>
              </a:lnSpc>
              <a:spcBef>
                <a:spcPts val="0"/>
              </a:spcBef>
              <a:spcAft>
                <a:spcPts val="0"/>
              </a:spcAft>
              <a:buClr>
                <a:srgbClr val="003300"/>
              </a:buClr>
              <a:buSzPct val="100000"/>
              <a:buFont typeface="Arial"/>
              <a:buChar char="•"/>
            </a:pPr>
            <a:r>
              <a:rPr lang="en" sz="2800" b="0" strike="noStrike">
                <a:solidFill>
                  <a:srgbClr val="003300"/>
                </a:solidFill>
                <a:latin typeface="Candara"/>
                <a:ea typeface="Candara"/>
                <a:cs typeface="Candara"/>
                <a:sym typeface="Candara"/>
              </a:rPr>
              <a:t>Classify the following software according to whether it is likely to be </a:t>
            </a:r>
            <a:r>
              <a:rPr lang="en" sz="2800" b="0" strike="noStrike">
                <a:solidFill>
                  <a:srgbClr val="953735"/>
                </a:solidFill>
                <a:latin typeface="Candara"/>
                <a:ea typeface="Candara"/>
                <a:cs typeface="Candara"/>
                <a:sym typeface="Candara"/>
              </a:rPr>
              <a:t>custom</a:t>
            </a:r>
            <a:r>
              <a:rPr lang="en" sz="2800" b="0" strike="noStrike">
                <a:solidFill>
                  <a:srgbClr val="003300"/>
                </a:solidFill>
                <a:latin typeface="Candara"/>
                <a:ea typeface="Candara"/>
                <a:cs typeface="Candara"/>
                <a:sym typeface="Candara"/>
              </a:rPr>
              <a:t>, </a:t>
            </a:r>
            <a:r>
              <a:rPr lang="en" sz="2800" b="0" strike="noStrike">
                <a:solidFill>
                  <a:srgbClr val="00B0F0"/>
                </a:solidFill>
                <a:latin typeface="Candara"/>
                <a:ea typeface="Candara"/>
                <a:cs typeface="Candara"/>
                <a:sym typeface="Candara"/>
              </a:rPr>
              <a:t>generic</a:t>
            </a:r>
            <a:r>
              <a:rPr lang="en" sz="2800" b="0" strike="noStrike">
                <a:solidFill>
                  <a:srgbClr val="003300"/>
                </a:solidFill>
                <a:latin typeface="Candara"/>
                <a:ea typeface="Candara"/>
                <a:cs typeface="Candara"/>
                <a:sym typeface="Candara"/>
              </a:rPr>
              <a:t> or </a:t>
            </a:r>
            <a:r>
              <a:rPr lang="en" sz="2800" b="0" strike="noStrike">
                <a:solidFill>
                  <a:srgbClr val="E82ABF"/>
                </a:solidFill>
                <a:latin typeface="Candara"/>
                <a:ea typeface="Candara"/>
                <a:cs typeface="Candara"/>
                <a:sym typeface="Candara"/>
              </a:rPr>
              <a:t>embedded</a:t>
            </a:r>
            <a:r>
              <a:rPr lang="en" sz="2800" b="0" strike="noStrike">
                <a:solidFill>
                  <a:srgbClr val="003300"/>
                </a:solidFill>
                <a:latin typeface="Candara"/>
                <a:ea typeface="Candara"/>
                <a:cs typeface="Candara"/>
                <a:sym typeface="Candara"/>
              </a:rPr>
              <a:t> (or some </a:t>
            </a:r>
            <a:r>
              <a:rPr lang="en" sz="2800" b="0" strike="noStrike">
                <a:solidFill>
                  <a:srgbClr val="E46C0A"/>
                </a:solidFill>
                <a:latin typeface="Candara"/>
                <a:ea typeface="Candara"/>
                <a:cs typeface="Candara"/>
                <a:sym typeface="Candara"/>
              </a:rPr>
              <a:t>combination</a:t>
            </a:r>
            <a:r>
              <a:rPr lang="en" sz="2800" b="0" strike="noStrike">
                <a:solidFill>
                  <a:srgbClr val="003300"/>
                </a:solidFill>
                <a:latin typeface="Candara"/>
                <a:ea typeface="Candara"/>
                <a:cs typeface="Candara"/>
                <a:sym typeface="Candara"/>
              </a:rPr>
              <a:t>); and whether it is </a:t>
            </a:r>
            <a:r>
              <a:rPr lang="en" sz="2800" b="0" strike="noStrike">
                <a:solidFill>
                  <a:srgbClr val="00B050"/>
                </a:solidFill>
                <a:latin typeface="Candara"/>
                <a:ea typeface="Candara"/>
                <a:cs typeface="Candara"/>
                <a:sym typeface="Candara"/>
              </a:rPr>
              <a:t>data processing </a:t>
            </a:r>
            <a:r>
              <a:rPr lang="en" sz="2800" b="0" strike="noStrike">
                <a:solidFill>
                  <a:srgbClr val="003300"/>
                </a:solidFill>
                <a:latin typeface="Candara"/>
                <a:ea typeface="Candara"/>
                <a:cs typeface="Candara"/>
                <a:sym typeface="Candara"/>
              </a:rPr>
              <a:t>or </a:t>
            </a:r>
            <a:r>
              <a:rPr lang="en" sz="2800" b="0" strike="noStrike">
                <a:solidFill>
                  <a:srgbClr val="0070C0"/>
                </a:solidFill>
                <a:latin typeface="Candara"/>
                <a:ea typeface="Candara"/>
                <a:cs typeface="Candara"/>
                <a:sym typeface="Candara"/>
              </a:rPr>
              <a:t>real-time</a:t>
            </a:r>
            <a:r>
              <a:rPr lang="en" sz="2800" b="0" strike="noStrike">
                <a:solidFill>
                  <a:srgbClr val="003300"/>
                </a:solidFill>
                <a:latin typeface="Candara"/>
                <a:ea typeface="Candara"/>
                <a:cs typeface="Candara"/>
                <a:sym typeface="Candara"/>
              </a:rPr>
              <a:t>.</a:t>
            </a:r>
            <a:endParaRPr sz="2800" b="0" strike="noStrike">
              <a:solidFill>
                <a:srgbClr val="003300"/>
              </a:solidFill>
              <a:latin typeface="Candara"/>
              <a:ea typeface="Candara"/>
              <a:cs typeface="Candara"/>
              <a:sym typeface="Candara"/>
            </a:endParaRPr>
          </a:p>
          <a:p>
            <a:pPr marL="743040" marR="0" lvl="1" indent="-285480" algn="l" rtl="0">
              <a:lnSpc>
                <a:spcPct val="100000"/>
              </a:lnSpc>
              <a:spcBef>
                <a:spcPts val="479"/>
              </a:spcBef>
              <a:spcAft>
                <a:spcPts val="0"/>
              </a:spcAft>
              <a:buClr>
                <a:srgbClr val="7030A0"/>
              </a:buClr>
              <a:buSzPct val="100000"/>
              <a:buFont typeface="Arial"/>
              <a:buChar char="–"/>
            </a:pPr>
            <a:r>
              <a:rPr lang="en" sz="2400" b="0" i="0" u="none" strike="noStrike" cap="none">
                <a:solidFill>
                  <a:srgbClr val="7030A0"/>
                </a:solidFill>
                <a:latin typeface="Century Gothic"/>
                <a:ea typeface="Century Gothic"/>
                <a:cs typeface="Century Gothic"/>
                <a:sym typeface="Century Gothic"/>
              </a:rPr>
              <a:t>A system to control the reaction rate in a nuclear reactor. </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ct val="100000"/>
              <a:buFont typeface="Arial"/>
              <a:buChar char="–"/>
            </a:pPr>
            <a:r>
              <a:rPr lang="en" sz="2400" b="0" i="0" u="none" strike="noStrike" cap="none">
                <a:solidFill>
                  <a:srgbClr val="7030A0"/>
                </a:solidFill>
                <a:latin typeface="Century Gothic"/>
                <a:ea typeface="Century Gothic"/>
                <a:cs typeface="Century Gothic"/>
                <a:sym typeface="Century Gothic"/>
              </a:rPr>
              <a:t>A program that runs inside badges worn by nuclear plant workers that monitors radiation exposure.</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ct val="100000"/>
              <a:buFont typeface="Arial"/>
              <a:buChar char="–"/>
            </a:pPr>
            <a:r>
              <a:rPr lang="en" sz="2400" b="0" i="0" u="none" strike="noStrike" cap="none">
                <a:solidFill>
                  <a:srgbClr val="7030A0"/>
                </a:solidFill>
                <a:latin typeface="Century Gothic"/>
                <a:ea typeface="Century Gothic"/>
                <a:cs typeface="Century Gothic"/>
                <a:sym typeface="Century Gothic"/>
              </a:rPr>
              <a:t>A program used by administrative assistants at the nuclear plant to write letters.</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ct val="100000"/>
              <a:buFont typeface="Arial"/>
              <a:buChar char="–"/>
            </a:pPr>
            <a:r>
              <a:rPr lang="en" sz="2400" b="0" i="0" u="none" strike="noStrike" cap="none">
                <a:solidFill>
                  <a:srgbClr val="7030A0"/>
                </a:solidFill>
                <a:latin typeface="Century Gothic"/>
                <a:ea typeface="Century Gothic"/>
                <a:cs typeface="Century Gothic"/>
                <a:sym typeface="Century Gothic"/>
              </a:rPr>
              <a:t>A system that logs all activities of the reactor and its employees so that investigators can later uncover the cause of any accident.</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ct val="100000"/>
              <a:buFont typeface="Arial"/>
              <a:buChar char="–"/>
            </a:pPr>
            <a:r>
              <a:rPr lang="en" sz="2400" b="0" i="0" u="none" strike="noStrike" cap="none">
                <a:solidFill>
                  <a:srgbClr val="7030A0"/>
                </a:solidFill>
                <a:latin typeface="Century Gothic"/>
                <a:ea typeface="Century Gothic"/>
                <a:cs typeface="Century Gothic"/>
                <a:sym typeface="Century Gothic"/>
              </a:rPr>
              <a:t>A program used to generate annual summaries of the radiation exposure experienced by workers.</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ct val="100000"/>
              <a:buFont typeface="Arial"/>
              <a:buChar char="–"/>
            </a:pPr>
            <a:r>
              <a:rPr lang="en" sz="2400" b="0" i="0" u="none" strike="noStrike" cap="none">
                <a:solidFill>
                  <a:srgbClr val="7030A0"/>
                </a:solidFill>
                <a:latin typeface="Century Gothic"/>
                <a:ea typeface="Century Gothic"/>
                <a:cs typeface="Century Gothic"/>
                <a:sym typeface="Century Gothic"/>
              </a:rPr>
              <a:t>An educational web site containing a Flash animation describing how the nuclear plant works.</a:t>
            </a:r>
            <a:endParaRPr sz="2400" b="0" i="0" u="none" strike="noStrike" cap="none">
              <a:solidFill>
                <a:srgbClr val="E46C0A"/>
              </a:solidFill>
              <a:latin typeface="Arial"/>
              <a:ea typeface="Arial"/>
              <a:cs typeface="Arial"/>
              <a:sym typeface="Arial"/>
            </a:endParaRPr>
          </a:p>
          <a:p>
            <a:pPr marL="0" marR="0" lvl="0" indent="0" algn="l" rtl="0">
              <a:lnSpc>
                <a:spcPct val="100000"/>
              </a:lnSpc>
              <a:spcBef>
                <a:spcPts val="561"/>
              </a:spcBef>
              <a:spcAft>
                <a:spcPts val="0"/>
              </a:spcAft>
              <a:buNone/>
            </a:pPr>
            <a:endParaRPr sz="2400" b="0" strike="noStrike">
              <a:solidFill>
                <a:srgbClr val="003300"/>
              </a:solidFill>
              <a:latin typeface="Candara"/>
              <a:ea typeface="Candara"/>
              <a:cs typeface="Candara"/>
              <a:sym typeface="Candara"/>
            </a:endParaRPr>
          </a:p>
        </p:txBody>
      </p:sp>
      <p:sp>
        <p:nvSpPr>
          <p:cNvPr id="342" name="Google Shape;342;p61"/>
          <p:cNvSpPr/>
          <p:nvPr/>
        </p:nvSpPr>
        <p:spPr>
          <a:xfrm>
            <a:off x="380875" y="4778350"/>
            <a:ext cx="8381400" cy="386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 sz="1800" b="0" strike="noStrike">
                <a:solidFill>
                  <a:srgbClr val="000000"/>
                </a:solidFill>
                <a:latin typeface="Calibri"/>
                <a:ea typeface="Calibri"/>
                <a:cs typeface="Calibri"/>
                <a:sym typeface="Calibri"/>
              </a:rPr>
              <a:t>Cust &amp; RT, Embd &amp; RT, Gen and RT, Gen and DP, Cust and DP, Cust and RT</a:t>
            </a:r>
            <a:endParaRPr sz="1800" b="0" strike="noStrike">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62"/>
          <p:cNvSpPr txBox="1"/>
          <p:nvPr/>
        </p:nvSpPr>
        <p:spPr>
          <a:xfrm>
            <a:off x="457200" y="114210"/>
            <a:ext cx="8229240" cy="59373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None/>
            </a:pPr>
            <a:r>
              <a:rPr lang="en" sz="3600" b="0" strike="noStrike">
                <a:solidFill>
                  <a:srgbClr val="0070C0"/>
                </a:solidFill>
                <a:latin typeface="Comic Sans MS"/>
                <a:ea typeface="Comic Sans MS"/>
                <a:cs typeface="Comic Sans MS"/>
                <a:sym typeface="Comic Sans MS"/>
              </a:rPr>
              <a:t>Stakeholders in Software Engineering</a:t>
            </a:r>
            <a:endParaRPr sz="3600" b="0" strike="noStrike">
              <a:solidFill>
                <a:srgbClr val="000000"/>
              </a:solidFill>
              <a:latin typeface="Calibri"/>
              <a:ea typeface="Calibri"/>
              <a:cs typeface="Calibri"/>
              <a:sym typeface="Calibri"/>
            </a:endParaRPr>
          </a:p>
        </p:txBody>
      </p:sp>
      <p:sp>
        <p:nvSpPr>
          <p:cNvPr id="348" name="Google Shape;348;p62"/>
          <p:cNvSpPr txBox="1"/>
          <p:nvPr/>
        </p:nvSpPr>
        <p:spPr>
          <a:xfrm>
            <a:off x="228600" y="685800"/>
            <a:ext cx="8686440" cy="3908520"/>
          </a:xfrm>
          <a:prstGeom prst="rect">
            <a:avLst/>
          </a:prstGeom>
          <a:noFill/>
          <a:ln>
            <a:noFill/>
          </a:ln>
        </p:spPr>
        <p:txBody>
          <a:bodyPr spcFirstLastPara="1" wrap="square" lIns="91425" tIns="45700" rIns="91425" bIns="45700" anchor="t" anchorCtr="0">
            <a:noAutofit/>
          </a:bodyPr>
          <a:lstStyle/>
          <a:p>
            <a:pPr marL="343080" marR="0" lvl="0" indent="-342720" algn="l" rtl="0">
              <a:lnSpc>
                <a:spcPct val="100000"/>
              </a:lnSpc>
              <a:spcBef>
                <a:spcPts val="0"/>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Users</a:t>
            </a:r>
            <a:endParaRPr sz="2800" b="0" strike="noStrike">
              <a:solidFill>
                <a:srgbClr val="003300"/>
              </a:solidFill>
              <a:latin typeface="Candara"/>
              <a:ea typeface="Candara"/>
              <a:cs typeface="Candara"/>
              <a:sym typeface="Candara"/>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Those who use the software</a:t>
            </a:r>
            <a:endParaRPr sz="2400" b="0" i="0" u="none" strike="noStrike" cap="none">
              <a:solidFill>
                <a:srgbClr val="E46C0A"/>
              </a:solidFill>
              <a:latin typeface="Arial"/>
              <a:ea typeface="Arial"/>
              <a:cs typeface="Arial"/>
              <a:sym typeface="Arial"/>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Customers</a:t>
            </a:r>
            <a:endParaRPr sz="2800" b="0" strike="noStrike">
              <a:solidFill>
                <a:srgbClr val="003300"/>
              </a:solidFill>
              <a:latin typeface="Candara"/>
              <a:ea typeface="Candara"/>
              <a:cs typeface="Candara"/>
              <a:sym typeface="Candara"/>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Those who pay for the software</a:t>
            </a:r>
            <a:endParaRPr sz="2400" b="0" i="0" u="none" strike="noStrike" cap="none">
              <a:solidFill>
                <a:srgbClr val="E46C0A"/>
              </a:solidFill>
              <a:latin typeface="Arial"/>
              <a:ea typeface="Arial"/>
              <a:cs typeface="Arial"/>
              <a:sym typeface="Arial"/>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Software developers</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Development Managers</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All four roles can be fulfilled by the same person</a:t>
            </a:r>
            <a:endParaRPr sz="2800" b="0" strike="noStrike">
              <a:solidFill>
                <a:srgbClr val="003300"/>
              </a:solidFill>
              <a:latin typeface="Candara"/>
              <a:ea typeface="Candara"/>
              <a:cs typeface="Candara"/>
              <a:sym typeface="Candara"/>
            </a:endParaRPr>
          </a:p>
          <a:p>
            <a:pPr marL="0" marR="0" lvl="0" indent="0" algn="l" rtl="0">
              <a:lnSpc>
                <a:spcPct val="100000"/>
              </a:lnSpc>
              <a:spcBef>
                <a:spcPts val="561"/>
              </a:spcBef>
              <a:spcAft>
                <a:spcPts val="0"/>
              </a:spcAft>
              <a:buNone/>
            </a:pPr>
            <a:endParaRPr sz="2800" b="0" strike="noStrike">
              <a:solidFill>
                <a:srgbClr val="003300"/>
              </a:solidFill>
              <a:latin typeface="Candara"/>
              <a:ea typeface="Candara"/>
              <a:cs typeface="Candara"/>
              <a:sym typeface="Candar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63"/>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b="0" strike="noStrike">
                <a:solidFill>
                  <a:srgbClr val="0070C0"/>
                </a:solidFill>
                <a:latin typeface="Comic Sans MS"/>
                <a:ea typeface="Comic Sans MS"/>
                <a:cs typeface="Comic Sans MS"/>
                <a:sym typeface="Comic Sans MS"/>
              </a:rPr>
              <a:t>Case Study: ATM stake holders</a:t>
            </a:r>
            <a:endParaRPr sz="3600" b="0" strike="noStrike">
              <a:solidFill>
                <a:srgbClr val="000000"/>
              </a:solidFill>
              <a:latin typeface="Calibri"/>
              <a:ea typeface="Calibri"/>
              <a:cs typeface="Calibri"/>
              <a:sym typeface="Calibri"/>
            </a:endParaRPr>
          </a:p>
        </p:txBody>
      </p:sp>
      <p:sp>
        <p:nvSpPr>
          <p:cNvPr id="354" name="Google Shape;354;p63"/>
          <p:cNvSpPr txBox="1"/>
          <p:nvPr/>
        </p:nvSpPr>
        <p:spPr>
          <a:xfrm>
            <a:off x="228600" y="685800"/>
            <a:ext cx="8686440" cy="3908520"/>
          </a:xfrm>
          <a:prstGeom prst="rect">
            <a:avLst/>
          </a:prstGeom>
          <a:noFill/>
          <a:ln>
            <a:noFill/>
          </a:ln>
        </p:spPr>
        <p:txBody>
          <a:bodyPr spcFirstLastPara="1" wrap="square" lIns="91425" tIns="45700" rIns="91425" bIns="45700" anchor="t" anchorCtr="0">
            <a:noAutofit/>
          </a:bodyPr>
          <a:lstStyle/>
          <a:p>
            <a:pPr marL="343080" marR="0" lvl="0" indent="-342720" algn="l" rtl="0">
              <a:lnSpc>
                <a:spcPct val="100000"/>
              </a:lnSpc>
              <a:spcBef>
                <a:spcPts val="0"/>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Bank customers</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Representatives of other banks</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Bank managers</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Counter staff</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Database administrators </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Security managers</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Marketing department</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Hardware and software maintenance engineers</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Banking regulators</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None/>
            </a:pPr>
            <a:endParaRPr sz="2800" b="0" strike="noStrike">
              <a:solidFill>
                <a:srgbClr val="003300"/>
              </a:solidFill>
              <a:latin typeface="Candara"/>
              <a:ea typeface="Candara"/>
              <a:cs typeface="Candara"/>
              <a:sym typeface="Candar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64"/>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b="0" strike="noStrike">
                <a:solidFill>
                  <a:srgbClr val="0070C0"/>
                </a:solidFill>
                <a:latin typeface="Comic Sans MS"/>
                <a:ea typeface="Comic Sans MS"/>
                <a:cs typeface="Comic Sans MS"/>
                <a:sym typeface="Comic Sans MS"/>
              </a:rPr>
              <a:t>Software Quality</a:t>
            </a:r>
            <a:endParaRPr sz="3600" b="0" strike="noStrike">
              <a:solidFill>
                <a:srgbClr val="000000"/>
              </a:solidFill>
              <a:latin typeface="Calibri"/>
              <a:ea typeface="Calibri"/>
              <a:cs typeface="Calibri"/>
              <a:sym typeface="Calibri"/>
            </a:endParaRPr>
          </a:p>
        </p:txBody>
      </p:sp>
      <p:sp>
        <p:nvSpPr>
          <p:cNvPr id="360" name="Google Shape;360;p64"/>
          <p:cNvSpPr txBox="1"/>
          <p:nvPr/>
        </p:nvSpPr>
        <p:spPr>
          <a:xfrm>
            <a:off x="228600" y="685800"/>
            <a:ext cx="8686440" cy="4171770"/>
          </a:xfrm>
          <a:prstGeom prst="rect">
            <a:avLst/>
          </a:prstGeom>
          <a:noFill/>
          <a:ln>
            <a:noFill/>
          </a:ln>
        </p:spPr>
        <p:txBody>
          <a:bodyPr spcFirstLastPara="1" wrap="square" lIns="91425" tIns="45700" rIns="91425" bIns="45700" anchor="t" anchorCtr="0">
            <a:noAutofit/>
          </a:bodyPr>
          <a:lstStyle/>
          <a:p>
            <a:pPr marL="343080" marR="0" lvl="0" indent="-317320" algn="l" rtl="0">
              <a:lnSpc>
                <a:spcPct val="100000"/>
              </a:lnSpc>
              <a:spcBef>
                <a:spcPts val="0"/>
              </a:spcBef>
              <a:spcAft>
                <a:spcPts val="0"/>
              </a:spcAft>
              <a:buClr>
                <a:srgbClr val="003300"/>
              </a:buClr>
              <a:buSzPts val="2316"/>
              <a:buFont typeface="Arial"/>
              <a:buChar char="•"/>
            </a:pPr>
            <a:r>
              <a:rPr lang="en" sz="2316" b="0" strike="noStrike">
                <a:solidFill>
                  <a:srgbClr val="003300"/>
                </a:solidFill>
                <a:latin typeface="Candara"/>
                <a:ea typeface="Candara"/>
                <a:cs typeface="Candara"/>
                <a:sym typeface="Candara"/>
              </a:rPr>
              <a:t>Usability</a:t>
            </a:r>
            <a:endParaRPr sz="2316" b="0" strike="noStrike">
              <a:solidFill>
                <a:srgbClr val="003300"/>
              </a:solidFill>
              <a:latin typeface="Candara"/>
              <a:ea typeface="Candara"/>
              <a:cs typeface="Candara"/>
              <a:sym typeface="Candara"/>
            </a:endParaRPr>
          </a:p>
          <a:p>
            <a:pPr marL="743040" marR="0" lvl="1" indent="-260080" algn="l" rtl="0">
              <a:lnSpc>
                <a:spcPct val="100000"/>
              </a:lnSpc>
              <a:spcBef>
                <a:spcPts val="479"/>
              </a:spcBef>
              <a:spcAft>
                <a:spcPts val="0"/>
              </a:spcAft>
              <a:buClr>
                <a:srgbClr val="7030A0"/>
              </a:buClr>
              <a:buSzPts val="1928"/>
              <a:buFont typeface="Arial"/>
              <a:buChar char="–"/>
            </a:pPr>
            <a:r>
              <a:rPr lang="en" sz="1928" b="0" i="0" u="none" strike="noStrike" cap="none">
                <a:solidFill>
                  <a:srgbClr val="7030A0"/>
                </a:solidFill>
                <a:latin typeface="Century Gothic"/>
                <a:ea typeface="Century Gothic"/>
                <a:cs typeface="Century Gothic"/>
                <a:sym typeface="Century Gothic"/>
              </a:rPr>
              <a:t>Users can learn it fast and get their job done easily</a:t>
            </a:r>
            <a:endParaRPr sz="1928" b="0" i="0" u="none" strike="noStrike" cap="none">
              <a:solidFill>
                <a:srgbClr val="E46C0A"/>
              </a:solidFill>
              <a:latin typeface="Arial"/>
              <a:ea typeface="Arial"/>
              <a:cs typeface="Arial"/>
              <a:sym typeface="Arial"/>
            </a:endParaRPr>
          </a:p>
          <a:p>
            <a:pPr marL="343080" marR="0" lvl="0" indent="-317320" algn="l" rtl="0">
              <a:lnSpc>
                <a:spcPct val="100000"/>
              </a:lnSpc>
              <a:spcBef>
                <a:spcPts val="561"/>
              </a:spcBef>
              <a:spcAft>
                <a:spcPts val="0"/>
              </a:spcAft>
              <a:buClr>
                <a:srgbClr val="003300"/>
              </a:buClr>
              <a:buSzPts val="2316"/>
              <a:buFont typeface="Arial"/>
              <a:buChar char="•"/>
            </a:pPr>
            <a:r>
              <a:rPr lang="en" sz="2316" b="0" strike="noStrike">
                <a:solidFill>
                  <a:srgbClr val="003300"/>
                </a:solidFill>
                <a:latin typeface="Candara"/>
                <a:ea typeface="Candara"/>
                <a:cs typeface="Candara"/>
                <a:sym typeface="Candara"/>
              </a:rPr>
              <a:t>Efficiency</a:t>
            </a:r>
            <a:endParaRPr sz="2316" b="0" strike="noStrike">
              <a:solidFill>
                <a:srgbClr val="003300"/>
              </a:solidFill>
              <a:latin typeface="Candara"/>
              <a:ea typeface="Candara"/>
              <a:cs typeface="Candara"/>
              <a:sym typeface="Candara"/>
            </a:endParaRPr>
          </a:p>
          <a:p>
            <a:pPr marL="743040" marR="0" lvl="1" indent="-260080" algn="l" rtl="0">
              <a:lnSpc>
                <a:spcPct val="100000"/>
              </a:lnSpc>
              <a:spcBef>
                <a:spcPts val="479"/>
              </a:spcBef>
              <a:spcAft>
                <a:spcPts val="0"/>
              </a:spcAft>
              <a:buClr>
                <a:srgbClr val="7030A0"/>
              </a:buClr>
              <a:buSzPts val="1928"/>
              <a:buFont typeface="Arial"/>
              <a:buChar char="–"/>
            </a:pPr>
            <a:r>
              <a:rPr lang="en" sz="1928" b="0" i="0" u="none" strike="noStrike" cap="none">
                <a:solidFill>
                  <a:srgbClr val="7030A0"/>
                </a:solidFill>
                <a:latin typeface="Century Gothic"/>
                <a:ea typeface="Century Gothic"/>
                <a:cs typeface="Century Gothic"/>
                <a:sym typeface="Century Gothic"/>
              </a:rPr>
              <a:t>It doesn’t waste resources such as CPU time and memory</a:t>
            </a:r>
            <a:endParaRPr sz="1928" b="0" i="0" u="none" strike="noStrike" cap="none">
              <a:solidFill>
                <a:srgbClr val="E46C0A"/>
              </a:solidFill>
              <a:latin typeface="Arial"/>
              <a:ea typeface="Arial"/>
              <a:cs typeface="Arial"/>
              <a:sym typeface="Arial"/>
            </a:endParaRPr>
          </a:p>
          <a:p>
            <a:pPr marL="343080" marR="0" lvl="0" indent="-317320" algn="l" rtl="0">
              <a:lnSpc>
                <a:spcPct val="100000"/>
              </a:lnSpc>
              <a:spcBef>
                <a:spcPts val="561"/>
              </a:spcBef>
              <a:spcAft>
                <a:spcPts val="0"/>
              </a:spcAft>
              <a:buClr>
                <a:srgbClr val="003300"/>
              </a:buClr>
              <a:buSzPts val="2316"/>
              <a:buFont typeface="Arial"/>
              <a:buChar char="•"/>
            </a:pPr>
            <a:r>
              <a:rPr lang="en" sz="2316" b="0" strike="noStrike">
                <a:solidFill>
                  <a:srgbClr val="003300"/>
                </a:solidFill>
                <a:latin typeface="Candara"/>
                <a:ea typeface="Candara"/>
                <a:cs typeface="Candara"/>
                <a:sym typeface="Candara"/>
              </a:rPr>
              <a:t>Reliability</a:t>
            </a:r>
            <a:endParaRPr sz="2316" b="0" strike="noStrike">
              <a:solidFill>
                <a:srgbClr val="003300"/>
              </a:solidFill>
              <a:latin typeface="Candara"/>
              <a:ea typeface="Candara"/>
              <a:cs typeface="Candara"/>
              <a:sym typeface="Candara"/>
            </a:endParaRPr>
          </a:p>
          <a:p>
            <a:pPr marL="743040" marR="0" lvl="1" indent="-260080" algn="l" rtl="0">
              <a:lnSpc>
                <a:spcPct val="100000"/>
              </a:lnSpc>
              <a:spcBef>
                <a:spcPts val="479"/>
              </a:spcBef>
              <a:spcAft>
                <a:spcPts val="0"/>
              </a:spcAft>
              <a:buClr>
                <a:srgbClr val="7030A0"/>
              </a:buClr>
              <a:buSzPts val="1928"/>
              <a:buFont typeface="Arial"/>
              <a:buChar char="–"/>
            </a:pPr>
            <a:r>
              <a:rPr lang="en" sz="1928" b="0" i="0" u="none" strike="noStrike" cap="none">
                <a:solidFill>
                  <a:srgbClr val="7030A0"/>
                </a:solidFill>
                <a:latin typeface="Century Gothic"/>
                <a:ea typeface="Century Gothic"/>
                <a:cs typeface="Century Gothic"/>
                <a:sym typeface="Century Gothic"/>
              </a:rPr>
              <a:t>It does what it is required to do without failing</a:t>
            </a:r>
            <a:endParaRPr sz="1928" b="0" i="0" u="none" strike="noStrike" cap="none">
              <a:solidFill>
                <a:srgbClr val="E46C0A"/>
              </a:solidFill>
              <a:latin typeface="Arial"/>
              <a:ea typeface="Arial"/>
              <a:cs typeface="Arial"/>
              <a:sym typeface="Arial"/>
            </a:endParaRPr>
          </a:p>
          <a:p>
            <a:pPr marL="343080" marR="0" lvl="0" indent="-317320" algn="l" rtl="0">
              <a:lnSpc>
                <a:spcPct val="100000"/>
              </a:lnSpc>
              <a:spcBef>
                <a:spcPts val="561"/>
              </a:spcBef>
              <a:spcAft>
                <a:spcPts val="0"/>
              </a:spcAft>
              <a:buClr>
                <a:srgbClr val="003300"/>
              </a:buClr>
              <a:buSzPts val="2316"/>
              <a:buFont typeface="Arial"/>
              <a:buChar char="•"/>
            </a:pPr>
            <a:r>
              <a:rPr lang="en" sz="2316" b="0" strike="noStrike">
                <a:solidFill>
                  <a:srgbClr val="003300"/>
                </a:solidFill>
                <a:latin typeface="Candara"/>
                <a:ea typeface="Candara"/>
                <a:cs typeface="Candara"/>
                <a:sym typeface="Candara"/>
              </a:rPr>
              <a:t>Maintainability</a:t>
            </a:r>
            <a:endParaRPr sz="2316" b="0" strike="noStrike">
              <a:solidFill>
                <a:srgbClr val="003300"/>
              </a:solidFill>
              <a:latin typeface="Candara"/>
              <a:ea typeface="Candara"/>
              <a:cs typeface="Candara"/>
              <a:sym typeface="Candara"/>
            </a:endParaRPr>
          </a:p>
          <a:p>
            <a:pPr marL="743040" marR="0" lvl="1" indent="-260080" algn="l" rtl="0">
              <a:lnSpc>
                <a:spcPct val="100000"/>
              </a:lnSpc>
              <a:spcBef>
                <a:spcPts val="479"/>
              </a:spcBef>
              <a:spcAft>
                <a:spcPts val="0"/>
              </a:spcAft>
              <a:buClr>
                <a:srgbClr val="7030A0"/>
              </a:buClr>
              <a:buSzPts val="1928"/>
              <a:buFont typeface="Arial"/>
              <a:buChar char="–"/>
            </a:pPr>
            <a:r>
              <a:rPr lang="en" sz="1928" b="0" i="0" u="none" strike="noStrike" cap="none">
                <a:solidFill>
                  <a:srgbClr val="7030A0"/>
                </a:solidFill>
                <a:latin typeface="Century Gothic"/>
                <a:ea typeface="Century Gothic"/>
                <a:cs typeface="Century Gothic"/>
                <a:sym typeface="Century Gothic"/>
              </a:rPr>
              <a:t>It can be easily changed</a:t>
            </a:r>
            <a:endParaRPr sz="1928" b="0" i="0" u="none" strike="noStrike" cap="none">
              <a:solidFill>
                <a:srgbClr val="E46C0A"/>
              </a:solidFill>
              <a:latin typeface="Arial"/>
              <a:ea typeface="Arial"/>
              <a:cs typeface="Arial"/>
              <a:sym typeface="Arial"/>
            </a:endParaRPr>
          </a:p>
          <a:p>
            <a:pPr marL="343080" marR="0" lvl="0" indent="-317320" algn="l" rtl="0">
              <a:lnSpc>
                <a:spcPct val="100000"/>
              </a:lnSpc>
              <a:spcBef>
                <a:spcPts val="561"/>
              </a:spcBef>
              <a:spcAft>
                <a:spcPts val="0"/>
              </a:spcAft>
              <a:buClr>
                <a:srgbClr val="003300"/>
              </a:buClr>
              <a:buSzPts val="2316"/>
              <a:buFont typeface="Arial"/>
              <a:buChar char="•"/>
            </a:pPr>
            <a:r>
              <a:rPr lang="en" sz="2316" b="0" strike="noStrike">
                <a:solidFill>
                  <a:srgbClr val="003300"/>
                </a:solidFill>
                <a:latin typeface="Candara"/>
                <a:ea typeface="Candara"/>
                <a:cs typeface="Candara"/>
                <a:sym typeface="Candara"/>
              </a:rPr>
              <a:t>Reusability</a:t>
            </a:r>
            <a:endParaRPr sz="2316" b="0" strike="noStrike">
              <a:solidFill>
                <a:srgbClr val="003300"/>
              </a:solidFill>
              <a:latin typeface="Candara"/>
              <a:ea typeface="Candara"/>
              <a:cs typeface="Candara"/>
              <a:sym typeface="Candara"/>
            </a:endParaRPr>
          </a:p>
          <a:p>
            <a:pPr marL="743040" marR="0" lvl="1" indent="-260080" algn="l" rtl="0">
              <a:lnSpc>
                <a:spcPct val="100000"/>
              </a:lnSpc>
              <a:spcBef>
                <a:spcPts val="479"/>
              </a:spcBef>
              <a:spcAft>
                <a:spcPts val="0"/>
              </a:spcAft>
              <a:buClr>
                <a:srgbClr val="7030A0"/>
              </a:buClr>
              <a:buSzPts val="1928"/>
              <a:buFont typeface="Arial"/>
              <a:buChar char="–"/>
            </a:pPr>
            <a:r>
              <a:rPr lang="en" sz="1928" b="0" i="0" u="none" strike="noStrike" cap="none">
                <a:solidFill>
                  <a:srgbClr val="7030A0"/>
                </a:solidFill>
                <a:latin typeface="Century Gothic"/>
                <a:ea typeface="Century Gothic"/>
                <a:cs typeface="Century Gothic"/>
                <a:sym typeface="Century Gothic"/>
              </a:rPr>
              <a:t>Its parts can be used in other projects, so reprogramming is not needed</a:t>
            </a:r>
            <a:endParaRPr sz="1928" b="0" i="0" u="none" strike="noStrike" cap="none">
              <a:solidFill>
                <a:srgbClr val="E46C0A"/>
              </a:solidFill>
              <a:latin typeface="Arial"/>
              <a:ea typeface="Arial"/>
              <a:cs typeface="Arial"/>
              <a:sym typeface="Arial"/>
            </a:endParaRPr>
          </a:p>
          <a:p>
            <a:pPr marL="0" marR="0" lvl="0" indent="0" algn="l" rtl="0">
              <a:lnSpc>
                <a:spcPct val="100000"/>
              </a:lnSpc>
              <a:spcBef>
                <a:spcPts val="561"/>
              </a:spcBef>
              <a:spcAft>
                <a:spcPts val="0"/>
              </a:spcAft>
              <a:buNone/>
            </a:pPr>
            <a:endParaRPr sz="1928" b="0" strike="noStrike">
              <a:solidFill>
                <a:srgbClr val="003300"/>
              </a:solidFill>
              <a:latin typeface="Candara"/>
              <a:ea typeface="Candara"/>
              <a:cs typeface="Candara"/>
              <a:sym typeface="Candar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65"/>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b="0" strike="noStrike">
                <a:solidFill>
                  <a:srgbClr val="0070C0"/>
                </a:solidFill>
                <a:latin typeface="Comic Sans MS"/>
                <a:ea typeface="Comic Sans MS"/>
                <a:cs typeface="Comic Sans MS"/>
                <a:sym typeface="Comic Sans MS"/>
              </a:rPr>
              <a:t>Quiz - II</a:t>
            </a:r>
            <a:endParaRPr sz="3600" b="0" strike="noStrike">
              <a:solidFill>
                <a:srgbClr val="000000"/>
              </a:solidFill>
              <a:latin typeface="Calibri"/>
              <a:ea typeface="Calibri"/>
              <a:cs typeface="Calibri"/>
              <a:sym typeface="Calibri"/>
            </a:endParaRPr>
          </a:p>
        </p:txBody>
      </p:sp>
      <p:sp>
        <p:nvSpPr>
          <p:cNvPr id="366" name="Google Shape;366;p65"/>
          <p:cNvSpPr txBox="1"/>
          <p:nvPr/>
        </p:nvSpPr>
        <p:spPr>
          <a:xfrm>
            <a:off x="228600" y="685800"/>
            <a:ext cx="8686440" cy="3908520"/>
          </a:xfrm>
          <a:prstGeom prst="rect">
            <a:avLst/>
          </a:prstGeom>
          <a:noFill/>
          <a:ln>
            <a:noFill/>
          </a:ln>
        </p:spPr>
        <p:txBody>
          <a:bodyPr spcFirstLastPara="1" wrap="square" lIns="91425" tIns="45700" rIns="91425" bIns="45700" anchor="t" anchorCtr="0">
            <a:normAutofit/>
          </a:bodyPr>
          <a:lstStyle/>
          <a:p>
            <a:pPr marL="343080" marR="0" lvl="0" indent="-342720" algn="l" rtl="0">
              <a:lnSpc>
                <a:spcPct val="100000"/>
              </a:lnSpc>
              <a:spcBef>
                <a:spcPts val="0"/>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Find most and the least important attributes for each of the following systems.</a:t>
            </a:r>
            <a:endParaRPr sz="2800" b="0" strike="noStrike">
              <a:solidFill>
                <a:srgbClr val="003300"/>
              </a:solidFill>
              <a:latin typeface="Candara"/>
              <a:ea typeface="Candara"/>
              <a:cs typeface="Candara"/>
              <a:sym typeface="Candara"/>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A web-based banking system, enabling the user to do all aspects of banking on-line.</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An air traffic control system.</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A program that will enable users to view digital images or movies stored in all known formats.</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A system to manage the work schedule of nurses that respects all the constraints and regulations in force at a particular hospital.</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An application that allows you to purchase any item seen while watching TV. </a:t>
            </a:r>
            <a:endParaRPr sz="2400" b="0" i="0" u="none" strike="noStrike" cap="none">
              <a:solidFill>
                <a:srgbClr val="E46C0A"/>
              </a:solidFill>
              <a:latin typeface="Arial"/>
              <a:ea typeface="Arial"/>
              <a:cs typeface="Arial"/>
              <a:sym typeface="Arial"/>
            </a:endParaRPr>
          </a:p>
          <a:p>
            <a:pPr marL="0" marR="0" lvl="0" indent="0" algn="l" rtl="0">
              <a:lnSpc>
                <a:spcPct val="100000"/>
              </a:lnSpc>
              <a:spcBef>
                <a:spcPts val="561"/>
              </a:spcBef>
              <a:spcAft>
                <a:spcPts val="0"/>
              </a:spcAft>
              <a:buNone/>
            </a:pPr>
            <a:endParaRPr sz="2400" b="0" strike="noStrike">
              <a:solidFill>
                <a:srgbClr val="003300"/>
              </a:solidFill>
              <a:latin typeface="Candara"/>
              <a:ea typeface="Candara"/>
              <a:cs typeface="Candara"/>
              <a:sym typeface="Candara"/>
            </a:endParaRPr>
          </a:p>
        </p:txBody>
      </p:sp>
      <p:sp>
        <p:nvSpPr>
          <p:cNvPr id="367" name="Google Shape;367;p65"/>
          <p:cNvSpPr/>
          <p:nvPr/>
        </p:nvSpPr>
        <p:spPr>
          <a:xfrm>
            <a:off x="380880" y="4454460"/>
            <a:ext cx="8534160" cy="61587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 sz="2400" b="0" strike="noStrike">
                <a:solidFill>
                  <a:srgbClr val="000000"/>
                </a:solidFill>
                <a:latin typeface="Calibri"/>
                <a:ea typeface="Calibri"/>
                <a:cs typeface="Calibri"/>
                <a:sym typeface="Calibri"/>
              </a:rPr>
              <a:t>a - rel, eff, b- rel, reusa, c- usa, eff, d- maint, reusa , e- maint, eff </a:t>
            </a:r>
            <a:endParaRPr sz="2400" b="0" strike="noStrike">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6"/>
          <p:cNvSpPr txBox="1"/>
          <p:nvPr/>
        </p:nvSpPr>
        <p:spPr>
          <a:xfrm>
            <a:off x="457200" y="114210"/>
            <a:ext cx="8229240" cy="59373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None/>
            </a:pPr>
            <a:r>
              <a:rPr lang="en" sz="3600" b="0" strike="noStrike">
                <a:solidFill>
                  <a:srgbClr val="0070C0"/>
                </a:solidFill>
                <a:latin typeface="Comic Sans MS"/>
                <a:ea typeface="Comic Sans MS"/>
                <a:cs typeface="Comic Sans MS"/>
                <a:sym typeface="Comic Sans MS"/>
              </a:rPr>
              <a:t>Software Quality and the Stakeholders</a:t>
            </a:r>
            <a:endParaRPr sz="3600" b="0" strike="noStrike">
              <a:solidFill>
                <a:srgbClr val="000000"/>
              </a:solidFill>
              <a:latin typeface="Calibri"/>
              <a:ea typeface="Calibri"/>
              <a:cs typeface="Calibri"/>
              <a:sym typeface="Calibri"/>
            </a:endParaRPr>
          </a:p>
        </p:txBody>
      </p:sp>
      <p:sp>
        <p:nvSpPr>
          <p:cNvPr id="374" name="Google Shape;374;p66"/>
          <p:cNvSpPr/>
          <p:nvPr/>
        </p:nvSpPr>
        <p:spPr>
          <a:xfrm>
            <a:off x="3200400" y="1943190"/>
            <a:ext cx="2285640" cy="97119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 sz="2800" b="0" strike="noStrike">
                <a:solidFill>
                  <a:srgbClr val="FFFFFF"/>
                </a:solidFill>
                <a:latin typeface="Calibri"/>
                <a:ea typeface="Calibri"/>
                <a:cs typeface="Calibri"/>
                <a:sym typeface="Calibri"/>
              </a:rPr>
              <a:t>Quality Software</a:t>
            </a:r>
            <a:endParaRPr sz="2800" b="0" strike="noStrike">
              <a:latin typeface="Arial"/>
              <a:ea typeface="Arial"/>
              <a:cs typeface="Arial"/>
              <a:sym typeface="Arial"/>
            </a:endParaRPr>
          </a:p>
        </p:txBody>
      </p:sp>
      <p:sp>
        <p:nvSpPr>
          <p:cNvPr id="375" name="Google Shape;375;p66"/>
          <p:cNvSpPr/>
          <p:nvPr/>
        </p:nvSpPr>
        <p:spPr>
          <a:xfrm>
            <a:off x="76320" y="628560"/>
            <a:ext cx="3733560" cy="143937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 sz="2400" b="1" strike="noStrike">
                <a:solidFill>
                  <a:srgbClr val="000000"/>
                </a:solidFill>
                <a:latin typeface="Calibri"/>
                <a:ea typeface="Calibri"/>
                <a:cs typeface="Calibri"/>
                <a:sym typeface="Calibri"/>
              </a:rPr>
              <a:t>Customer:</a:t>
            </a:r>
            <a:endParaRPr sz="2400" b="0" strike="noStrike">
              <a:latin typeface="Arial"/>
              <a:ea typeface="Arial"/>
              <a:cs typeface="Arial"/>
              <a:sym typeface="Arial"/>
            </a:endParaRPr>
          </a:p>
          <a:p>
            <a:pPr marL="0" marR="0" lvl="0" indent="0" algn="l" rtl="0">
              <a:lnSpc>
                <a:spcPct val="100000"/>
              </a:lnSpc>
              <a:spcBef>
                <a:spcPts val="0"/>
              </a:spcBef>
              <a:spcAft>
                <a:spcPts val="0"/>
              </a:spcAft>
              <a:buNone/>
            </a:pPr>
            <a:r>
              <a:rPr lang="en" sz="2400" b="0" strike="noStrike">
                <a:solidFill>
                  <a:srgbClr val="000000"/>
                </a:solidFill>
                <a:latin typeface="Calibri"/>
                <a:ea typeface="Calibri"/>
                <a:cs typeface="Calibri"/>
                <a:sym typeface="Calibri"/>
              </a:rPr>
              <a:t>solves problems at an acceptable cost in terms of money paid and resources used</a:t>
            </a:r>
            <a:endParaRPr sz="2400" b="0" strike="noStrike">
              <a:latin typeface="Arial"/>
              <a:ea typeface="Arial"/>
              <a:cs typeface="Arial"/>
              <a:sym typeface="Arial"/>
            </a:endParaRPr>
          </a:p>
        </p:txBody>
      </p:sp>
      <p:sp>
        <p:nvSpPr>
          <p:cNvPr id="376" name="Google Shape;376;p66"/>
          <p:cNvSpPr/>
          <p:nvPr/>
        </p:nvSpPr>
        <p:spPr>
          <a:xfrm>
            <a:off x="5715000" y="800010"/>
            <a:ext cx="2971440" cy="143883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 sz="2400" b="1" strike="noStrike">
                <a:solidFill>
                  <a:srgbClr val="000000"/>
                </a:solidFill>
                <a:latin typeface="Calibri"/>
                <a:ea typeface="Calibri"/>
                <a:cs typeface="Calibri"/>
                <a:sym typeface="Calibri"/>
              </a:rPr>
              <a:t>User: </a:t>
            </a:r>
            <a:endParaRPr sz="2400" b="0" strike="noStrike">
              <a:latin typeface="Arial"/>
              <a:ea typeface="Arial"/>
              <a:cs typeface="Arial"/>
              <a:sym typeface="Arial"/>
            </a:endParaRPr>
          </a:p>
          <a:p>
            <a:pPr marL="0" marR="0" lvl="0" indent="0" algn="l" rtl="0">
              <a:lnSpc>
                <a:spcPct val="100000"/>
              </a:lnSpc>
              <a:spcBef>
                <a:spcPts val="0"/>
              </a:spcBef>
              <a:spcAft>
                <a:spcPts val="0"/>
              </a:spcAft>
              <a:buNone/>
            </a:pPr>
            <a:r>
              <a:rPr lang="en" sz="2400" b="0" strike="noStrike">
                <a:solidFill>
                  <a:srgbClr val="000000"/>
                </a:solidFill>
                <a:latin typeface="Calibri"/>
                <a:ea typeface="Calibri"/>
                <a:cs typeface="Calibri"/>
                <a:sym typeface="Calibri"/>
              </a:rPr>
              <a:t>easy to learn; </a:t>
            </a:r>
            <a:endParaRPr sz="2400" b="0" strike="noStrike">
              <a:latin typeface="Arial"/>
              <a:ea typeface="Arial"/>
              <a:cs typeface="Arial"/>
              <a:sym typeface="Arial"/>
            </a:endParaRPr>
          </a:p>
          <a:p>
            <a:pPr marL="0" marR="0" lvl="0" indent="0" algn="l" rtl="0">
              <a:lnSpc>
                <a:spcPct val="100000"/>
              </a:lnSpc>
              <a:spcBef>
                <a:spcPts val="0"/>
              </a:spcBef>
              <a:spcAft>
                <a:spcPts val="0"/>
              </a:spcAft>
              <a:buNone/>
            </a:pPr>
            <a:r>
              <a:rPr lang="en" sz="2400" b="0" strike="noStrike">
                <a:solidFill>
                  <a:srgbClr val="000000"/>
                </a:solidFill>
                <a:latin typeface="Calibri"/>
                <a:ea typeface="Calibri"/>
                <a:cs typeface="Calibri"/>
                <a:sym typeface="Calibri"/>
              </a:rPr>
              <a:t>efficient to use; </a:t>
            </a:r>
            <a:endParaRPr sz="2400" b="0" strike="noStrike">
              <a:latin typeface="Arial"/>
              <a:ea typeface="Arial"/>
              <a:cs typeface="Arial"/>
              <a:sym typeface="Arial"/>
            </a:endParaRPr>
          </a:p>
          <a:p>
            <a:pPr marL="0" marR="0" lvl="0" indent="0" algn="l" rtl="0">
              <a:lnSpc>
                <a:spcPct val="100000"/>
              </a:lnSpc>
              <a:spcBef>
                <a:spcPts val="0"/>
              </a:spcBef>
              <a:spcAft>
                <a:spcPts val="0"/>
              </a:spcAft>
              <a:buNone/>
            </a:pPr>
            <a:r>
              <a:rPr lang="en" sz="2400" b="0" strike="noStrike">
                <a:solidFill>
                  <a:srgbClr val="000000"/>
                </a:solidFill>
                <a:latin typeface="Calibri"/>
                <a:ea typeface="Calibri"/>
                <a:cs typeface="Calibri"/>
                <a:sym typeface="Calibri"/>
              </a:rPr>
              <a:t>helps get work done</a:t>
            </a:r>
            <a:endParaRPr sz="2400" b="0" strike="noStrike">
              <a:latin typeface="Arial"/>
              <a:ea typeface="Arial"/>
              <a:cs typeface="Arial"/>
              <a:sym typeface="Arial"/>
            </a:endParaRPr>
          </a:p>
        </p:txBody>
      </p:sp>
      <p:sp>
        <p:nvSpPr>
          <p:cNvPr id="377" name="Google Shape;377;p66"/>
          <p:cNvSpPr/>
          <p:nvPr/>
        </p:nvSpPr>
        <p:spPr>
          <a:xfrm>
            <a:off x="228600" y="2800440"/>
            <a:ext cx="3962160" cy="143937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 sz="2400" b="1" strike="noStrike">
                <a:solidFill>
                  <a:srgbClr val="000000"/>
                </a:solidFill>
                <a:latin typeface="Calibri"/>
                <a:ea typeface="Calibri"/>
                <a:cs typeface="Calibri"/>
                <a:sym typeface="Calibri"/>
              </a:rPr>
              <a:t>Developer:</a:t>
            </a:r>
            <a:endParaRPr sz="2400" b="0" strike="noStrike">
              <a:latin typeface="Arial"/>
              <a:ea typeface="Arial"/>
              <a:cs typeface="Arial"/>
              <a:sym typeface="Arial"/>
            </a:endParaRPr>
          </a:p>
          <a:p>
            <a:pPr marL="0" marR="0" lvl="0" indent="0" algn="l" rtl="0">
              <a:lnSpc>
                <a:spcPct val="100000"/>
              </a:lnSpc>
              <a:spcBef>
                <a:spcPts val="0"/>
              </a:spcBef>
              <a:spcAft>
                <a:spcPts val="0"/>
              </a:spcAft>
              <a:buNone/>
            </a:pPr>
            <a:r>
              <a:rPr lang="en" sz="2400" b="0" strike="noStrike">
                <a:solidFill>
                  <a:srgbClr val="000000"/>
                </a:solidFill>
                <a:latin typeface="Calibri"/>
                <a:ea typeface="Calibri"/>
                <a:cs typeface="Calibri"/>
                <a:sym typeface="Calibri"/>
              </a:rPr>
              <a:t>easy to maintain; </a:t>
            </a:r>
            <a:endParaRPr sz="2400" b="0" strike="noStrike">
              <a:latin typeface="Arial"/>
              <a:ea typeface="Arial"/>
              <a:cs typeface="Arial"/>
              <a:sym typeface="Arial"/>
            </a:endParaRPr>
          </a:p>
          <a:p>
            <a:pPr marL="0" marR="0" lvl="0" indent="0" algn="l" rtl="0">
              <a:lnSpc>
                <a:spcPct val="100000"/>
              </a:lnSpc>
              <a:spcBef>
                <a:spcPts val="0"/>
              </a:spcBef>
              <a:spcAft>
                <a:spcPts val="0"/>
              </a:spcAft>
              <a:buNone/>
            </a:pPr>
            <a:r>
              <a:rPr lang="en" sz="2400" b="0" strike="noStrike">
                <a:solidFill>
                  <a:srgbClr val="000000"/>
                </a:solidFill>
                <a:latin typeface="Calibri"/>
                <a:ea typeface="Calibri"/>
                <a:cs typeface="Calibri"/>
                <a:sym typeface="Calibri"/>
              </a:rPr>
              <a:t>easy to design; </a:t>
            </a:r>
            <a:endParaRPr sz="2400" b="0" strike="noStrike">
              <a:latin typeface="Arial"/>
              <a:ea typeface="Arial"/>
              <a:cs typeface="Arial"/>
              <a:sym typeface="Arial"/>
            </a:endParaRPr>
          </a:p>
          <a:p>
            <a:pPr marL="0" marR="0" lvl="0" indent="0" algn="l" rtl="0">
              <a:lnSpc>
                <a:spcPct val="100000"/>
              </a:lnSpc>
              <a:spcBef>
                <a:spcPts val="0"/>
              </a:spcBef>
              <a:spcAft>
                <a:spcPts val="0"/>
              </a:spcAft>
              <a:buNone/>
            </a:pPr>
            <a:r>
              <a:rPr lang="en" sz="2400" b="0" strike="noStrike">
                <a:solidFill>
                  <a:srgbClr val="000000"/>
                </a:solidFill>
                <a:latin typeface="Calibri"/>
                <a:ea typeface="Calibri"/>
                <a:cs typeface="Calibri"/>
                <a:sym typeface="Calibri"/>
              </a:rPr>
              <a:t>easy to reuse its parts</a:t>
            </a:r>
            <a:endParaRPr sz="2400" b="0" strike="noStrike">
              <a:latin typeface="Arial"/>
              <a:ea typeface="Arial"/>
              <a:cs typeface="Arial"/>
              <a:sym typeface="Arial"/>
            </a:endParaRPr>
          </a:p>
          <a:p>
            <a:pPr marL="0" marR="0" lvl="0" indent="0" algn="l" rtl="0">
              <a:lnSpc>
                <a:spcPct val="100000"/>
              </a:lnSpc>
              <a:spcBef>
                <a:spcPts val="0"/>
              </a:spcBef>
              <a:spcAft>
                <a:spcPts val="0"/>
              </a:spcAft>
              <a:buNone/>
            </a:pPr>
            <a:endParaRPr sz="2400" b="0" strike="noStrike">
              <a:latin typeface="Arial"/>
              <a:ea typeface="Arial"/>
              <a:cs typeface="Arial"/>
              <a:sym typeface="Arial"/>
            </a:endParaRPr>
          </a:p>
        </p:txBody>
      </p:sp>
      <p:sp>
        <p:nvSpPr>
          <p:cNvPr id="378" name="Google Shape;378;p66"/>
          <p:cNvSpPr/>
          <p:nvPr/>
        </p:nvSpPr>
        <p:spPr>
          <a:xfrm>
            <a:off x="5715000" y="2971890"/>
            <a:ext cx="3428640" cy="226179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 sz="2400" b="1" strike="noStrike">
                <a:solidFill>
                  <a:srgbClr val="000000"/>
                </a:solidFill>
                <a:latin typeface="Calibri"/>
                <a:ea typeface="Calibri"/>
                <a:cs typeface="Calibri"/>
                <a:sym typeface="Calibri"/>
              </a:rPr>
              <a:t>Development manager:</a:t>
            </a:r>
            <a:endParaRPr sz="2400" b="0" strike="noStrike">
              <a:latin typeface="Arial"/>
              <a:ea typeface="Arial"/>
              <a:cs typeface="Arial"/>
              <a:sym typeface="Arial"/>
            </a:endParaRPr>
          </a:p>
          <a:p>
            <a:pPr marL="0" marR="0" lvl="0" indent="0" algn="l" rtl="0">
              <a:lnSpc>
                <a:spcPct val="100000"/>
              </a:lnSpc>
              <a:spcBef>
                <a:spcPts val="0"/>
              </a:spcBef>
              <a:spcAft>
                <a:spcPts val="0"/>
              </a:spcAft>
              <a:buNone/>
            </a:pPr>
            <a:r>
              <a:rPr lang="en" sz="2400" b="0" strike="noStrike">
                <a:solidFill>
                  <a:srgbClr val="000000"/>
                </a:solidFill>
                <a:latin typeface="Calibri"/>
                <a:ea typeface="Calibri"/>
                <a:cs typeface="Calibri"/>
                <a:sym typeface="Calibri"/>
              </a:rPr>
              <a:t>pleases customers </a:t>
            </a:r>
            <a:endParaRPr sz="2400" b="0" strike="noStrike">
              <a:latin typeface="Arial"/>
              <a:ea typeface="Arial"/>
              <a:cs typeface="Arial"/>
              <a:sym typeface="Arial"/>
            </a:endParaRPr>
          </a:p>
          <a:p>
            <a:pPr marL="0" marR="0" lvl="0" indent="0" algn="l" rtl="0">
              <a:lnSpc>
                <a:spcPct val="100000"/>
              </a:lnSpc>
              <a:spcBef>
                <a:spcPts val="0"/>
              </a:spcBef>
              <a:spcAft>
                <a:spcPts val="0"/>
              </a:spcAft>
              <a:buNone/>
            </a:pPr>
            <a:r>
              <a:rPr lang="en" sz="2400" b="0" strike="noStrike">
                <a:solidFill>
                  <a:srgbClr val="000000"/>
                </a:solidFill>
                <a:latin typeface="Calibri"/>
                <a:ea typeface="Calibri"/>
                <a:cs typeface="Calibri"/>
                <a:sym typeface="Calibri"/>
              </a:rPr>
              <a:t>sells more and costing less to develop and maintain</a:t>
            </a:r>
            <a:endParaRPr sz="2400" b="0" strike="noStrike">
              <a:latin typeface="Arial"/>
              <a:ea typeface="Arial"/>
              <a:cs typeface="Arial"/>
              <a:sym typeface="Arial"/>
            </a:endParaRPr>
          </a:p>
          <a:p>
            <a:pPr marL="0" marR="0" lvl="0" indent="0" algn="l" rtl="0">
              <a:lnSpc>
                <a:spcPct val="100000"/>
              </a:lnSpc>
              <a:spcBef>
                <a:spcPts val="0"/>
              </a:spcBef>
              <a:spcAft>
                <a:spcPts val="0"/>
              </a:spcAft>
              <a:buNone/>
            </a:pPr>
            <a:endParaRPr sz="2400" b="0" strike="noStrike">
              <a:latin typeface="Arial"/>
              <a:ea typeface="Arial"/>
              <a:cs typeface="Arial"/>
              <a:sym typeface="Arial"/>
            </a:endParaRPr>
          </a:p>
        </p:txBody>
      </p:sp>
      <p:sp>
        <p:nvSpPr>
          <p:cNvPr id="379" name="Google Shape;379;p66"/>
          <p:cNvSpPr/>
          <p:nvPr/>
        </p:nvSpPr>
        <p:spPr>
          <a:xfrm rot="-2048596">
            <a:off x="2792449" y="1745864"/>
            <a:ext cx="614303" cy="464583"/>
          </a:xfrm>
          <a:prstGeom prst="up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66"/>
          <p:cNvSpPr/>
          <p:nvPr/>
        </p:nvSpPr>
        <p:spPr>
          <a:xfrm rot="-8101256">
            <a:off x="2718763" y="2515678"/>
            <a:ext cx="581675" cy="489333"/>
          </a:xfrm>
          <a:prstGeom prst="up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66"/>
          <p:cNvSpPr/>
          <p:nvPr/>
        </p:nvSpPr>
        <p:spPr>
          <a:xfrm rot="1809193">
            <a:off x="5135971" y="1662097"/>
            <a:ext cx="626699" cy="454455"/>
          </a:xfrm>
          <a:prstGeom prst="up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66"/>
          <p:cNvSpPr/>
          <p:nvPr/>
        </p:nvSpPr>
        <p:spPr>
          <a:xfrm rot="7822035">
            <a:off x="5382294" y="2512538"/>
            <a:ext cx="568932" cy="498315"/>
          </a:xfrm>
          <a:prstGeom prst="up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67"/>
          <p:cNvSpPr txBox="1"/>
          <p:nvPr/>
        </p:nvSpPr>
        <p:spPr>
          <a:xfrm>
            <a:off x="457200" y="114210"/>
            <a:ext cx="8229240" cy="59373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None/>
            </a:pPr>
            <a:r>
              <a:rPr lang="en" sz="3600" b="0" strike="noStrike">
                <a:solidFill>
                  <a:srgbClr val="0070C0"/>
                </a:solidFill>
                <a:latin typeface="Comic Sans MS"/>
                <a:ea typeface="Comic Sans MS"/>
                <a:cs typeface="Comic Sans MS"/>
                <a:sym typeface="Comic Sans MS"/>
              </a:rPr>
              <a:t>Software Quality: Conflicts and Objectives</a:t>
            </a:r>
            <a:endParaRPr sz="3600" b="0" strike="noStrike">
              <a:solidFill>
                <a:srgbClr val="000000"/>
              </a:solidFill>
              <a:latin typeface="Calibri"/>
              <a:ea typeface="Calibri"/>
              <a:cs typeface="Calibri"/>
              <a:sym typeface="Calibri"/>
            </a:endParaRPr>
          </a:p>
        </p:txBody>
      </p:sp>
      <p:sp>
        <p:nvSpPr>
          <p:cNvPr id="388" name="Google Shape;388;p67"/>
          <p:cNvSpPr txBox="1"/>
          <p:nvPr/>
        </p:nvSpPr>
        <p:spPr>
          <a:xfrm>
            <a:off x="228600" y="777600"/>
            <a:ext cx="8686440" cy="3908520"/>
          </a:xfrm>
          <a:prstGeom prst="rect">
            <a:avLst/>
          </a:prstGeom>
          <a:noFill/>
          <a:ln>
            <a:noFill/>
          </a:ln>
        </p:spPr>
        <p:txBody>
          <a:bodyPr spcFirstLastPara="1" wrap="square" lIns="91425" tIns="45700" rIns="91425" bIns="45700" anchor="t" anchorCtr="0">
            <a:normAutofit/>
          </a:bodyPr>
          <a:lstStyle/>
          <a:p>
            <a:pPr marL="343080" marR="0" lvl="0" indent="-342720" algn="l" rtl="0">
              <a:lnSpc>
                <a:spcPct val="100000"/>
              </a:lnSpc>
              <a:spcBef>
                <a:spcPts val="0"/>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The different qualities can conflict</a:t>
            </a:r>
            <a:endParaRPr sz="2800" b="0" strike="noStrike">
              <a:solidFill>
                <a:srgbClr val="003300"/>
              </a:solidFill>
              <a:latin typeface="Candara"/>
              <a:ea typeface="Candara"/>
              <a:cs typeface="Candara"/>
              <a:sym typeface="Candara"/>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Increasing efficiency can reduce maintainability or reusability</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Increasing usability can reduce efficiency</a:t>
            </a:r>
            <a:endParaRPr sz="2400" b="0" i="0" u="none" strike="noStrike" cap="none">
              <a:solidFill>
                <a:srgbClr val="E46C0A"/>
              </a:solidFill>
              <a:latin typeface="Arial"/>
              <a:ea typeface="Arial"/>
              <a:cs typeface="Arial"/>
              <a:sym typeface="Arial"/>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Setting objectives for quality is a key engineering activity</a:t>
            </a:r>
            <a:endParaRPr sz="2800" b="0" strike="noStrike">
              <a:solidFill>
                <a:srgbClr val="003300"/>
              </a:solidFill>
              <a:latin typeface="Candara"/>
              <a:ea typeface="Candara"/>
              <a:cs typeface="Candara"/>
              <a:sym typeface="Candara"/>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You then design to meet the objectives</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Avoids ‘over-engineering’ which wastes money</a:t>
            </a:r>
            <a:endParaRPr sz="2400" b="0" i="0" u="none" strike="noStrike" cap="none">
              <a:solidFill>
                <a:srgbClr val="E46C0A"/>
              </a:solidFill>
              <a:latin typeface="Arial"/>
              <a:ea typeface="Arial"/>
              <a:cs typeface="Arial"/>
              <a:sym typeface="Arial"/>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Optimizing is also sometimes necessary</a:t>
            </a:r>
            <a:endParaRPr sz="2800" b="0" strike="noStrike">
              <a:solidFill>
                <a:srgbClr val="003300"/>
              </a:solidFill>
              <a:latin typeface="Candara"/>
              <a:ea typeface="Candara"/>
              <a:cs typeface="Candara"/>
              <a:sym typeface="Candara"/>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e.g. obtain the highest possible reliability using a fixed budget</a:t>
            </a:r>
            <a:endParaRPr sz="2400" b="0" i="0" u="none" strike="noStrike" cap="none">
              <a:solidFill>
                <a:srgbClr val="E46C0A"/>
              </a:solidFill>
              <a:latin typeface="Arial"/>
              <a:ea typeface="Arial"/>
              <a:cs typeface="Arial"/>
              <a:sym typeface="Arial"/>
            </a:endParaRPr>
          </a:p>
          <a:p>
            <a:pPr marL="0" marR="0" lvl="0" indent="0" algn="l" rtl="0">
              <a:lnSpc>
                <a:spcPct val="100000"/>
              </a:lnSpc>
              <a:spcBef>
                <a:spcPts val="561"/>
              </a:spcBef>
              <a:spcAft>
                <a:spcPts val="0"/>
              </a:spcAft>
              <a:buNone/>
            </a:pPr>
            <a:endParaRPr sz="2400" b="0" strike="noStrike">
              <a:solidFill>
                <a:srgbClr val="003300"/>
              </a:solidFill>
              <a:latin typeface="Candara"/>
              <a:ea typeface="Candara"/>
              <a:cs typeface="Candara"/>
              <a:sym typeface="Candar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68"/>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b="0" strike="noStrike">
                <a:solidFill>
                  <a:srgbClr val="0070C0"/>
                </a:solidFill>
                <a:latin typeface="Comic Sans MS"/>
                <a:ea typeface="Comic Sans MS"/>
                <a:cs typeface="Comic Sans MS"/>
                <a:sym typeface="Comic Sans MS"/>
              </a:rPr>
              <a:t>Quiz- III</a:t>
            </a:r>
            <a:endParaRPr sz="3600" b="0" strike="noStrike">
              <a:solidFill>
                <a:srgbClr val="000000"/>
              </a:solidFill>
              <a:latin typeface="Calibri"/>
              <a:ea typeface="Calibri"/>
              <a:cs typeface="Calibri"/>
              <a:sym typeface="Calibri"/>
            </a:endParaRPr>
          </a:p>
        </p:txBody>
      </p:sp>
      <p:sp>
        <p:nvSpPr>
          <p:cNvPr id="394" name="Google Shape;394;p68"/>
          <p:cNvSpPr txBox="1"/>
          <p:nvPr/>
        </p:nvSpPr>
        <p:spPr>
          <a:xfrm>
            <a:off x="228600" y="685800"/>
            <a:ext cx="8686440" cy="3908520"/>
          </a:xfrm>
          <a:prstGeom prst="rect">
            <a:avLst/>
          </a:prstGeom>
          <a:noFill/>
          <a:ln>
            <a:noFill/>
          </a:ln>
        </p:spPr>
        <p:txBody>
          <a:bodyPr spcFirstLastPara="1" wrap="square" lIns="91425" tIns="45700" rIns="91425" bIns="45700" anchor="t" anchorCtr="0">
            <a:normAutofit fontScale="78000"/>
          </a:bodyPr>
          <a:lstStyle/>
          <a:p>
            <a:pPr marL="343080" marR="0" lvl="0" indent="-342720" algn="l" rtl="0">
              <a:lnSpc>
                <a:spcPct val="100000"/>
              </a:lnSpc>
              <a:spcBef>
                <a:spcPts val="0"/>
              </a:spcBef>
              <a:spcAft>
                <a:spcPts val="0"/>
              </a:spcAft>
              <a:buClr>
                <a:srgbClr val="003300"/>
              </a:buClr>
              <a:buSzPct val="100000"/>
              <a:buFont typeface="Arial"/>
              <a:buChar char="•"/>
            </a:pPr>
            <a:r>
              <a:rPr lang="en" sz="2800" b="0" strike="noStrike">
                <a:solidFill>
                  <a:srgbClr val="003300"/>
                </a:solidFill>
                <a:latin typeface="Candara"/>
                <a:ea typeface="Candara"/>
                <a:cs typeface="Candara"/>
                <a:sym typeface="Candara"/>
              </a:rPr>
              <a:t> How do you think each of the four types of stakeholders  would react in each of the following situations?</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B0F0"/>
              </a:buClr>
              <a:buSzPct val="100000"/>
              <a:buFont typeface="Arial"/>
              <a:buChar char="•"/>
            </a:pPr>
            <a:r>
              <a:rPr lang="en" sz="2800" b="0" strike="noStrike">
                <a:solidFill>
                  <a:srgbClr val="00B0F0"/>
                </a:solidFill>
                <a:latin typeface="Candara"/>
                <a:ea typeface="Candara"/>
                <a:cs typeface="Candara"/>
                <a:sym typeface="Candara"/>
              </a:rPr>
              <a:t>Problem</a:t>
            </a:r>
            <a:r>
              <a:rPr lang="en" sz="2800" b="0" strike="noStrike">
                <a:solidFill>
                  <a:srgbClr val="003300"/>
                </a:solidFill>
                <a:latin typeface="Candara"/>
                <a:ea typeface="Candara"/>
                <a:cs typeface="Candara"/>
                <a:sym typeface="Candara"/>
              </a:rPr>
              <a:t>: A new system that will completely automate the work of one individual in the customer’s company. </a:t>
            </a:r>
            <a:endParaRPr sz="2800" b="0" strike="noStrike">
              <a:solidFill>
                <a:srgbClr val="003300"/>
              </a:solidFill>
              <a:latin typeface="Candara"/>
              <a:ea typeface="Candara"/>
              <a:cs typeface="Candara"/>
              <a:sym typeface="Candara"/>
            </a:endParaRPr>
          </a:p>
          <a:p>
            <a:pPr marL="743040" marR="0" lvl="1" indent="-285480" algn="l" rtl="0">
              <a:lnSpc>
                <a:spcPct val="100000"/>
              </a:lnSpc>
              <a:spcBef>
                <a:spcPts val="479"/>
              </a:spcBef>
              <a:spcAft>
                <a:spcPts val="0"/>
              </a:spcAft>
              <a:buClr>
                <a:srgbClr val="FF0000"/>
              </a:buClr>
              <a:buSzPct val="100000"/>
              <a:buFont typeface="Arial"/>
              <a:buChar char="–"/>
            </a:pPr>
            <a:r>
              <a:rPr lang="en" sz="2400" b="0" i="0" u="none" strike="noStrike" cap="none">
                <a:solidFill>
                  <a:srgbClr val="FF0000"/>
                </a:solidFill>
                <a:latin typeface="Century Gothic"/>
                <a:ea typeface="Century Gothic"/>
                <a:cs typeface="Century Gothic"/>
                <a:sym typeface="Century Gothic"/>
              </a:rPr>
              <a:t>Case a:</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ct val="100000"/>
              <a:buFont typeface="Arial"/>
              <a:buChar char="–"/>
            </a:pPr>
            <a:r>
              <a:rPr lang="en" sz="2400" b="0" i="0" u="none" strike="noStrike" cap="none">
                <a:solidFill>
                  <a:srgbClr val="7030A0"/>
                </a:solidFill>
                <a:latin typeface="Century Gothic"/>
                <a:ea typeface="Century Gothic"/>
                <a:cs typeface="Century Gothic"/>
                <a:sym typeface="Century Gothic"/>
              </a:rPr>
              <a:t>You discover that the cost of developing the system would be far more than the cost of continuing to do the work manually, so you recommend against proceeding with the project.</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FF0000"/>
              </a:buClr>
              <a:buSzPct val="100000"/>
              <a:buFont typeface="Arial"/>
              <a:buChar char="–"/>
            </a:pPr>
            <a:r>
              <a:rPr lang="en" sz="2400" b="0" i="0" u="none" strike="noStrike" cap="none">
                <a:solidFill>
                  <a:srgbClr val="FF0000"/>
                </a:solidFill>
                <a:latin typeface="Century Gothic"/>
                <a:ea typeface="Century Gothic"/>
                <a:cs typeface="Century Gothic"/>
                <a:sym typeface="Century Gothic"/>
              </a:rPr>
              <a:t>Case b: </a:t>
            </a:r>
            <a:r>
              <a:rPr lang="en" sz="2400" b="0" i="0" u="none" strike="noStrike" cap="none">
                <a:solidFill>
                  <a:srgbClr val="7030A0"/>
                </a:solidFill>
                <a:latin typeface="Century Gothic"/>
                <a:ea typeface="Century Gothic"/>
                <a:cs typeface="Century Gothic"/>
                <a:sym typeface="Century Gothic"/>
              </a:rPr>
              <a:t>You implement a system according to the precise specifications of a customer. </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ct val="100000"/>
              <a:buFont typeface="Arial"/>
              <a:buChar char="–"/>
            </a:pPr>
            <a:r>
              <a:rPr lang="en" sz="2400" b="0" i="0" u="none" strike="noStrike" cap="none">
                <a:solidFill>
                  <a:srgbClr val="7030A0"/>
                </a:solidFill>
                <a:latin typeface="Century Gothic"/>
                <a:ea typeface="Century Gothic"/>
                <a:cs typeface="Century Gothic"/>
                <a:sym typeface="Century Gothic"/>
              </a:rPr>
              <a:t>However, when the software is put into use, the users find it does not solve their problem. </a:t>
            </a:r>
            <a:endParaRPr sz="2400" b="0" i="0" u="none" strike="noStrike" cap="none">
              <a:solidFill>
                <a:srgbClr val="E46C0A"/>
              </a:solidFill>
              <a:latin typeface="Arial"/>
              <a:ea typeface="Arial"/>
              <a:cs typeface="Arial"/>
              <a:sym typeface="Arial"/>
            </a:endParaRPr>
          </a:p>
          <a:p>
            <a:pPr marL="0" marR="0" lvl="0" indent="0" algn="l" rtl="0">
              <a:lnSpc>
                <a:spcPct val="100000"/>
              </a:lnSpc>
              <a:spcBef>
                <a:spcPts val="561"/>
              </a:spcBef>
              <a:spcAft>
                <a:spcPts val="0"/>
              </a:spcAft>
              <a:buNone/>
            </a:pPr>
            <a:endParaRPr sz="2400" b="0" strike="noStrike">
              <a:solidFill>
                <a:srgbClr val="003300"/>
              </a:solidFill>
              <a:latin typeface="Candara"/>
              <a:ea typeface="Candara"/>
              <a:cs typeface="Candara"/>
              <a:sym typeface="Candar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69"/>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b="0" strike="noStrike">
                <a:solidFill>
                  <a:srgbClr val="0070C0"/>
                </a:solidFill>
                <a:latin typeface="Comic Sans MS"/>
                <a:ea typeface="Comic Sans MS"/>
                <a:cs typeface="Comic Sans MS"/>
                <a:sym typeface="Comic Sans MS"/>
              </a:rPr>
              <a:t>Software Crisis</a:t>
            </a:r>
            <a:endParaRPr sz="3600" b="0" strike="noStrike">
              <a:solidFill>
                <a:srgbClr val="000000"/>
              </a:solidFill>
              <a:latin typeface="Calibri"/>
              <a:ea typeface="Calibri"/>
              <a:cs typeface="Calibri"/>
              <a:sym typeface="Calibri"/>
            </a:endParaRPr>
          </a:p>
        </p:txBody>
      </p:sp>
      <p:sp>
        <p:nvSpPr>
          <p:cNvPr id="400" name="Google Shape;400;p69"/>
          <p:cNvSpPr txBox="1"/>
          <p:nvPr/>
        </p:nvSpPr>
        <p:spPr>
          <a:xfrm>
            <a:off x="228600" y="685800"/>
            <a:ext cx="8686440" cy="3908520"/>
          </a:xfrm>
          <a:prstGeom prst="rect">
            <a:avLst/>
          </a:prstGeom>
          <a:noFill/>
          <a:ln>
            <a:noFill/>
          </a:ln>
        </p:spPr>
        <p:txBody>
          <a:bodyPr spcFirstLastPara="1" wrap="square" lIns="91425" tIns="45700" rIns="91425" bIns="45700" anchor="t" anchorCtr="0">
            <a:noAutofit/>
          </a:bodyPr>
          <a:lstStyle/>
          <a:p>
            <a:pPr marL="343080" marR="0" lvl="0" indent="-342720" algn="l" rtl="0">
              <a:lnSpc>
                <a:spcPct val="100000"/>
              </a:lnSpc>
              <a:spcBef>
                <a:spcPts val="0"/>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Software products:</a:t>
            </a:r>
            <a:endParaRPr sz="2800" b="0" strike="noStrike">
              <a:solidFill>
                <a:srgbClr val="003300"/>
              </a:solidFill>
              <a:latin typeface="Candara"/>
              <a:ea typeface="Candara"/>
              <a:cs typeface="Candara"/>
              <a:sym typeface="Candara"/>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fail to meet user requirements.</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frequently crash.</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expensive.</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difficult to alter, debug, and enhance.</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often delivered late.</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use resources non-optimally.</a:t>
            </a:r>
            <a:endParaRPr sz="2400" b="0" i="0" u="none" strike="noStrike" cap="none">
              <a:solidFill>
                <a:srgbClr val="E46C0A"/>
              </a:solidFill>
              <a:latin typeface="Arial"/>
              <a:ea typeface="Arial"/>
              <a:cs typeface="Arial"/>
              <a:sym typeface="Arial"/>
            </a:endParaRPr>
          </a:p>
          <a:p>
            <a:pPr marL="743040" marR="0" lvl="1" indent="-285480" algn="l" rtl="0">
              <a:lnSpc>
                <a:spcPct val="100000"/>
              </a:lnSpc>
              <a:spcBef>
                <a:spcPts val="479"/>
              </a:spcBef>
              <a:spcAft>
                <a:spcPts val="0"/>
              </a:spcAft>
              <a:buClr>
                <a:srgbClr val="7030A0"/>
              </a:buClr>
              <a:buSzPts val="2400"/>
              <a:buFont typeface="Arial"/>
              <a:buChar char="–"/>
            </a:pPr>
            <a:r>
              <a:rPr lang="en" sz="2400" b="0" i="0" u="none" strike="noStrike" cap="none">
                <a:solidFill>
                  <a:srgbClr val="7030A0"/>
                </a:solidFill>
                <a:latin typeface="Century Gothic"/>
                <a:ea typeface="Century Gothic"/>
                <a:cs typeface="Century Gothic"/>
                <a:sym typeface="Century Gothic"/>
              </a:rPr>
              <a:t>Relative Cost of Hardware and Software</a:t>
            </a:r>
            <a:endParaRPr sz="2400" b="0" i="0" u="none" strike="noStrike" cap="none">
              <a:solidFill>
                <a:srgbClr val="E46C0A"/>
              </a:solidFill>
              <a:latin typeface="Arial"/>
              <a:ea typeface="Arial"/>
              <a:cs typeface="Arial"/>
              <a:sym typeface="Arial"/>
            </a:endParaRPr>
          </a:p>
          <a:p>
            <a:pPr marL="0" marR="0" lvl="0" indent="0" algn="l" rtl="0">
              <a:spcBef>
                <a:spcPts val="0"/>
              </a:spcBef>
              <a:spcAft>
                <a:spcPts val="0"/>
              </a:spcAft>
              <a:buNone/>
            </a:pPr>
            <a:endParaRPr sz="2400" b="0" strike="noStrike">
              <a:solidFill>
                <a:srgbClr val="003300"/>
              </a:solidFill>
              <a:latin typeface="Candara"/>
              <a:ea typeface="Candara"/>
              <a:cs typeface="Candara"/>
              <a:sym typeface="Candara"/>
            </a:endParaRPr>
          </a:p>
          <a:p>
            <a:pPr marL="0" marR="0" lvl="0" indent="0" algn="l" rtl="0">
              <a:lnSpc>
                <a:spcPct val="100000"/>
              </a:lnSpc>
              <a:spcBef>
                <a:spcPts val="561"/>
              </a:spcBef>
              <a:spcAft>
                <a:spcPts val="0"/>
              </a:spcAft>
              <a:buNone/>
            </a:pPr>
            <a:endParaRPr sz="2400" b="0" strike="noStrike">
              <a:solidFill>
                <a:srgbClr val="003300"/>
              </a:solidFill>
              <a:latin typeface="Candara"/>
              <a:ea typeface="Candara"/>
              <a:cs typeface="Candara"/>
              <a:sym typeface="Candar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70"/>
          <p:cNvSpPr txBox="1"/>
          <p:nvPr/>
        </p:nvSpPr>
        <p:spPr>
          <a:xfrm>
            <a:off x="457200" y="11421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3600" b="0" strike="noStrike">
                <a:solidFill>
                  <a:srgbClr val="0000CC"/>
                </a:solidFill>
                <a:latin typeface="Comic Sans MS"/>
                <a:ea typeface="Comic Sans MS"/>
                <a:cs typeface="Comic Sans MS"/>
                <a:sym typeface="Comic Sans MS"/>
              </a:rPr>
              <a:t>Software Crisis</a:t>
            </a:r>
            <a:endParaRPr sz="3600" b="0" strike="noStrike">
              <a:solidFill>
                <a:srgbClr val="000000"/>
              </a:solidFill>
              <a:latin typeface="Calibri"/>
              <a:ea typeface="Calibri"/>
              <a:cs typeface="Calibri"/>
              <a:sym typeface="Calibri"/>
            </a:endParaRPr>
          </a:p>
        </p:txBody>
      </p:sp>
      <p:sp>
        <p:nvSpPr>
          <p:cNvPr id="406" name="Google Shape;406;p70"/>
          <p:cNvSpPr txBox="1"/>
          <p:nvPr/>
        </p:nvSpPr>
        <p:spPr>
          <a:xfrm>
            <a:off x="152280" y="3829140"/>
            <a:ext cx="8686440" cy="1028430"/>
          </a:xfrm>
          <a:prstGeom prst="rect">
            <a:avLst/>
          </a:prstGeom>
          <a:noFill/>
          <a:ln>
            <a:noFill/>
          </a:ln>
        </p:spPr>
        <p:txBody>
          <a:bodyPr spcFirstLastPara="1" wrap="square" lIns="91425" tIns="45700" rIns="91425" bIns="45700" anchor="t" anchorCtr="0">
            <a:noAutofit/>
          </a:bodyPr>
          <a:lstStyle/>
          <a:p>
            <a:pPr marL="343080" marR="0" lvl="0" indent="-342720" algn="l" rtl="0">
              <a:lnSpc>
                <a:spcPct val="100000"/>
              </a:lnSpc>
              <a:spcBef>
                <a:spcPts val="0"/>
              </a:spcBef>
              <a:spcAft>
                <a:spcPts val="0"/>
              </a:spcAft>
              <a:buClr>
                <a:srgbClr val="FF0000"/>
              </a:buClr>
              <a:buSzPts val="2800"/>
              <a:buFont typeface="Arial"/>
              <a:buChar char="•"/>
            </a:pPr>
            <a:r>
              <a:rPr lang="en" sz="2800" b="0" strike="noStrike">
                <a:solidFill>
                  <a:srgbClr val="FF0000"/>
                </a:solidFill>
                <a:latin typeface="Candara"/>
                <a:ea typeface="Candara"/>
                <a:cs typeface="Candara"/>
                <a:sym typeface="Candara"/>
              </a:rPr>
              <a:t>Imagine</a:t>
            </a:r>
            <a:r>
              <a:rPr lang="en" sz="2800" b="0" strike="noStrike">
                <a:solidFill>
                  <a:srgbClr val="003300"/>
                </a:solidFill>
                <a:latin typeface="Candara"/>
                <a:ea typeface="Candara"/>
                <a:cs typeface="Candara"/>
                <a:sym typeface="Candara"/>
              </a:rPr>
              <a:t>: When you buy a software, the hardware on which the software runs would come free with the software!!!</a:t>
            </a:r>
            <a:endParaRPr sz="2800" b="0" strike="noStrike">
              <a:solidFill>
                <a:srgbClr val="003300"/>
              </a:solidFill>
              <a:latin typeface="Candara"/>
              <a:ea typeface="Candara"/>
              <a:cs typeface="Candara"/>
              <a:sym typeface="Candara"/>
            </a:endParaRPr>
          </a:p>
        </p:txBody>
      </p:sp>
      <p:cxnSp>
        <p:nvCxnSpPr>
          <p:cNvPr id="407" name="Google Shape;407;p70"/>
          <p:cNvCxnSpPr/>
          <p:nvPr/>
        </p:nvCxnSpPr>
        <p:spPr>
          <a:xfrm>
            <a:off x="1596960" y="514350"/>
            <a:ext cx="0" cy="2842020"/>
          </a:xfrm>
          <a:prstGeom prst="straightConnector1">
            <a:avLst/>
          </a:prstGeom>
          <a:noFill/>
          <a:ln w="28425" cap="flat" cmpd="sng">
            <a:solidFill>
              <a:srgbClr val="000000"/>
            </a:solidFill>
            <a:prstDash val="solid"/>
            <a:round/>
            <a:headEnd type="none" w="sm" len="sm"/>
            <a:tailEnd type="none" w="sm" len="sm"/>
          </a:ln>
        </p:spPr>
      </p:cxnSp>
      <p:cxnSp>
        <p:nvCxnSpPr>
          <p:cNvPr id="408" name="Google Shape;408;p70"/>
          <p:cNvCxnSpPr/>
          <p:nvPr/>
        </p:nvCxnSpPr>
        <p:spPr>
          <a:xfrm>
            <a:off x="1596960" y="3356370"/>
            <a:ext cx="6611760" cy="0"/>
          </a:xfrm>
          <a:prstGeom prst="straightConnector1">
            <a:avLst/>
          </a:prstGeom>
          <a:noFill/>
          <a:ln w="28425" cap="flat" cmpd="sng">
            <a:solidFill>
              <a:srgbClr val="000000"/>
            </a:solidFill>
            <a:prstDash val="solid"/>
            <a:round/>
            <a:headEnd type="none" w="sm" len="sm"/>
            <a:tailEnd type="none" w="sm" len="sm"/>
          </a:ln>
        </p:spPr>
      </p:cxnSp>
      <p:sp>
        <p:nvSpPr>
          <p:cNvPr id="409" name="Google Shape;409;p70"/>
          <p:cNvSpPr/>
          <p:nvPr/>
        </p:nvSpPr>
        <p:spPr>
          <a:xfrm>
            <a:off x="1935000" y="920430"/>
            <a:ext cx="5874840" cy="2185650"/>
          </a:xfrm>
          <a:custGeom>
            <a:avLst/>
            <a:gdLst/>
            <a:ahLst/>
            <a:cxnLst/>
            <a:rect l="l" t="t" r="r" b="b"/>
            <a:pathLst>
              <a:path w="14807" h="7351" extrusionOk="0">
                <a:moveTo>
                  <a:pt x="0" y="0"/>
                </a:moveTo>
                <a:cubicBezTo>
                  <a:pt x="88" y="151"/>
                  <a:pt x="177" y="302"/>
                  <a:pt x="426" y="682"/>
                </a:cubicBezTo>
                <a:cubicBezTo>
                  <a:pt x="675" y="1061"/>
                  <a:pt x="1103" y="1780"/>
                  <a:pt x="1495" y="2273"/>
                </a:cubicBezTo>
                <a:cubicBezTo>
                  <a:pt x="1886" y="2765"/>
                  <a:pt x="2313" y="3221"/>
                  <a:pt x="2776" y="3637"/>
                </a:cubicBezTo>
                <a:cubicBezTo>
                  <a:pt x="3238" y="4054"/>
                  <a:pt x="3630" y="4395"/>
                  <a:pt x="4270" y="4774"/>
                </a:cubicBezTo>
                <a:cubicBezTo>
                  <a:pt x="4911" y="5153"/>
                  <a:pt x="5659" y="5570"/>
                  <a:pt x="6620" y="5910"/>
                </a:cubicBezTo>
                <a:cubicBezTo>
                  <a:pt x="7581" y="6252"/>
                  <a:pt x="8969" y="6592"/>
                  <a:pt x="10036" y="6820"/>
                </a:cubicBezTo>
                <a:cubicBezTo>
                  <a:pt x="11105" y="7048"/>
                  <a:pt x="12279" y="7199"/>
                  <a:pt x="13027" y="7274"/>
                </a:cubicBezTo>
                <a:cubicBezTo>
                  <a:pt x="13774" y="7350"/>
                  <a:pt x="14236" y="7274"/>
                  <a:pt x="14521" y="7274"/>
                </a:cubicBezTo>
                <a:cubicBezTo>
                  <a:pt x="14806" y="7274"/>
                  <a:pt x="14700" y="7274"/>
                  <a:pt x="14735" y="7274"/>
                </a:cubicBezTo>
              </a:path>
            </a:pathLst>
          </a:custGeom>
          <a:noFill/>
          <a:ln w="38150" cap="flat" cmpd="sng">
            <a:solidFill>
              <a:schemeClr val="hlink"/>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70"/>
          <p:cNvSpPr/>
          <p:nvPr/>
        </p:nvSpPr>
        <p:spPr>
          <a:xfrm>
            <a:off x="3635280" y="3332610"/>
            <a:ext cx="791640" cy="325890"/>
          </a:xfrm>
          <a:prstGeom prst="rect">
            <a:avLst/>
          </a:prstGeom>
          <a:noFill/>
          <a:ln>
            <a:noFill/>
          </a:ln>
        </p:spPr>
        <p:txBody>
          <a:bodyPr spcFirstLastPara="1" wrap="square" lIns="19800" tIns="51475" rIns="19800" bIns="51475" anchor="t" anchorCtr="0">
            <a:noAutofit/>
          </a:bodyPr>
          <a:lstStyle/>
          <a:p>
            <a:pPr marL="0" marR="0" lvl="0" indent="0" algn="l" rtl="0">
              <a:lnSpc>
                <a:spcPct val="85000"/>
              </a:lnSpc>
              <a:spcBef>
                <a:spcPts val="0"/>
              </a:spcBef>
              <a:spcAft>
                <a:spcPts val="0"/>
              </a:spcAft>
              <a:buNone/>
            </a:pPr>
            <a:r>
              <a:rPr lang="en" sz="2200" b="1" strike="noStrike">
                <a:solidFill>
                  <a:srgbClr val="000000"/>
                </a:solidFill>
                <a:latin typeface="Comic Sans MS"/>
                <a:ea typeface="Comic Sans MS"/>
                <a:cs typeface="Comic Sans MS"/>
                <a:sym typeface="Comic Sans MS"/>
              </a:rPr>
              <a:t>Year</a:t>
            </a:r>
            <a:endParaRPr sz="2200" b="0" strike="noStrike">
              <a:latin typeface="Arial"/>
              <a:ea typeface="Arial"/>
              <a:cs typeface="Arial"/>
              <a:sym typeface="Arial"/>
            </a:endParaRPr>
          </a:p>
        </p:txBody>
      </p:sp>
      <p:sp>
        <p:nvSpPr>
          <p:cNvPr id="411" name="Google Shape;411;p70"/>
          <p:cNvSpPr/>
          <p:nvPr/>
        </p:nvSpPr>
        <p:spPr>
          <a:xfrm>
            <a:off x="135000" y="1545480"/>
            <a:ext cx="1753920" cy="855900"/>
          </a:xfrm>
          <a:prstGeom prst="rect">
            <a:avLst/>
          </a:prstGeom>
          <a:noFill/>
          <a:ln>
            <a:noFill/>
          </a:ln>
        </p:spPr>
        <p:txBody>
          <a:bodyPr spcFirstLastPara="1" wrap="square" lIns="19800" tIns="51475" rIns="19800" bIns="51475" anchor="t" anchorCtr="0">
            <a:noAutofit/>
          </a:bodyPr>
          <a:lstStyle/>
          <a:p>
            <a:pPr marL="0" marR="0" lvl="0" indent="0" algn="l" rtl="0">
              <a:lnSpc>
                <a:spcPct val="85000"/>
              </a:lnSpc>
              <a:spcBef>
                <a:spcPts val="0"/>
              </a:spcBef>
              <a:spcAft>
                <a:spcPts val="0"/>
              </a:spcAft>
              <a:buNone/>
            </a:pPr>
            <a:r>
              <a:rPr lang="en" sz="2600" b="1" strike="noStrike">
                <a:solidFill>
                  <a:srgbClr val="000000"/>
                </a:solidFill>
                <a:latin typeface="Comic Sans MS"/>
                <a:ea typeface="Comic Sans MS"/>
                <a:cs typeface="Comic Sans MS"/>
                <a:sym typeface="Comic Sans MS"/>
              </a:rPr>
              <a:t>Hw cost</a:t>
            </a:r>
            <a:endParaRPr sz="2600" b="0" strike="noStrike">
              <a:latin typeface="Arial"/>
              <a:ea typeface="Arial"/>
              <a:cs typeface="Arial"/>
              <a:sym typeface="Arial"/>
            </a:endParaRPr>
          </a:p>
          <a:p>
            <a:pPr marL="0" marR="0" lvl="0" indent="0" algn="l" rtl="0">
              <a:lnSpc>
                <a:spcPct val="85000"/>
              </a:lnSpc>
              <a:spcBef>
                <a:spcPts val="513"/>
              </a:spcBef>
              <a:spcAft>
                <a:spcPts val="0"/>
              </a:spcAft>
              <a:buNone/>
            </a:pPr>
            <a:r>
              <a:rPr lang="en" sz="2600" b="1" strike="noStrike">
                <a:solidFill>
                  <a:srgbClr val="000000"/>
                </a:solidFill>
                <a:latin typeface="Comic Sans MS"/>
                <a:ea typeface="Comic Sans MS"/>
                <a:cs typeface="Comic Sans MS"/>
                <a:sym typeface="Comic Sans MS"/>
              </a:rPr>
              <a:t>Sw cost</a:t>
            </a:r>
            <a:endParaRPr sz="2600" b="0" strike="noStrike">
              <a:latin typeface="Arial"/>
              <a:ea typeface="Arial"/>
              <a:cs typeface="Arial"/>
              <a:sym typeface="Arial"/>
            </a:endParaRPr>
          </a:p>
        </p:txBody>
      </p:sp>
      <p:cxnSp>
        <p:nvCxnSpPr>
          <p:cNvPr id="412" name="Google Shape;412;p70"/>
          <p:cNvCxnSpPr/>
          <p:nvPr/>
        </p:nvCxnSpPr>
        <p:spPr>
          <a:xfrm>
            <a:off x="0" y="1867860"/>
            <a:ext cx="1682640" cy="0"/>
          </a:xfrm>
          <a:prstGeom prst="straightConnector1">
            <a:avLst/>
          </a:prstGeom>
          <a:noFill/>
          <a:ln w="9525" cap="flat" cmpd="sng">
            <a:solidFill>
              <a:srgbClr val="000000"/>
            </a:solidFill>
            <a:prstDash val="solid"/>
            <a:round/>
            <a:headEnd type="none" w="sm" len="sm"/>
            <a:tailEnd type="none" w="sm" len="sm"/>
          </a:ln>
        </p:spPr>
      </p:cxnSp>
      <p:cxnSp>
        <p:nvCxnSpPr>
          <p:cNvPr id="413" name="Google Shape;413;p70"/>
          <p:cNvCxnSpPr/>
          <p:nvPr/>
        </p:nvCxnSpPr>
        <p:spPr>
          <a:xfrm rot="10800000">
            <a:off x="1258560" y="1123740"/>
            <a:ext cx="0" cy="338310"/>
          </a:xfrm>
          <a:prstGeom prst="straightConnector1">
            <a:avLst/>
          </a:prstGeom>
          <a:noFill/>
          <a:ln w="9525" cap="flat" cmpd="sng">
            <a:solidFill>
              <a:srgbClr val="000000"/>
            </a:solidFill>
            <a:prstDash val="solid"/>
            <a:round/>
            <a:headEnd type="none" w="sm" len="sm"/>
            <a:tailEnd type="triangle" w="lg" len="lg"/>
          </a:ln>
        </p:spPr>
      </p:cxnSp>
      <p:cxnSp>
        <p:nvCxnSpPr>
          <p:cNvPr id="414" name="Google Shape;414;p70"/>
          <p:cNvCxnSpPr/>
          <p:nvPr/>
        </p:nvCxnSpPr>
        <p:spPr>
          <a:xfrm>
            <a:off x="4478040" y="3490830"/>
            <a:ext cx="424080" cy="0"/>
          </a:xfrm>
          <a:prstGeom prst="straightConnector1">
            <a:avLst/>
          </a:prstGeom>
          <a:noFill/>
          <a:ln w="9525" cap="flat" cmpd="sng">
            <a:solidFill>
              <a:srgbClr val="000000"/>
            </a:solidFill>
            <a:prstDash val="solid"/>
            <a:round/>
            <a:headEnd type="none" w="sm" len="sm"/>
            <a:tailEnd type="triangle" w="lg" len="lg"/>
          </a:ln>
        </p:spPr>
      </p:cxnSp>
      <p:sp>
        <p:nvSpPr>
          <p:cNvPr id="415" name="Google Shape;415;p70"/>
          <p:cNvSpPr/>
          <p:nvPr/>
        </p:nvSpPr>
        <p:spPr>
          <a:xfrm>
            <a:off x="2590920" y="857250"/>
            <a:ext cx="6136920" cy="375840"/>
          </a:xfrm>
          <a:prstGeom prst="rect">
            <a:avLst/>
          </a:prstGeom>
          <a:noFill/>
          <a:ln>
            <a:noFill/>
          </a:ln>
        </p:spPr>
        <p:txBody>
          <a:bodyPr spcFirstLastPara="1" wrap="square" lIns="19800" tIns="51475" rIns="19800" bIns="51475" anchor="t" anchorCtr="0">
            <a:noAutofit/>
          </a:bodyPr>
          <a:lstStyle/>
          <a:p>
            <a:pPr marL="0" marR="0" lvl="0" indent="0" algn="l" rtl="0">
              <a:lnSpc>
                <a:spcPct val="85000"/>
              </a:lnSpc>
              <a:spcBef>
                <a:spcPts val="0"/>
              </a:spcBef>
              <a:spcAft>
                <a:spcPts val="0"/>
              </a:spcAft>
              <a:buNone/>
            </a:pPr>
            <a:r>
              <a:rPr lang="en" sz="2400" b="0" strike="noStrike">
                <a:solidFill>
                  <a:srgbClr val="000000"/>
                </a:solidFill>
                <a:latin typeface="Comic Sans MS"/>
                <a:ea typeface="Comic Sans MS"/>
                <a:cs typeface="Comic Sans MS"/>
                <a:sym typeface="Comic Sans MS"/>
              </a:rPr>
              <a:t>Relative Cost of Hardware and Software</a:t>
            </a:r>
            <a:endParaRPr sz="2400" b="0" strike="noStrike">
              <a:latin typeface="Arial"/>
              <a:ea typeface="Arial"/>
              <a:cs typeface="Arial"/>
              <a:sym typeface="Arial"/>
            </a:endParaRPr>
          </a:p>
        </p:txBody>
      </p:sp>
      <p:sp>
        <p:nvSpPr>
          <p:cNvPr id="416" name="Google Shape;416;p70"/>
          <p:cNvSpPr/>
          <p:nvPr/>
        </p:nvSpPr>
        <p:spPr>
          <a:xfrm>
            <a:off x="1152360" y="3349350"/>
            <a:ext cx="920520" cy="377190"/>
          </a:xfrm>
          <a:prstGeom prst="rect">
            <a:avLst/>
          </a:prstGeom>
          <a:noFill/>
          <a:ln>
            <a:noFill/>
          </a:ln>
        </p:spPr>
        <p:txBody>
          <a:bodyPr spcFirstLastPara="1" wrap="square" lIns="19800" tIns="51475" rIns="19800" bIns="51475" anchor="t" anchorCtr="0">
            <a:noAutofit/>
          </a:bodyPr>
          <a:lstStyle/>
          <a:p>
            <a:pPr marL="0" marR="0" lvl="0" indent="0" algn="l" rtl="0">
              <a:lnSpc>
                <a:spcPct val="85000"/>
              </a:lnSpc>
              <a:spcBef>
                <a:spcPts val="0"/>
              </a:spcBef>
              <a:spcAft>
                <a:spcPts val="0"/>
              </a:spcAft>
              <a:buNone/>
            </a:pPr>
            <a:r>
              <a:rPr lang="en" sz="2600" b="1" strike="noStrike">
                <a:solidFill>
                  <a:srgbClr val="000000"/>
                </a:solidFill>
                <a:latin typeface="Comic Sans MS"/>
                <a:ea typeface="Comic Sans MS"/>
                <a:cs typeface="Comic Sans MS"/>
                <a:sym typeface="Comic Sans MS"/>
              </a:rPr>
              <a:t>1960</a:t>
            </a:r>
            <a:endParaRPr sz="2600" b="0" strike="noStrike">
              <a:latin typeface="Arial"/>
              <a:ea typeface="Arial"/>
              <a:cs typeface="Arial"/>
              <a:sym typeface="Arial"/>
            </a:endParaRPr>
          </a:p>
        </p:txBody>
      </p:sp>
      <p:sp>
        <p:nvSpPr>
          <p:cNvPr id="417" name="Google Shape;417;p70"/>
          <p:cNvSpPr/>
          <p:nvPr/>
        </p:nvSpPr>
        <p:spPr>
          <a:xfrm>
            <a:off x="6948360" y="3412260"/>
            <a:ext cx="921960" cy="377190"/>
          </a:xfrm>
          <a:prstGeom prst="rect">
            <a:avLst/>
          </a:prstGeom>
          <a:noFill/>
          <a:ln>
            <a:noFill/>
          </a:ln>
        </p:spPr>
        <p:txBody>
          <a:bodyPr spcFirstLastPara="1" wrap="square" lIns="19800" tIns="51475" rIns="19800" bIns="51475" anchor="t" anchorCtr="0">
            <a:noAutofit/>
          </a:bodyPr>
          <a:lstStyle/>
          <a:p>
            <a:pPr marL="0" marR="0" lvl="0" indent="0" algn="l" rtl="0">
              <a:lnSpc>
                <a:spcPct val="85000"/>
              </a:lnSpc>
              <a:spcBef>
                <a:spcPts val="0"/>
              </a:spcBef>
              <a:spcAft>
                <a:spcPts val="0"/>
              </a:spcAft>
              <a:buNone/>
            </a:pPr>
            <a:r>
              <a:rPr lang="en" sz="2600" b="1" strike="noStrike">
                <a:solidFill>
                  <a:srgbClr val="000000"/>
                </a:solidFill>
                <a:latin typeface="Comic Sans MS"/>
                <a:ea typeface="Comic Sans MS"/>
                <a:cs typeface="Comic Sans MS"/>
                <a:sym typeface="Comic Sans MS"/>
              </a:rPr>
              <a:t>2016</a:t>
            </a:r>
            <a:endParaRPr sz="2600" b="0" strike="noStrike">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71"/>
          <p:cNvSpPr txBox="1"/>
          <p:nvPr/>
        </p:nvSpPr>
        <p:spPr>
          <a:xfrm>
            <a:off x="457200" y="114210"/>
            <a:ext cx="8229240" cy="79974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None/>
            </a:pPr>
            <a:r>
              <a:rPr lang="en" sz="3600" b="0" strike="noStrike">
                <a:solidFill>
                  <a:srgbClr val="0070C0"/>
                </a:solidFill>
                <a:latin typeface="Comic Sans MS"/>
                <a:ea typeface="Comic Sans MS"/>
                <a:cs typeface="Comic Sans MS"/>
                <a:sym typeface="Comic Sans MS"/>
              </a:rPr>
              <a:t>Factors contributing to the software crisis</a:t>
            </a:r>
            <a:endParaRPr sz="3600" b="0" strike="noStrike">
              <a:solidFill>
                <a:srgbClr val="000000"/>
              </a:solidFill>
              <a:latin typeface="Calibri"/>
              <a:ea typeface="Calibri"/>
              <a:cs typeface="Calibri"/>
              <a:sym typeface="Calibri"/>
            </a:endParaRPr>
          </a:p>
        </p:txBody>
      </p:sp>
      <p:sp>
        <p:nvSpPr>
          <p:cNvPr id="423" name="Google Shape;423;p71"/>
          <p:cNvSpPr txBox="1"/>
          <p:nvPr/>
        </p:nvSpPr>
        <p:spPr>
          <a:xfrm>
            <a:off x="228600" y="914490"/>
            <a:ext cx="8686440" cy="3679830"/>
          </a:xfrm>
          <a:prstGeom prst="rect">
            <a:avLst/>
          </a:prstGeom>
          <a:noFill/>
          <a:ln>
            <a:noFill/>
          </a:ln>
        </p:spPr>
        <p:txBody>
          <a:bodyPr spcFirstLastPara="1" wrap="square" lIns="91425" tIns="45700" rIns="91425" bIns="45700" anchor="t" anchorCtr="0">
            <a:noAutofit/>
          </a:bodyPr>
          <a:lstStyle/>
          <a:p>
            <a:pPr marL="343080" marR="0" lvl="0" indent="-342720" algn="l" rtl="0">
              <a:lnSpc>
                <a:spcPct val="100000"/>
              </a:lnSpc>
              <a:spcBef>
                <a:spcPts val="0"/>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Larger problems</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Lack of adequate training in software engineering</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Increasing skill shortage</a:t>
            </a:r>
            <a:endParaRPr sz="2800" b="0" strike="noStrike">
              <a:solidFill>
                <a:srgbClr val="003300"/>
              </a:solidFill>
              <a:latin typeface="Candara"/>
              <a:ea typeface="Candara"/>
              <a:cs typeface="Candara"/>
              <a:sym typeface="Candara"/>
            </a:endParaRPr>
          </a:p>
          <a:p>
            <a:pPr marL="343080" marR="0" lvl="0" indent="-342720" algn="l" rtl="0">
              <a:lnSpc>
                <a:spcPct val="100000"/>
              </a:lnSpc>
              <a:spcBef>
                <a:spcPts val="561"/>
              </a:spcBef>
              <a:spcAft>
                <a:spcPts val="0"/>
              </a:spcAft>
              <a:buClr>
                <a:srgbClr val="003300"/>
              </a:buClr>
              <a:buSzPts val="2800"/>
              <a:buFont typeface="Arial"/>
              <a:buChar char="•"/>
            </a:pPr>
            <a:r>
              <a:rPr lang="en" sz="2800" b="0" strike="noStrike">
                <a:solidFill>
                  <a:srgbClr val="003300"/>
                </a:solidFill>
                <a:latin typeface="Candara"/>
                <a:ea typeface="Candara"/>
                <a:cs typeface="Candara"/>
                <a:sym typeface="Candara"/>
              </a:rPr>
              <a:t>Low productivity improvements</a:t>
            </a:r>
            <a:endParaRPr sz="2800" b="0" strike="noStrike">
              <a:solidFill>
                <a:srgbClr val="003300"/>
              </a:solidFill>
              <a:latin typeface="Candara"/>
              <a:ea typeface="Candara"/>
              <a:cs typeface="Candara"/>
              <a:sym typeface="Candara"/>
            </a:endParaRPr>
          </a:p>
          <a:p>
            <a:pPr marL="0" marR="0" lvl="0" indent="0" algn="l" rtl="0">
              <a:lnSpc>
                <a:spcPct val="100000"/>
              </a:lnSpc>
              <a:spcBef>
                <a:spcPts val="561"/>
              </a:spcBef>
              <a:spcAft>
                <a:spcPts val="0"/>
              </a:spcAft>
              <a:buNone/>
            </a:pPr>
            <a:endParaRPr sz="2800" b="0" strike="noStrike">
              <a:solidFill>
                <a:srgbClr val="003300"/>
              </a:solidFill>
              <a:latin typeface="Candara"/>
              <a:ea typeface="Candara"/>
              <a:cs typeface="Candara"/>
              <a:sym typeface="Candar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72"/>
          <p:cNvSpPr txBox="1"/>
          <p:nvPr/>
        </p:nvSpPr>
        <p:spPr>
          <a:xfrm>
            <a:off x="457200" y="2114640"/>
            <a:ext cx="8229240" cy="59373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6000" b="1" strike="noStrike">
                <a:solidFill>
                  <a:srgbClr val="FFC000"/>
                </a:solidFill>
                <a:latin typeface="Balthazar"/>
                <a:ea typeface="Balthazar"/>
                <a:cs typeface="Balthazar"/>
                <a:sym typeface="Balthazar"/>
              </a:rPr>
              <a:t>Thank You</a:t>
            </a:r>
            <a:endParaRPr sz="6000" b="0"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1945</Words>
  <Application>Microsoft Office PowerPoint</Application>
  <PresentationFormat>On-screen Show (16:9)</PresentationFormat>
  <Paragraphs>291</Paragraphs>
  <Slides>34</Slides>
  <Notes>34</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34</vt:i4>
      </vt:variant>
    </vt:vector>
  </HeadingPairs>
  <TitlesOfParts>
    <vt:vector size="47" baseType="lpstr">
      <vt:lpstr>Aharoni</vt:lpstr>
      <vt:lpstr>Palatino</vt:lpstr>
      <vt:lpstr>Century Gothic</vt:lpstr>
      <vt:lpstr>Candara</vt:lpstr>
      <vt:lpstr>Arial</vt:lpstr>
      <vt:lpstr>Times New Roman</vt:lpstr>
      <vt:lpstr>Balthazar</vt:lpstr>
      <vt:lpstr>Comic Sans MS</vt:lpstr>
      <vt:lpstr>Calibri</vt:lpstr>
      <vt:lpstr>Georgia</vt:lpstr>
      <vt:lpstr>Simple Light</vt:lpstr>
      <vt:lpstr>Office Theme</vt:lpstr>
      <vt:lpstr>Office Theme</vt:lpstr>
      <vt:lpstr>PowerPoint Presentation</vt:lpstr>
      <vt:lpstr>PowerPoint Presentation</vt:lpstr>
      <vt:lpstr>PowerPoint Presentation</vt:lpstr>
      <vt:lpstr>PowerPoint Presentation</vt:lpstr>
      <vt:lpstr>Chapter-1</vt:lpstr>
      <vt:lpstr>PowerPoint Presentation</vt:lpstr>
      <vt:lpstr>Software Engineering vs. Programming </vt:lpstr>
      <vt:lpstr>PowerPoint Presentation</vt:lpstr>
      <vt:lpstr>PowerPoint Presentation</vt:lpstr>
      <vt:lpstr>PowerPoint Presentation</vt:lpstr>
      <vt:lpstr>PowerPoint Presentation</vt:lpstr>
      <vt:lpstr>PowerPoint Presentation</vt:lpstr>
      <vt:lpstr>Time and Change</vt:lpstr>
      <vt:lpstr>Time and Change</vt:lpstr>
      <vt:lpstr>Hyrum’s Law</vt:lpstr>
      <vt:lpstr>Timeline of the developer workflow</vt:lpstr>
      <vt:lpstr>Efforts and Costs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Subrat Samal</cp:lastModifiedBy>
  <cp:revision>1</cp:revision>
  <dcterms:modified xsi:type="dcterms:W3CDTF">2025-11-01T02:51:56Z</dcterms:modified>
</cp:coreProperties>
</file>
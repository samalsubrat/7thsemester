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708" r:id="rId1"/>
  </p:sldMasterIdLst>
  <p:notesMasterIdLst>
    <p:notesMasterId r:id="rId2"/>
  </p:notesMasterIdLst>
  <p:sldIdLst>
    <p:sldId id="403" r:id="rId3"/>
    <p:sldId id="404" r:id="rId4"/>
    <p:sldId id="405" r:id="rId5"/>
    <p:sldId id="406" r:id="rId6"/>
    <p:sldId id="407" r:id="rId7"/>
    <p:sldId id="408" r:id="rId8"/>
    <p:sldId id="409" r:id="rId9"/>
    <p:sldId id="410" r:id="rId10"/>
    <p:sldId id="411" r:id="rId11"/>
    <p:sldId id="412" r:id="rId12"/>
    <p:sldId id="413" r:id="rId13"/>
    <p:sldId id="414" r:id="rId14"/>
    <p:sldId id="415" r:id="rId15"/>
    <p:sldId id="416" r:id="rId16"/>
    <p:sldId id="417" r:id="rId17"/>
    <p:sldId id="418" r:id="rId18"/>
  </p:sldIdLst>
  <p:sldSz type="screen4x3" cy="6858000" cx="9144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clrMru>
    <a:srgbClr val="D32BE5"/>
    <a:srgbClr val="3333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6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F1DE96FE-B8B2-440E-8B0A-E8DCF29D71F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76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6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6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6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0693B4D-BBC5-46AC-AF18-89AFE99E371E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hyperlink" Target="https://meet.google.com/oya-hfrm-cia?hs=224" TargetMode="External"/><Relationship Id="rId2" Type="http://schemas.openxmlformats.org/officeDocument/2006/relationships/slide" Target="../slides/slide7.xml"/><Relationship Id="rId3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Rectangle 7"/>
          <p:cNvSpPr txBox="1">
            <a:spLocks noGrp="1" noChangeArrowheads="1"/>
          </p:cNvSpPr>
          <p:nvPr/>
        </p:nvSpPr>
        <p:spPr bwMode="auto">
          <a:xfrm>
            <a:off x="3894138" y="9558338"/>
            <a:ext cx="2978150" cy="503237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b" bIns="48390" lIns="96780" rIns="96780" tIns="48390"/>
          <a:p>
            <a:pPr algn="r" defTabSz="965200" eaLnBrk="1" hangingPunct="1">
              <a:buClr>
                <a:srgbClr val="000000"/>
              </a:buClr>
            </a:pPr>
            <a:fld id="{80858C5B-47FB-42E5-BCA8-25173A393ACE}" type="slidenum">
              <a:rPr altLang="zh-CN" sz="1300" lang="zh-CN">
                <a:latin typeface="Calibri" pitchFamily="34" charset="0"/>
              </a:rPr>
              <a:pPr algn="r" defTabSz="965200" eaLnBrk="1" hangingPunct="1">
                <a:buClr>
                  <a:srgbClr val="000000"/>
                </a:buClr>
              </a:pPr>
              <a:t>2</a:t>
            </a:fld>
            <a:endParaRPr altLang="zh-CN" sz="1300" lang="en-US">
              <a:latin typeface="Calibri" pitchFamily="34" charset="0"/>
            </a:endParaRPr>
          </a:p>
        </p:txBody>
      </p:sp>
      <p:sp>
        <p:nvSpPr>
          <p:cNvPr id="1048666" name="Rectangle 2"/>
          <p:cNvSpPr>
            <a:spLocks noChangeAspect="1" noRot="1" noGrp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altLang="en-US" 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9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algn="l" defTabSz="914400" eaLnBrk="1" fontAlgn="auto" hangingPunct="1" indent="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dirty="0" lang="en-US" smtClean="0">
                <a:solidFill>
                  <a:srgbClr val="FF0000"/>
                </a:solidFill>
              </a:rPr>
              <a:t>CIS</a:t>
            </a:r>
            <a:r>
              <a:rPr dirty="0" sz="1200" kern="1200" lang="en-US" u="sng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"/>
              </a:rPr>
              <a:t/>
            </a:r>
            <a:br>
              <a:rPr dirty="0" sz="1200" kern="1200" lang="en-US" u="sng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"/>
              </a:rPr>
            </a:br>
            <a:r>
              <a:rPr dirty="0" sz="1200" kern="1200" lang="en-US" u="sng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"/>
              </a:rPr>
              <a:t>m</a:t>
            </a:r>
            <a:endParaRPr dirty="0" lang="en-US">
              <a:solidFill>
                <a:srgbClr val="FF0000"/>
              </a:solidFill>
            </a:endParaRPr>
          </a:p>
        </p:txBody>
      </p:sp>
      <p:sp>
        <p:nvSpPr>
          <p:cNvPr id="104868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C0693B4D-BBC5-46AC-AF18-89AFE99E371E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9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dirty="0" lang="en-US" err="1" smtClean="0"/>
              <a:t>PYROPHYLLITE:</a:t>
            </a:r>
            <a:r>
              <a:rPr b="1" dirty="0" sz="1200" i="0" kern="1200" lang="en-US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Pyrophyllite</a:t>
            </a:r>
            <a:r>
              <a:rPr b="0" dirty="0" sz="1200" i="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is a </a:t>
            </a:r>
            <a:r>
              <a:rPr b="0" dirty="0" sz="1200" i="0" kern="1200" lang="en-US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phyllosilicate</a:t>
            </a:r>
            <a:r>
              <a:rPr b="0" dirty="0" sz="1200" i="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mineral composed of </a:t>
            </a:r>
            <a:r>
              <a:rPr b="0" dirty="0" sz="1200" i="0" kern="1200" lang="en-US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aluminium</a:t>
            </a:r>
            <a:r>
              <a:rPr b="0" sz="1200" i="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silicate hydroxide:</a:t>
            </a:r>
            <a:endParaRPr dirty="0" lang="en-US"/>
          </a:p>
        </p:txBody>
      </p:sp>
      <p:sp>
        <p:nvSpPr>
          <p:cNvPr id="10486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C0693B4D-BBC5-46AC-AF18-89AFE99E371E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6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dirty="0" lang="en-US" smtClean="0"/>
              <a:t>BUCKLING</a:t>
            </a:r>
            <a:endParaRPr dirty="0" lang="en-US"/>
          </a:p>
        </p:txBody>
      </p:sp>
      <p:sp>
        <p:nvSpPr>
          <p:cNvPr id="10486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C0693B4D-BBC5-46AC-AF18-89AFE99E371E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1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dirty="0" lang="en-US" smtClean="0"/>
              <a:t>SHOOT</a:t>
            </a:r>
            <a:endParaRPr dirty="0" lang="en-US"/>
          </a:p>
        </p:txBody>
      </p:sp>
      <p:sp>
        <p:nvSpPr>
          <p:cNvPr id="104870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C0693B4D-BBC5-46AC-AF18-89AFE99E371E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bg>
      <p:bgRef idx="1002">
        <a:schemeClr val="bg2"/>
      </p:bgRef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anchor="b" bIns="0" rIns="18288" tIns="0" vert="horz">
            <a:norm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b="1" sz="560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algn="tl" blurRad="38100" dir="5400000" dist="25400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10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algn="r" indent="0" marL="0" marR="45720">
              <a:buNone/>
              <a:defRPr>
                <a:solidFill>
                  <a:schemeClr val="tx1"/>
                </a:solidFill>
              </a:defRPr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487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7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bg>
      <p:bgRef idx="1002">
        <a:schemeClr val="bg2"/>
      </p:bgRef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anchor="b" bIns="0" tIns="0" vert="horz">
            <a:no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baseline="0" b="1" cap="none" dirty="0" sz="5600" lang="en-US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algn="tl" blurRad="38100" dir="5400000" dist="25400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39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anchor="t" lIns="45720" rIns="45720"/>
          <a:lstStyle>
            <a:lvl1pPr indent="0" marL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7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4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45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4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74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anchor="b" tIns="45720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5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anchor="ctr" bIns="0" lIns="45720" rIns="45720" tIns="0">
            <a:noAutofit/>
          </a:bodyPr>
          <a:lstStyle>
            <a:lvl1pPr indent="0" marL="0">
              <a:buNone/>
              <a:defRPr baseline="0" b="1" cap="none" sz="2400">
                <a:solidFill>
                  <a:schemeClr val="tx2"/>
                </a:solidFill>
                <a:effectLst/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51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859759"/>
            <a:ext cx="4041775" cy="654843"/>
          </a:xfrm>
        </p:spPr>
        <p:txBody>
          <a:bodyPr anchor="ctr" bIns="0" lIns="45720" rIns="45720" tIns="0"/>
          <a:lstStyle>
            <a:lvl1pPr indent="0" marL="0">
              <a:buNone/>
              <a:defRPr baseline="0" b="1" cap="none" sz="2400">
                <a:solidFill>
                  <a:schemeClr val="tx2"/>
                </a:solidFill>
                <a:effectLst/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52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53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5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75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anchor="b" bIns="0" tIns="45720" vert="horz">
            <a:norm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b="0" sz="50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1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71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59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anchor="b" lIns="0">
            <a:noAutofit/>
          </a:bodyPr>
          <a:lstStyle>
            <a:lvl1pPr algn="l" rtl="0">
              <a:spcBef>
                <a:spcPct val="0"/>
              </a:spcBef>
              <a:buNone/>
              <a:defRPr b="0" sz="26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58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algn="l" indent="0" marL="0">
              <a:buNone/>
              <a:defRPr sz="1400"/>
            </a:lvl1pPr>
            <a:lvl2pPr algn="l" indent="0">
              <a:buNone/>
              <a:defRPr sz="1200"/>
            </a:lvl2pPr>
            <a:lvl3pPr algn="l" indent="0">
              <a:buNone/>
              <a:defRPr sz="1000"/>
            </a:lvl3pPr>
            <a:lvl4pPr algn="l" indent="0">
              <a:buNone/>
              <a:defRPr sz="900"/>
            </a:lvl4pPr>
            <a:lvl5pPr algn="l" indent="0">
              <a:buNone/>
              <a:defRPr sz="9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59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7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algn="tl" blurRad="63500" dir="7500000" dist="38500" kx="100000" rotWithShape="0" sx="98500" sy="10008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eaLnBrk="1" hangingPunct="1" latinLnBrk="0"/>
            <a:endParaRPr kumimoji="0" lang="en-US"/>
          </a:p>
        </p:txBody>
      </p:sp>
      <p:sp>
        <p:nvSpPr>
          <p:cNvPr id="1048724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/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algn="tl" blurRad="19685" dir="12900000" dist="6350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eaLnBrk="1" hangingPunct="1" latinLnBrk="0"/>
            <a:endParaRPr kumimoji="0" lang="en-US"/>
          </a:p>
        </p:txBody>
      </p:sp>
      <p:sp>
        <p:nvSpPr>
          <p:cNvPr id="1048725" name="Title 1"/>
          <p:cNvSpPr>
            <a:spLocks noGrp="1"/>
          </p:cNvSpPr>
          <p:nvPr>
            <p:ph type="title"/>
          </p:nvPr>
        </p:nvSpPr>
        <p:spPr>
          <a:xfrm>
            <a:off x="609600" y="1176998"/>
            <a:ext cx="2212848" cy="1582621"/>
          </a:xfrm>
        </p:spPr>
        <p:txBody>
          <a:bodyPr anchor="b" bIns="45720" lIns="45720" rIns="45720" tIns="45720" vert="horz"/>
          <a:lstStyle>
            <a:lvl1pPr algn="l">
              <a:buNone/>
              <a:defRPr b="1" sz="2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anchor="t" bIns="45720" lIns="64008" rIns="45720"/>
          <a:lstStyle>
            <a:lvl1pPr algn="l" indent="0" marL="0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2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72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2"/>
            <a:ext cx="609600" cy="365125"/>
          </a:xfrm>
        </p:spPr>
        <p:txBody>
          <a:bodyPr/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  <p:sp>
        <p:nvSpPr>
          <p:cNvPr id="1048730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/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indent="0" marL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dirty="0" kumimoji="0" lang="en-US"/>
          </a:p>
        </p:txBody>
      </p:sp>
      <p:sp>
        <p:nvSpPr>
          <p:cNvPr id="1048731" name="Freeform 9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732" name="Freeform 10"/>
          <p:cNvSpPr/>
          <p:nvPr/>
        </p:nvSpPr>
        <p:spPr bwMode="auto">
          <a:xfrm flipV="1">
            <a:off x="4381500" y="6219827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3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7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1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7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reeform 6"/>
          <p:cNvSpPr/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577" name="Freeform 7"/>
          <p:cNvSpPr/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578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/>
        </p:spPr>
        <p:txBody>
          <a:bodyPr anchor="b" bIns="0" lIns="0" rIns="0" vert="horz">
            <a:normAutofit/>
          </a:bodyPr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579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/>
        </p:spPr>
        <p:txBody>
          <a:bodyPr vert="horz">
            <a:normAutofit/>
          </a:bodyPr>
          <a:p>
            <a:pPr eaLnBrk="1" hangingPunct="1" latinLnBrk="0" lvl="0"/>
            <a:r>
              <a:rPr kumimoji="0" lang="en-US" smtClean="0"/>
              <a:t>Click to edit Master text styles</a:t>
            </a:r>
          </a:p>
          <a:p>
            <a:pPr eaLnBrk="1" hangingPunct="1" latinLnBrk="0" lvl="1"/>
            <a:r>
              <a:rPr kumimoji="0" lang="en-US" smtClean="0"/>
              <a:t>Second level</a:t>
            </a:r>
          </a:p>
          <a:p>
            <a:pPr eaLnBrk="1" hangingPunct="1" latinLnBrk="0" lvl="2"/>
            <a:r>
              <a:rPr kumimoji="0" lang="en-US" smtClean="0"/>
              <a:t>Third level</a:t>
            </a:r>
          </a:p>
          <a:p>
            <a:pPr eaLnBrk="1" hangingPunct="1" latinLnBrk="0" lvl="3"/>
            <a:r>
              <a:rPr kumimoji="0" lang="en-US" smtClean="0"/>
              <a:t>Fourth level</a:t>
            </a:r>
          </a:p>
          <a:p>
            <a:pPr eaLnBrk="1" hangingPunct="1" latinLnBrk="0" lvl="4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4858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/>
        </p:spPr>
        <p:txBody>
          <a:bodyPr anchor="b" bIns="0" lIns="0" rIns="0" tIns="0" vert="horz"/>
          <a:lstStyle>
            <a:lvl1pPr algn="l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09F8AED-5F63-4E38-86B0-81604A7EA6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581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2"/>
            <a:ext cx="3352800" cy="365125"/>
          </a:xfrm>
          <a:prstGeom prst="rect"/>
        </p:spPr>
        <p:txBody>
          <a:bodyPr anchor="b" bIns="0" lIns="0" rIns="0" tIns="0" vert="horz"/>
          <a:lstStyle>
            <a:lvl1pPr algn="l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2"/>
            <a:ext cx="762000" cy="365125"/>
          </a:xfrm>
          <a:prstGeom prst="rect"/>
        </p:spPr>
        <p:txBody>
          <a:bodyPr anchor="b" bIns="0" lIns="0" rIns="0" tIns="0" vert="horz"/>
          <a:lstStyle>
            <a:lvl1pPr algn="r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5B84561-9A29-4BC5-B1CE-5554D3F7F351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048583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16000">
                    <a:schemeClr val="accent2">
                      <a:shade val="75000"/>
                      <a:alpha val="56000"/>
                    </a:schemeClr>
                  </a:gs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t" bIns="45720" compatLnSpc="1" lIns="91440" rIns="91440" tIns="45720" vert="horz" wrap="square"/>
            <a:p>
              <a:endParaRPr kumimoji="0" lang="en-US"/>
            </a:p>
          </p:txBody>
        </p:sp>
        <p:sp>
          <p:nvSpPr>
            <p:cNvPr id="1048584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33000">
                    <a:schemeClr val="accent2">
                      <a:alpha val="56000"/>
                    </a:schemeClr>
                  </a:gs>
                  <a:gs pos="44000">
                    <a:schemeClr val="accent1"/>
                  </a:gs>
                  <a:gs pos="74000">
                    <a:schemeClr val="accent4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t" bIns="45720" compatLnSpc="1" lIns="91440" rIns="91440" tIns="45720" vert="horz" wrap="square"/>
            <a:p>
              <a:endParaRPr kumimoji="0" lang="en-US"/>
            </a:p>
          </p:txBody>
        </p:sp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eaLnBrk="1" hangingPunct="1" latinLnBrk="0" rtl="0">
        <a:spcBef>
          <a:spcPct val="0"/>
        </a:spcBef>
        <a:buNone/>
        <a:defRPr b="0" sz="5000" kern="1200" kumimoji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algn="l" eaLnBrk="1" hangingPunct="1" indent="-274320" latinLnBrk="0" marL="274320" rtl="0">
        <a:spcBef>
          <a:spcPct val="20000"/>
        </a:spcBef>
        <a:buClr>
          <a:schemeClr val="accent3"/>
        </a:buClr>
        <a:buSzPct val="95000"/>
        <a:buFont typeface="Wingdings 2"/>
        <a:buChar char=""/>
        <a:defRPr sz="2600"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indent="-246888" latinLnBrk="0" marL="640080" rtl="0">
        <a:spcBef>
          <a:spcPct val="20000"/>
        </a:spcBef>
        <a:buClr>
          <a:schemeClr val="accent1"/>
        </a:buClr>
        <a:buSzPct val="85000"/>
        <a:buFont typeface="Wingdings 2"/>
        <a:buChar char=""/>
        <a:defRPr sz="2400"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indent="-246888" latinLnBrk="0" marL="914400" rtl="0">
        <a:spcBef>
          <a:spcPct val="20000"/>
        </a:spcBef>
        <a:buClr>
          <a:schemeClr val="accent2"/>
        </a:buClr>
        <a:buSzPct val="70000"/>
        <a:buFont typeface="Wingdings 2"/>
        <a:buChar char=""/>
        <a:defRPr sz="2100"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indent="-210312" latinLnBrk="0" marL="1188720" rtl="0">
        <a:spcBef>
          <a:spcPct val="20000"/>
        </a:spcBef>
        <a:buClr>
          <a:schemeClr val="accent3"/>
        </a:buClr>
        <a:buSzPct val="65000"/>
        <a:buFont typeface="Wingdings 2"/>
        <a:buChar char="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indent="-210312" latinLnBrk="0" marL="1463040" rtl="0">
        <a:spcBef>
          <a:spcPct val="20000"/>
        </a:spcBef>
        <a:buClr>
          <a:schemeClr val="accent4"/>
        </a:buClr>
        <a:buSzPct val="65000"/>
        <a:buFont typeface="Wingdings 2"/>
        <a:buChar char="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210312" latinLnBrk="0" marL="1737360" rtl="0">
        <a:spcBef>
          <a:spcPct val="20000"/>
        </a:spcBef>
        <a:buClr>
          <a:schemeClr val="accent5"/>
        </a:buClr>
        <a:buSzPct val="80000"/>
        <a:buFont typeface="Wingdings 2"/>
        <a:buChar char=""/>
        <a:defRPr sz="1800"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indent="-182880" latinLnBrk="0" marL="1920240" rtl="0">
        <a:spcBef>
          <a:spcPct val="20000"/>
        </a:spcBef>
        <a:buClr>
          <a:schemeClr val="accent6"/>
        </a:buClr>
        <a:buSzPct val="80000"/>
        <a:buFont typeface="Wingdings 2"/>
        <a:buChar char=""/>
        <a:defRPr baseline="0" sz="1600"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indent="-182880" latinLnBrk="0" marL="2194560" rtl="0">
        <a:spcBef>
          <a:spcPct val="20000"/>
        </a:spcBef>
        <a:buClr>
          <a:schemeClr val="tx2"/>
        </a:buClr>
        <a:buChar char="•"/>
        <a:defRPr sz="1600"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indent="-182880" latinLnBrk="0" marL="2468880" rtl="0">
        <a:spcBef>
          <a:spcPct val="20000"/>
        </a:spcBef>
        <a:buClr>
          <a:schemeClr val="tx2"/>
        </a:buClr>
        <a:buFontTx/>
        <a:buChar char="•"/>
        <a:defRPr baseline="0" sz="1400" kern="1200" kumimoji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457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914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371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18288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22860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2743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3200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3657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emf"/><Relationship Id="rId3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emf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8.emf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emf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Rectangle 3"/>
          <p:cNvSpPr/>
          <p:nvPr/>
        </p:nvSpPr>
        <p:spPr>
          <a:xfrm>
            <a:off x="228600" y="1905000"/>
            <a:ext cx="8077200" cy="1805941"/>
          </a:xfrm>
          <a:prstGeom prst="rect"/>
        </p:spPr>
        <p:txBody>
          <a:bodyPr wrap="square">
            <a:spAutoFit/>
          </a:bodyPr>
          <a:p>
            <a:pPr algn="ctr"/>
            <a:r>
              <a:rPr dirty="0" sz="3200" lang="en-US" smtClean="0">
                <a:solidFill>
                  <a:srgbClr val="3333FF"/>
                </a:solidFill>
              </a:rPr>
              <a:t>Mineral Resources</a:t>
            </a:r>
            <a:endParaRPr b="1" dirty="0" sz="3200" lang="en-US" smtClean="0">
              <a:solidFill>
                <a:srgbClr val="3333FF"/>
              </a:solidFill>
            </a:endParaRPr>
          </a:p>
          <a:p>
            <a:pPr algn="ctr"/>
            <a:r>
              <a:rPr b="1" dirty="0" sz="3200" lang="en-US" smtClean="0"/>
              <a:t>  Unit 2 </a:t>
            </a:r>
            <a:endParaRPr dirty="0" sz="3200" lang="en-US"/>
          </a:p>
          <a:p>
            <a:r>
              <a:rPr dirty="0" sz="3200" lang="en-US"/>
              <a:t> </a:t>
            </a:r>
            <a:r>
              <a:rPr dirty="0" sz="3200" lang="en-US" smtClean="0"/>
              <a:t>                       </a:t>
            </a:r>
            <a:r>
              <a:rPr b="1" dirty="0" sz="3200" lang="en-US" smtClean="0"/>
              <a:t>Natural </a:t>
            </a:r>
            <a:r>
              <a:rPr b="1" dirty="0" sz="3200" lang="en-US"/>
              <a:t>Resources 	</a:t>
            </a:r>
          </a:p>
          <a:p>
            <a:pPr algn="ctr"/>
            <a:r>
              <a:rPr dirty="0" lang="en-US"/>
              <a:t>	</a:t>
            </a:r>
          </a:p>
        </p:txBody>
      </p:sp>
      <p:sp>
        <p:nvSpPr>
          <p:cNvPr id="1048591" name="Rectangle 4"/>
          <p:cNvSpPr/>
          <p:nvPr/>
        </p:nvSpPr>
        <p:spPr>
          <a:xfrm>
            <a:off x="152400" y="5257803"/>
            <a:ext cx="4572000" cy="646331"/>
          </a:xfrm>
          <a:prstGeom prst="rect"/>
        </p:spPr>
        <p:txBody>
          <a:bodyPr>
            <a:spAutoFit/>
          </a:bodyPr>
          <a:p>
            <a:pPr algn="just"/>
            <a:r>
              <a:rPr altLang="en-US" b="1" dirty="0" lang="en-US" smtClean="0">
                <a:latin typeface="Comic Sans MS" pitchFamily="66" charset="0"/>
              </a:rPr>
              <a:t>Department: Chemistry</a:t>
            </a:r>
          </a:p>
          <a:p>
            <a:pPr algn="just"/>
            <a:r>
              <a:rPr altLang="en-US" b="1" dirty="0" lang="en-US" smtClean="0">
                <a:latin typeface="Comic Sans MS" pitchFamily="66" charset="0"/>
              </a:rPr>
              <a:t>Subject</a:t>
            </a:r>
            <a:r>
              <a:rPr altLang="en-US" b="1" lang="en-US" smtClean="0">
                <a:latin typeface="Comic Sans MS" pitchFamily="66" charset="0"/>
              </a:rPr>
              <a:t>: </a:t>
            </a:r>
            <a:r>
              <a:rPr altLang="en-US" b="1" lang="en-US" smtClean="0">
                <a:latin typeface="Comic Sans MS" pitchFamily="66" charset="0"/>
              </a:rPr>
              <a:t>MTES (CHM2049)</a:t>
            </a:r>
            <a:endParaRPr altLang="en-US" b="1" dirty="0" lang="en-US" smtClean="0">
              <a:latin typeface="Comic Sans MS" pitchFamily="66" charset="0"/>
            </a:endParaRPr>
          </a:p>
        </p:txBody>
      </p:sp>
      <p:pic>
        <p:nvPicPr>
          <p:cNvPr id="2097152" name="image1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315202" y="76200"/>
            <a:ext cx="1514475" cy="1447800"/>
          </a:xfrm>
          <a:prstGeom prst="rect"/>
          <a:noFill/>
          <a:ln w="9525">
            <a:noFill/>
            <a:miter lim="800000"/>
            <a:headEnd/>
            <a:tailEnd/>
          </a:ln>
        </p:spPr>
      </p:pic>
      <p:sp>
        <p:nvSpPr>
          <p:cNvPr id="1048592" name="Rectangle 7"/>
          <p:cNvSpPr/>
          <p:nvPr/>
        </p:nvSpPr>
        <p:spPr>
          <a:xfrm>
            <a:off x="381000" y="228600"/>
            <a:ext cx="7162800" cy="2123441"/>
          </a:xfrm>
          <a:prstGeom prst="rect"/>
        </p:spPr>
        <p:txBody>
          <a:bodyPr wrap="square">
            <a:spAutoFit/>
          </a:bodyPr>
          <a:p>
            <a:pPr algn="ctr"/>
            <a:r>
              <a:rPr b="1" dirty="0" sz="2800" lang="en-US" smtClean="0">
                <a:solidFill>
                  <a:srgbClr val="C030B9"/>
                </a:solidFill>
              </a:rPr>
              <a:t>Management </a:t>
            </a:r>
            <a:r>
              <a:rPr b="1" dirty="0" sz="2800" lang="en-US">
                <a:solidFill>
                  <a:srgbClr val="C030B9"/>
                </a:solidFill>
              </a:rPr>
              <a:t>Topic in Environmental Studies) </a:t>
            </a:r>
          </a:p>
          <a:p>
            <a:pPr algn="ctr"/>
            <a:r>
              <a:rPr b="1" dirty="0" sz="2800" lang="en-US">
                <a:solidFill>
                  <a:srgbClr val="D32BE5"/>
                </a:solidFill>
              </a:rPr>
              <a:t>B. Tech  7</a:t>
            </a:r>
            <a:r>
              <a:rPr baseline="30000" b="1" dirty="0" sz="2800" lang="en-US">
                <a:solidFill>
                  <a:srgbClr val="D32BE5"/>
                </a:solidFill>
              </a:rPr>
              <a:t>TH</a:t>
            </a:r>
            <a:r>
              <a:rPr b="1" dirty="0" sz="2800" lang="en-US">
                <a:solidFill>
                  <a:srgbClr val="D32BE5"/>
                </a:solidFill>
              </a:rPr>
              <a:t>  Semester</a:t>
            </a:r>
            <a:endParaRPr dirty="0" sz="2800" lang="en-US"/>
          </a:p>
          <a:p>
            <a:pPr algn="ctr"/>
            <a:endParaRPr dirty="0" sz="2800" lang="en-US" smtClean="0"/>
          </a:p>
          <a:p>
            <a:pPr algn="ctr"/>
            <a:endParaRPr dirty="0" sz="2400" lang="en-US"/>
          </a:p>
        </p:txBody>
      </p:sp>
      <p:pic>
        <p:nvPicPr>
          <p:cNvPr id="2097153" name="Picture 9"/>
          <p:cNvPicPr>
            <a:picLocks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4953000" y="4038600"/>
            <a:ext cx="4038600" cy="2590800"/>
          </a:xfrm>
          <a:prstGeom prst="rect"/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 Box 3"/>
          <p:cNvSpPr txBox="1">
            <a:spLocks noChangeArrowheads="1"/>
          </p:cNvSpPr>
          <p:nvPr/>
        </p:nvSpPr>
        <p:spPr bwMode="auto">
          <a:xfrm>
            <a:off x="1660526" y="722314"/>
            <a:ext cx="184731" cy="369332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p>
            <a:pPr eaLnBrk="1" hangingPunct="1">
              <a:buClr>
                <a:srgbClr val="000000"/>
              </a:buClr>
              <a:buSzPct val="100000"/>
            </a:pPr>
            <a:endParaRPr altLang="en-US" lang="zh-CN">
              <a:latin typeface="Century Schoolbook" pitchFamily="18" charset="0"/>
            </a:endParaRPr>
          </a:p>
        </p:txBody>
      </p:sp>
      <p:sp>
        <p:nvSpPr>
          <p:cNvPr id="1048597" name="AutoShape 4"/>
          <p:cNvSpPr>
            <a:spLocks noChangeArrowheads="1"/>
          </p:cNvSpPr>
          <p:nvPr/>
        </p:nvSpPr>
        <p:spPr bwMode="auto">
          <a:xfrm rot="5400000" flipH="1">
            <a:off x="-2016918" y="2248695"/>
            <a:ext cx="4032250" cy="322421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alpha val="56000"/>
                </a:schemeClr>
              </a:gs>
              <a:gs pos="100000">
                <a:srgbClr val="FFFFFF">
                  <a:alpha val="48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rot="10800000" vert="eaVert"/>
          <a:p>
            <a:endParaRPr lang="en-US"/>
          </a:p>
        </p:txBody>
      </p:sp>
      <p:sp>
        <p:nvSpPr>
          <p:cNvPr id="1048598" name="AutoShape 5"/>
          <p:cNvSpPr>
            <a:spLocks noChangeArrowheads="1"/>
          </p:cNvSpPr>
          <p:nvPr/>
        </p:nvSpPr>
        <p:spPr bwMode="auto">
          <a:xfrm>
            <a:off x="2362200" y="2838177"/>
            <a:ext cx="5645150" cy="1260823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>
            <a:spAutoFit/>
          </a:bodyPr>
          <a:p>
            <a:pPr algn="just">
              <a:buClr>
                <a:srgbClr val="000000"/>
              </a:buClr>
              <a:buSzPct val="100000"/>
            </a:pPr>
            <a:r>
              <a:rPr b="1" dirty="0" lang="en-US" smtClean="0">
                <a:solidFill>
                  <a:srgbClr val="D32BE5"/>
                </a:solidFill>
              </a:rPr>
              <a:t>Major reserves and important uses of some of the major metals</a:t>
            </a:r>
            <a:endParaRPr b="1" dirty="0" lang="en-US" smtClean="0"/>
          </a:p>
          <a:p>
            <a:pPr algn="just" lvl="0">
              <a:buClr>
                <a:srgbClr val="000000"/>
              </a:buClr>
              <a:buSzPct val="100000"/>
            </a:pPr>
            <a:endParaRPr b="1" dirty="0" lang="en-US" smtClean="0"/>
          </a:p>
        </p:txBody>
      </p:sp>
      <p:sp>
        <p:nvSpPr>
          <p:cNvPr id="1048599" name="AutoShape 6"/>
          <p:cNvSpPr>
            <a:spLocks noChangeArrowheads="1"/>
          </p:cNvSpPr>
          <p:nvPr/>
        </p:nvSpPr>
        <p:spPr bwMode="auto">
          <a:xfrm>
            <a:off x="2133600" y="2362200"/>
            <a:ext cx="5938837" cy="51935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wrap="square">
            <a:spAutoFit/>
          </a:bodyPr>
          <a:p>
            <a:pPr algn="just">
              <a:buClr>
                <a:srgbClr val="000000"/>
              </a:buClr>
              <a:buSzPct val="100000"/>
            </a:pPr>
            <a:endParaRPr altLang="zh-CN" b="1" dirty="0" lang="en-US">
              <a:solidFill>
                <a:srgbClr val="000099"/>
              </a:solidFill>
              <a:latin typeface="Century Schoolbook" pitchFamily="18" charset="0"/>
            </a:endParaRPr>
          </a:p>
        </p:txBody>
      </p:sp>
      <p:sp>
        <p:nvSpPr>
          <p:cNvPr id="1048600" name="AutoShape 7"/>
          <p:cNvSpPr>
            <a:spLocks noChangeArrowheads="1"/>
          </p:cNvSpPr>
          <p:nvPr/>
        </p:nvSpPr>
        <p:spPr bwMode="auto">
          <a:xfrm>
            <a:off x="1928814" y="1785939"/>
            <a:ext cx="5529262" cy="51935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>
            <a:spAutoFit/>
          </a:bodyPr>
          <a:p>
            <a:pPr algn="just" lvl="0">
              <a:buClr>
                <a:srgbClr val="000000"/>
              </a:buClr>
              <a:buSzPct val="100000"/>
            </a:pPr>
            <a:r>
              <a:rPr b="1" dirty="0" lang="en-US" smtClean="0">
                <a:solidFill>
                  <a:srgbClr val="D32BE5"/>
                </a:solidFill>
                <a:latin typeface="Times New Roman" pitchFamily="18" charset="0"/>
                <a:cs typeface="Times New Roman" pitchFamily="18" charset="0"/>
              </a:rPr>
              <a:t>Classification of minerals</a:t>
            </a:r>
            <a:endParaRPr b="1" dirty="0" lang="en-US" smtClean="0"/>
          </a:p>
        </p:txBody>
      </p:sp>
      <p:sp>
        <p:nvSpPr>
          <p:cNvPr id="1048601" name="AutoShape 8"/>
          <p:cNvSpPr>
            <a:spLocks noChangeArrowheads="1"/>
          </p:cNvSpPr>
          <p:nvPr/>
        </p:nvSpPr>
        <p:spPr bwMode="auto">
          <a:xfrm>
            <a:off x="1066800" y="838200"/>
            <a:ext cx="6477000" cy="908864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 wrap="square">
            <a:spAutoFit/>
          </a:bodyPr>
          <a:p>
            <a:pPr algn="just">
              <a:buClr>
                <a:srgbClr val="000000"/>
              </a:buClr>
              <a:buSzPct val="100000"/>
            </a:pPr>
            <a:r>
              <a:rPr b="1" dirty="0" lang="en-US" smtClean="0">
                <a:solidFill>
                  <a:srgbClr val="D32BE5"/>
                </a:solidFill>
              </a:rPr>
              <a:t>Introduction to Mineral resources</a:t>
            </a:r>
          </a:p>
          <a:p>
            <a:pPr algn="just">
              <a:buClr>
                <a:srgbClr val="000000"/>
              </a:buClr>
              <a:buSzPct val="100000"/>
            </a:pPr>
            <a:endParaRPr altLang="zh-CN" b="1" dirty="0" lang="en-US">
              <a:solidFill>
                <a:srgbClr val="D32BE5"/>
              </a:solidFill>
              <a:latin typeface="Century Schoolbook" pitchFamily="18" charset="0"/>
              <a:ea typeface="SimHei" pitchFamily="49" charset="-122"/>
            </a:endParaRPr>
          </a:p>
        </p:txBody>
      </p:sp>
      <p:sp>
        <p:nvSpPr>
          <p:cNvPr id="1048602" name="AutoShape 9"/>
          <p:cNvSpPr>
            <a:spLocks noChangeArrowheads="1"/>
          </p:cNvSpPr>
          <p:nvPr/>
        </p:nvSpPr>
        <p:spPr bwMode="auto">
          <a:xfrm rot="5400000">
            <a:off x="-2590800" y="1362076"/>
            <a:ext cx="5181600" cy="4600576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</a:pPr>
            <a:endParaRPr altLang="en-US" lang="zh-CN">
              <a:latin typeface="+mn-lt"/>
            </a:endParaRPr>
          </a:p>
        </p:txBody>
      </p:sp>
      <p:grpSp>
        <p:nvGrpSpPr>
          <p:cNvPr id="35" name="Group 10"/>
          <p:cNvGrpSpPr/>
          <p:nvPr/>
        </p:nvGrpSpPr>
        <p:grpSpPr bwMode="auto">
          <a:xfrm>
            <a:off x="304800" y="1143000"/>
            <a:ext cx="366713" cy="381000"/>
            <a:chOff x="785" y="1175"/>
            <a:chExt cx="231" cy="240"/>
          </a:xfrm>
        </p:grpSpPr>
        <p:sp>
          <p:nvSpPr>
            <p:cNvPr id="1048603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4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5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06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7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08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grpSp>
        <p:nvGrpSpPr>
          <p:cNvPr id="36" name="Group 17"/>
          <p:cNvGrpSpPr/>
          <p:nvPr/>
        </p:nvGrpSpPr>
        <p:grpSpPr bwMode="auto">
          <a:xfrm>
            <a:off x="1285876" y="1928813"/>
            <a:ext cx="366713" cy="381000"/>
            <a:chOff x="1202" y="2024"/>
            <a:chExt cx="231" cy="240"/>
          </a:xfrm>
        </p:grpSpPr>
        <p:sp>
          <p:nvSpPr>
            <p:cNvPr id="1048609" name="Oval 18"/>
            <p:cNvSpPr>
              <a:spLocks noChangeArrowheads="1"/>
            </p:cNvSpPr>
            <p:nvPr/>
          </p:nvSpPr>
          <p:spPr bwMode="auto">
            <a:xfrm>
              <a:off x="1202" y="2024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0" name="Oval 19"/>
            <p:cNvSpPr>
              <a:spLocks noChangeArrowheads="1"/>
            </p:cNvSpPr>
            <p:nvPr/>
          </p:nvSpPr>
          <p:spPr bwMode="auto">
            <a:xfrm>
              <a:off x="1215" y="2038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1" name="Oval 20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12" name="Oval 21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3" name="Oval 22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14" name="Oval 23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grpSp>
        <p:nvGrpSpPr>
          <p:cNvPr id="37" name="Group 31"/>
          <p:cNvGrpSpPr/>
          <p:nvPr/>
        </p:nvGrpSpPr>
        <p:grpSpPr bwMode="auto">
          <a:xfrm>
            <a:off x="1905000" y="3048000"/>
            <a:ext cx="366713" cy="381000"/>
            <a:chOff x="567" y="3612"/>
            <a:chExt cx="231" cy="240"/>
          </a:xfrm>
        </p:grpSpPr>
        <p:sp>
          <p:nvSpPr>
            <p:cNvPr id="1048615" name="Oval 32"/>
            <p:cNvSpPr>
              <a:spLocks noChangeArrowheads="1"/>
            </p:cNvSpPr>
            <p:nvPr/>
          </p:nvSpPr>
          <p:spPr bwMode="auto">
            <a:xfrm>
              <a:off x="567" y="3612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6" name="Oval 33"/>
            <p:cNvSpPr>
              <a:spLocks noChangeArrowheads="1"/>
            </p:cNvSpPr>
            <p:nvPr/>
          </p:nvSpPr>
          <p:spPr bwMode="auto">
            <a:xfrm>
              <a:off x="580" y="3626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7" name="Oval 34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18" name="Oval 35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9" name="Oval 36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20" name="Oval 37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sp>
        <p:nvSpPr>
          <p:cNvPr id="1048621" name="AutoShape 8"/>
          <p:cNvSpPr>
            <a:spLocks noChangeArrowheads="1"/>
          </p:cNvSpPr>
          <p:nvPr/>
        </p:nvSpPr>
        <p:spPr bwMode="auto">
          <a:xfrm>
            <a:off x="2286000" y="3752578"/>
            <a:ext cx="5643562" cy="1260823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 wrap="square">
            <a:spAutoFit/>
          </a:bodyPr>
          <a:p>
            <a:pPr algn="just">
              <a:buClr>
                <a:srgbClr val="000000"/>
              </a:buClr>
              <a:buSzPct val="100000"/>
            </a:pPr>
            <a:r>
              <a:rPr b="1" dirty="0" lang="en-US" smtClean="0">
                <a:solidFill>
                  <a:srgbClr val="D32BE5"/>
                </a:solidFill>
              </a:rPr>
              <a:t> Major Minerals of India </a:t>
            </a:r>
            <a:endParaRPr b="1" dirty="0" lang="en-US" smtClean="0"/>
          </a:p>
          <a:p>
            <a:pPr algn="just" lvl="0">
              <a:buClr>
                <a:srgbClr val="000000"/>
              </a:buClr>
              <a:buSzPct val="100000"/>
            </a:pPr>
            <a:endParaRPr b="1" dirty="0" lang="en-US" smtClean="0"/>
          </a:p>
          <a:p>
            <a:pPr algn="just">
              <a:buClr>
                <a:srgbClr val="000000"/>
              </a:buClr>
              <a:buSzPct val="100000"/>
            </a:pPr>
            <a:endParaRPr b="1" dirty="0" lang="en-US" smtClean="0">
              <a:solidFill>
                <a:srgbClr val="7030A0"/>
              </a:solidFill>
            </a:endParaRPr>
          </a:p>
        </p:txBody>
      </p:sp>
      <p:sp>
        <p:nvSpPr>
          <p:cNvPr id="1048622" name="AutoShape 8"/>
          <p:cNvSpPr>
            <a:spLocks noChangeArrowheads="1"/>
          </p:cNvSpPr>
          <p:nvPr/>
        </p:nvSpPr>
        <p:spPr bwMode="auto">
          <a:xfrm>
            <a:off x="1905000" y="4953000"/>
            <a:ext cx="6337001" cy="781883"/>
          </a:xfrm>
          <a:prstGeom prst="roundRect">
            <a:avLst>
              <a:gd name="adj" fmla="val 24282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 wrap="square">
            <a:spAutoFit/>
          </a:bodyPr>
          <a:p>
            <a:pPr lvl="0"/>
            <a:r>
              <a:rPr b="1" dirty="0" lang="en-US" smtClean="0">
                <a:solidFill>
                  <a:srgbClr val="D32BE5"/>
                </a:solidFill>
              </a:rPr>
              <a:t>Major mines causing severe Environmental problems</a:t>
            </a:r>
            <a:endParaRPr b="1" dirty="0" lang="en-US" smtClean="0">
              <a:solidFill>
                <a:srgbClr val="C00000"/>
              </a:solidFill>
            </a:endParaRPr>
          </a:p>
          <a:p>
            <a:pPr eaLnBrk="1" hangingPunct="1"/>
            <a:endParaRPr altLang="zh-CN" b="1" dirty="0" sz="2000" lang="en-US">
              <a:solidFill>
                <a:srgbClr val="000099"/>
              </a:solidFill>
              <a:latin typeface="Century Schoolbook" pitchFamily="18" charset="0"/>
            </a:endParaRPr>
          </a:p>
        </p:txBody>
      </p:sp>
      <p:sp>
        <p:nvSpPr>
          <p:cNvPr id="1048623" name="Footer Placeholder 4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589045" y="1081883"/>
            <a:ext cx="2011362" cy="384175"/>
          </a:xfrm>
          <a:ln>
            <a:miter lim="800000"/>
            <a:headEnd/>
            <a:tailEnd/>
          </a:ln>
        </p:spPr>
        <p:txBody>
          <a:bodyPr bIns="45720" compatLnSpc="1" lIns="91440" numCol="1" rIns="91440" tIns="45720" wrap="square">
            <a:prstTxWarp prst="textNoShape"/>
          </a:bodyPr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altLang="en-US" lang="en-US"/>
              <a:t> </a:t>
            </a:r>
          </a:p>
        </p:txBody>
      </p:sp>
      <p:grpSp>
        <p:nvGrpSpPr>
          <p:cNvPr id="38" name="Group 17"/>
          <p:cNvGrpSpPr/>
          <p:nvPr/>
        </p:nvGrpSpPr>
        <p:grpSpPr bwMode="auto">
          <a:xfrm>
            <a:off x="1600200" y="2438400"/>
            <a:ext cx="366713" cy="381000"/>
            <a:chOff x="1202" y="2024"/>
            <a:chExt cx="231" cy="240"/>
          </a:xfrm>
        </p:grpSpPr>
        <p:sp>
          <p:nvSpPr>
            <p:cNvPr id="1048624" name="Oval 18"/>
            <p:cNvSpPr>
              <a:spLocks noChangeArrowheads="1"/>
            </p:cNvSpPr>
            <p:nvPr/>
          </p:nvSpPr>
          <p:spPr bwMode="auto">
            <a:xfrm>
              <a:off x="1202" y="2024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5" name="Oval 19"/>
            <p:cNvSpPr>
              <a:spLocks noChangeArrowheads="1"/>
            </p:cNvSpPr>
            <p:nvPr/>
          </p:nvSpPr>
          <p:spPr bwMode="auto">
            <a:xfrm>
              <a:off x="1215" y="2038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6" name="Oval 20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27" name="Oval 21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8" name="Oval 22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29" name="Oval 23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grpSp>
        <p:nvGrpSpPr>
          <p:cNvPr id="39" name="Group 17"/>
          <p:cNvGrpSpPr/>
          <p:nvPr/>
        </p:nvGrpSpPr>
        <p:grpSpPr bwMode="auto">
          <a:xfrm>
            <a:off x="1905000" y="3886200"/>
            <a:ext cx="366712" cy="381000"/>
            <a:chOff x="1202" y="2024"/>
            <a:chExt cx="231" cy="240"/>
          </a:xfrm>
        </p:grpSpPr>
        <p:sp>
          <p:nvSpPr>
            <p:cNvPr id="1048630" name="Oval 18"/>
            <p:cNvSpPr>
              <a:spLocks noChangeArrowheads="1"/>
            </p:cNvSpPr>
            <p:nvPr/>
          </p:nvSpPr>
          <p:spPr bwMode="auto">
            <a:xfrm>
              <a:off x="1202" y="2024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31" name="Oval 19"/>
            <p:cNvSpPr>
              <a:spLocks noChangeArrowheads="1"/>
            </p:cNvSpPr>
            <p:nvPr/>
          </p:nvSpPr>
          <p:spPr bwMode="auto">
            <a:xfrm>
              <a:off x="1215" y="2038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32" name="Oval 20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33" name="Oval 21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34" name="Oval 22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35" name="Oval 23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grpSp>
        <p:nvGrpSpPr>
          <p:cNvPr id="40" name="Group 10"/>
          <p:cNvGrpSpPr/>
          <p:nvPr/>
        </p:nvGrpSpPr>
        <p:grpSpPr bwMode="auto">
          <a:xfrm>
            <a:off x="1752600" y="4343400"/>
            <a:ext cx="366713" cy="381000"/>
            <a:chOff x="785" y="1175"/>
            <a:chExt cx="231" cy="240"/>
          </a:xfrm>
        </p:grpSpPr>
        <p:sp>
          <p:nvSpPr>
            <p:cNvPr id="1048636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37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38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39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40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41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grpSp>
        <p:nvGrpSpPr>
          <p:cNvPr id="41" name="Group 31"/>
          <p:cNvGrpSpPr/>
          <p:nvPr/>
        </p:nvGrpSpPr>
        <p:grpSpPr bwMode="auto">
          <a:xfrm>
            <a:off x="1524000" y="4876800"/>
            <a:ext cx="366713" cy="381000"/>
            <a:chOff x="567" y="3612"/>
            <a:chExt cx="231" cy="240"/>
          </a:xfrm>
        </p:grpSpPr>
        <p:sp>
          <p:nvSpPr>
            <p:cNvPr id="1048642" name="Oval 32"/>
            <p:cNvSpPr>
              <a:spLocks noChangeArrowheads="1"/>
            </p:cNvSpPr>
            <p:nvPr/>
          </p:nvSpPr>
          <p:spPr bwMode="auto">
            <a:xfrm>
              <a:off x="567" y="3612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43" name="Oval 33"/>
            <p:cNvSpPr>
              <a:spLocks noChangeArrowheads="1"/>
            </p:cNvSpPr>
            <p:nvPr/>
          </p:nvSpPr>
          <p:spPr bwMode="auto">
            <a:xfrm>
              <a:off x="580" y="3626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44" name="Oval 34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45" name="Oval 35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46" name="Oval 36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47" name="Oval 37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grpSp>
        <p:nvGrpSpPr>
          <p:cNvPr id="42" name="Group 31"/>
          <p:cNvGrpSpPr/>
          <p:nvPr/>
        </p:nvGrpSpPr>
        <p:grpSpPr bwMode="auto">
          <a:xfrm>
            <a:off x="228601" y="6019800"/>
            <a:ext cx="366713" cy="381000"/>
            <a:chOff x="567" y="3612"/>
            <a:chExt cx="231" cy="240"/>
          </a:xfrm>
        </p:grpSpPr>
        <p:sp>
          <p:nvSpPr>
            <p:cNvPr id="1048648" name="Oval 32"/>
            <p:cNvSpPr>
              <a:spLocks noChangeArrowheads="1"/>
            </p:cNvSpPr>
            <p:nvPr/>
          </p:nvSpPr>
          <p:spPr bwMode="auto">
            <a:xfrm>
              <a:off x="567" y="3612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49" name="Oval 33"/>
            <p:cNvSpPr>
              <a:spLocks noChangeArrowheads="1"/>
            </p:cNvSpPr>
            <p:nvPr/>
          </p:nvSpPr>
          <p:spPr bwMode="auto">
            <a:xfrm>
              <a:off x="580" y="3626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50" name="Oval 34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51" name="Oval 35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52" name="Oval 36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53" name="Oval 37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sp>
        <p:nvSpPr>
          <p:cNvPr id="1048654" name="AutoShape 8"/>
          <p:cNvSpPr>
            <a:spLocks noChangeArrowheads="1"/>
          </p:cNvSpPr>
          <p:nvPr/>
        </p:nvSpPr>
        <p:spPr bwMode="auto">
          <a:xfrm>
            <a:off x="1295400" y="5867400"/>
            <a:ext cx="5970588" cy="817424"/>
          </a:xfrm>
          <a:prstGeom prst="roundRect">
            <a:avLst>
              <a:gd name="adj" fmla="val 24282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>
            <a:spAutoFit/>
          </a:bodyPr>
          <a:p>
            <a:pPr lvl="0"/>
            <a:r>
              <a:rPr b="1" dirty="0" sz="2000" lang="en-US" smtClean="0">
                <a:solidFill>
                  <a:srgbClr val="D32BE5"/>
                </a:solidFill>
              </a:rPr>
              <a:t>Remedial measures </a:t>
            </a:r>
          </a:p>
          <a:p>
            <a:endParaRPr altLang="zh-CN" b="1" dirty="0" sz="2000" lang="en-US">
              <a:solidFill>
                <a:srgbClr val="D32BE5"/>
              </a:solidFill>
              <a:latin typeface="Century Schoolbook" pitchFamily="18" charset="0"/>
            </a:endParaRPr>
          </a:p>
        </p:txBody>
      </p:sp>
      <p:sp>
        <p:nvSpPr>
          <p:cNvPr id="1048655" name="Rectangle 75"/>
          <p:cNvSpPr/>
          <p:nvPr/>
        </p:nvSpPr>
        <p:spPr>
          <a:xfrm>
            <a:off x="2209800" y="2438400"/>
            <a:ext cx="4466749" cy="358141"/>
          </a:xfrm>
          <a:prstGeom prst="rect"/>
        </p:spPr>
        <p:txBody>
          <a:bodyPr wrap="none">
            <a:spAutoFit/>
          </a:bodyPr>
          <a:p>
            <a:r>
              <a:rPr b="1" dirty="0" lang="en-US" smtClean="0">
                <a:solidFill>
                  <a:srgbClr val="D32BE5"/>
                </a:solidFill>
                <a:latin typeface="Times New Roman" pitchFamily="18" charset="0"/>
                <a:cs typeface="Times New Roman" pitchFamily="18" charset="0"/>
              </a:rPr>
              <a:t>Uses and exploitation of mineral resources</a:t>
            </a:r>
            <a:endParaRPr b="1" dirty="0" lang="en-US" smtClean="0"/>
          </a:p>
        </p:txBody>
      </p:sp>
      <p:sp>
        <p:nvSpPr>
          <p:cNvPr id="1048656" name="Rectangle 77"/>
          <p:cNvSpPr/>
          <p:nvPr/>
        </p:nvSpPr>
        <p:spPr>
          <a:xfrm>
            <a:off x="2209800" y="4419600"/>
            <a:ext cx="5531119" cy="358140"/>
          </a:xfrm>
          <a:prstGeom prst="rect"/>
        </p:spPr>
        <p:txBody>
          <a:bodyPr wrap="none">
            <a:spAutoFit/>
          </a:bodyPr>
          <a:p>
            <a:pPr lvl="0"/>
            <a:r>
              <a:rPr b="1" dirty="0" lang="en-US">
                <a:solidFill>
                  <a:srgbClr val="D32BE5"/>
                </a:solidFill>
              </a:rPr>
              <a:t>E</a:t>
            </a:r>
            <a:r>
              <a:rPr b="1" dirty="0" lang="en-US" smtClean="0">
                <a:solidFill>
                  <a:srgbClr val="D32BE5"/>
                </a:solidFill>
              </a:rPr>
              <a:t>nvironmental impacts of mineral extraction and use </a:t>
            </a:r>
            <a:endParaRPr b="1" dirty="0" lang="en-US"/>
          </a:p>
        </p:txBody>
      </p:sp>
      <p:sp>
        <p:nvSpPr>
          <p:cNvPr id="1048657" name="Rectangle 74"/>
          <p:cNvSpPr/>
          <p:nvPr/>
        </p:nvSpPr>
        <p:spPr>
          <a:xfrm>
            <a:off x="2895600" y="152400"/>
            <a:ext cx="2418080" cy="751840"/>
          </a:xfrm>
          <a:prstGeom prst="rect"/>
        </p:spPr>
        <p:txBody>
          <a:bodyPr wrap="none">
            <a:spAutoFit/>
          </a:bodyPr>
          <a:p>
            <a:r>
              <a:rPr altLang="zh-CN" b="1" dirty="0" sz="4400" lang="en-US" smtClean="0">
                <a:solidFill>
                  <a:srgbClr val="D32BE5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Arial" pitchFamily="34" charset="0"/>
              </a:rPr>
              <a:t>Contents</a:t>
            </a:r>
            <a:endParaRPr dirty="0" sz="4400" lang="en-US"/>
          </a:p>
        </p:txBody>
      </p:sp>
      <p:sp>
        <p:nvSpPr>
          <p:cNvPr id="1048658" name="AutoShape 8"/>
          <p:cNvSpPr>
            <a:spLocks noChangeArrowheads="1"/>
          </p:cNvSpPr>
          <p:nvPr/>
        </p:nvSpPr>
        <p:spPr bwMode="auto">
          <a:xfrm>
            <a:off x="1600200" y="5410200"/>
            <a:ext cx="5970588" cy="1172825"/>
          </a:xfrm>
          <a:prstGeom prst="roundRect">
            <a:avLst>
              <a:gd name="adj" fmla="val 24282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>
            <a:spAutoFit/>
          </a:bodyPr>
          <a:p>
            <a:r>
              <a:rPr b="1" dirty="0" sz="2000" lang="en-US" smtClean="0">
                <a:solidFill>
                  <a:srgbClr val="D32BE5"/>
                </a:solidFill>
              </a:rPr>
              <a:t>Impacts of mining </a:t>
            </a:r>
            <a:endParaRPr b="1" dirty="0" sz="2000" lang="en-US" smtClean="0"/>
          </a:p>
          <a:p>
            <a:pPr lvl="0"/>
            <a:r>
              <a:rPr b="1" dirty="0" sz="2000" lang="en-US" smtClean="0">
                <a:solidFill>
                  <a:srgbClr val="3333FF"/>
                </a:solidFill>
              </a:rPr>
              <a:t> </a:t>
            </a:r>
            <a:endParaRPr b="1" dirty="0" sz="2000" lang="en-US" smtClean="0"/>
          </a:p>
          <a:p>
            <a:endParaRPr altLang="zh-CN" b="1" dirty="0" sz="2000" lang="en-US">
              <a:solidFill>
                <a:srgbClr val="7030A0"/>
              </a:solidFill>
              <a:latin typeface="Century Schoolbook" pitchFamily="18" charset="0"/>
            </a:endParaRPr>
          </a:p>
        </p:txBody>
      </p:sp>
      <p:grpSp>
        <p:nvGrpSpPr>
          <p:cNvPr id="43" name="Group 10"/>
          <p:cNvGrpSpPr/>
          <p:nvPr/>
        </p:nvGrpSpPr>
        <p:grpSpPr bwMode="auto">
          <a:xfrm>
            <a:off x="1066800" y="5486400"/>
            <a:ext cx="366713" cy="381000"/>
            <a:chOff x="785" y="1175"/>
            <a:chExt cx="231" cy="240"/>
          </a:xfrm>
        </p:grpSpPr>
        <p:sp>
          <p:nvSpPr>
            <p:cNvPr id="1048659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60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61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62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63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64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229600" cy="1143000"/>
          </a:xfrm>
        </p:spPr>
        <p:txBody>
          <a:bodyPr>
            <a:noAutofit/>
          </a:bodyPr>
          <a:p>
            <a:pPr algn="ctr"/>
            <a:r>
              <a:rPr dirty="0" sz="4000" lang="en-US" smtClean="0">
                <a:solidFill>
                  <a:srgbClr val="D32BE5"/>
                </a:solidFill>
              </a:rPr>
              <a:t>Introduction</a:t>
            </a:r>
            <a:br>
              <a:rPr dirty="0" sz="4000" lang="en-US" smtClean="0">
                <a:solidFill>
                  <a:srgbClr val="D32BE5"/>
                </a:solidFill>
              </a:rPr>
            </a:br>
            <a:endParaRPr dirty="0" sz="4000" lang="en-US">
              <a:solidFill>
                <a:srgbClr val="D32BE5"/>
              </a:solidFill>
            </a:endParaRPr>
          </a:p>
        </p:txBody>
      </p:sp>
      <p:sp>
        <p:nvSpPr>
          <p:cNvPr id="1048669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229600" cy="4389120"/>
          </a:xfrm>
        </p:spPr>
        <p:txBody>
          <a:bodyPr/>
          <a:p>
            <a:r>
              <a:rPr dirty="0" lang="en-US" smtClean="0"/>
              <a:t>Minerals are naturally occurring, inorganic, crystalline solids having a definite chemical composition and characteristic physical properties.</a:t>
            </a:r>
          </a:p>
          <a:p>
            <a:pPr>
              <a:buNone/>
            </a:pPr>
            <a:endParaRPr dirty="0" lang="en-US" smtClean="0"/>
          </a:p>
        </p:txBody>
      </p:sp>
      <p:sp>
        <p:nvSpPr>
          <p:cNvPr id="1048670" name="Rectangle 3"/>
          <p:cNvSpPr>
            <a:spLocks noChangeArrowheads="1"/>
          </p:cNvSpPr>
          <p:nvPr/>
        </p:nvSpPr>
        <p:spPr bwMode="auto">
          <a:xfrm>
            <a:off x="6096000" y="1905000"/>
            <a:ext cx="2819400" cy="1631216"/>
          </a:xfrm>
          <a:prstGeom prst="rect"/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just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D32BE5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Critical minerals:  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are essential for the economy of a nation </a:t>
            </a:r>
          </a:p>
          <a:p>
            <a:pPr algn="just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e.g. iron, </a:t>
            </a:r>
            <a:r>
              <a:rPr baseline="0" b="0" cap="none" dirty="0" sz="2000" i="0" kumimoji="0" lang="en-US" normalizeH="0" err="1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aluminium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copper, gold etc. </a:t>
            </a:r>
            <a:endParaRPr baseline="0" b="0" cap="none" dirty="0" sz="20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71" name="Rectangle 4"/>
          <p:cNvSpPr>
            <a:spLocks noChangeArrowheads="1"/>
          </p:cNvSpPr>
          <p:nvPr/>
        </p:nvSpPr>
        <p:spPr bwMode="auto">
          <a:xfrm>
            <a:off x="5943600" y="3895576"/>
            <a:ext cx="3048000" cy="2225040"/>
          </a:xfrm>
          <a:prstGeom prst="rect"/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just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D32BE5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Strategic minerals: 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required for the </a:t>
            </a:r>
            <a:r>
              <a:rPr baseline="0" b="0" cap="none" dirty="0" sz="2000" i="0" kumimoji="0" lang="en-US" normalizeH="0" err="1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defence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of a country e.g.</a:t>
            </a:r>
            <a:r>
              <a:rPr b="0" cap="none" dirty="0" sz="20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dirty="0" sz="2000" lang="en-US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Uranium,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Manganese, cobalt, platinum, chromium</a:t>
            </a:r>
            <a:r>
              <a:rPr b="0" cap="none" dirty="0" sz="20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dirty="0" sz="2000" lang="en-US" smtClean="0"/>
              <a:t>Vanadium, tungsten, molybdenum, cobalt 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etc.</a:t>
            </a:r>
            <a:endParaRPr baseline="0" b="0" cap="none" dirty="0" sz="20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97154" name="Picture 7"/>
          <p:cNvPicPr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52400" y="2057400"/>
            <a:ext cx="5791200" cy="4191000"/>
          </a:xfrm>
          <a:prstGeom prst="rect"/>
          <a:solidFill>
            <a:srgbClr val="FFFF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>
          <a:xfrm>
            <a:off x="1676400" y="990600"/>
            <a:ext cx="4876800" cy="685800"/>
          </a:xfrm>
        </p:spPr>
        <p:txBody>
          <a:bodyPr>
            <a:noAutofit/>
          </a:bodyPr>
          <a:p>
            <a:r>
              <a:rPr dirty="0" sz="4000" lang="en-US" smtClean="0">
                <a:solidFill>
                  <a:srgbClr val="D32BE5"/>
                </a:solidFill>
                <a:latin typeface="Times New Roman" pitchFamily="18" charset="0"/>
                <a:cs typeface="Times New Roman" pitchFamily="18" charset="0"/>
              </a:rPr>
              <a:t>Uses and exploitation</a:t>
            </a:r>
            <a:r>
              <a:rPr dirty="0" sz="4000" lang="en-US" smtClean="0"/>
              <a:t/>
            </a:r>
            <a:br>
              <a:rPr dirty="0" sz="4000" lang="en-US" smtClean="0"/>
            </a:br>
            <a:endParaRPr dirty="0" sz="4000" lang="en-US"/>
          </a:p>
        </p:txBody>
      </p:sp>
      <p:sp>
        <p:nvSpPr>
          <p:cNvPr id="104867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181600"/>
          </a:xfrm>
        </p:spPr>
        <p:txBody>
          <a:bodyPr>
            <a:normAutofit fontScale="92308" lnSpcReduction="20000"/>
          </a:bodyPr>
          <a:p>
            <a:r>
              <a:rPr dirty="0" lang="en-US" smtClean="0"/>
              <a:t>The main uses of minerals are as follows:</a:t>
            </a:r>
          </a:p>
          <a:p>
            <a:r>
              <a:rPr dirty="0" lang="en-US" smtClean="0"/>
              <a:t>(</a:t>
            </a:r>
            <a:r>
              <a:rPr dirty="0" lang="en-US" err="1" smtClean="0"/>
              <a:t>i</a:t>
            </a:r>
            <a:r>
              <a:rPr dirty="0" lang="en-US" smtClean="0"/>
              <a:t>) </a:t>
            </a:r>
            <a:r>
              <a:rPr dirty="0" lang="en-US" smtClean="0">
                <a:solidFill>
                  <a:srgbClr val="00B050"/>
                </a:solidFill>
              </a:rPr>
              <a:t>Development of industrial plants and machinery</a:t>
            </a:r>
            <a:r>
              <a:rPr dirty="0" lang="en-US" smtClean="0"/>
              <a:t>.</a:t>
            </a:r>
          </a:p>
          <a:p>
            <a:r>
              <a:rPr dirty="0" lang="en-US" smtClean="0"/>
              <a:t>(ii) </a:t>
            </a:r>
            <a:r>
              <a:rPr dirty="0" lang="en-US" smtClean="0">
                <a:solidFill>
                  <a:srgbClr val="00B050"/>
                </a:solidFill>
              </a:rPr>
              <a:t>Energy Source</a:t>
            </a:r>
            <a:r>
              <a:rPr dirty="0" lang="en-US" smtClean="0"/>
              <a:t>:  coal, lignite, uranium.</a:t>
            </a:r>
          </a:p>
          <a:p>
            <a:r>
              <a:rPr dirty="0" lang="en-US" smtClean="0"/>
              <a:t>(iii) </a:t>
            </a:r>
            <a:r>
              <a:rPr dirty="0" lang="en-US" smtClean="0">
                <a:solidFill>
                  <a:srgbClr val="00B050"/>
                </a:solidFill>
              </a:rPr>
              <a:t>Construction, </a:t>
            </a:r>
            <a:r>
              <a:rPr dirty="0" lang="en-US" smtClean="0"/>
              <a:t>housing, settlements.: Iron, </a:t>
            </a:r>
          </a:p>
          <a:p>
            <a:r>
              <a:rPr dirty="0" lang="en-US" smtClean="0"/>
              <a:t>(iv) </a:t>
            </a:r>
            <a:r>
              <a:rPr dirty="0" lang="en-US" err="1" smtClean="0">
                <a:solidFill>
                  <a:srgbClr val="00B050"/>
                </a:solidFill>
              </a:rPr>
              <a:t>Defence</a:t>
            </a:r>
            <a:r>
              <a:rPr dirty="0" lang="en-US" smtClean="0">
                <a:solidFill>
                  <a:srgbClr val="00B050"/>
                </a:solidFill>
              </a:rPr>
              <a:t> equipments-weapons</a:t>
            </a:r>
            <a:r>
              <a:rPr dirty="0" lang="en-US" smtClean="0"/>
              <a:t>, armaments.</a:t>
            </a:r>
          </a:p>
          <a:p>
            <a:r>
              <a:rPr dirty="0" lang="en-US" smtClean="0"/>
              <a:t>(v) </a:t>
            </a:r>
            <a:r>
              <a:rPr dirty="0" lang="en-US" smtClean="0">
                <a:solidFill>
                  <a:srgbClr val="00B050"/>
                </a:solidFill>
              </a:rPr>
              <a:t>Transportation means</a:t>
            </a:r>
            <a:r>
              <a:rPr dirty="0" lang="en-US" smtClean="0"/>
              <a:t>.; Rail, Vehicle</a:t>
            </a:r>
          </a:p>
          <a:p>
            <a:r>
              <a:rPr dirty="0" lang="en-US" smtClean="0"/>
              <a:t>(vi) </a:t>
            </a:r>
            <a:r>
              <a:rPr dirty="0" lang="en-US" smtClean="0">
                <a:solidFill>
                  <a:srgbClr val="00B050"/>
                </a:solidFill>
              </a:rPr>
              <a:t>Communication</a:t>
            </a:r>
            <a:r>
              <a:rPr dirty="0" lang="en-US" smtClean="0"/>
              <a:t>- telephone wires, cables, electronic devices.</a:t>
            </a:r>
          </a:p>
          <a:p>
            <a:r>
              <a:rPr dirty="0" lang="en-US" smtClean="0"/>
              <a:t>(vii) </a:t>
            </a:r>
            <a:r>
              <a:rPr dirty="0" lang="en-US" smtClean="0">
                <a:solidFill>
                  <a:srgbClr val="00B050"/>
                </a:solidFill>
              </a:rPr>
              <a:t>Medicinal system- </a:t>
            </a:r>
            <a:r>
              <a:rPr dirty="0" lang="en-US" err="1" smtClean="0"/>
              <a:t>Ayurvedic</a:t>
            </a:r>
            <a:r>
              <a:rPr dirty="0" lang="en-US" smtClean="0"/>
              <a:t>/Allopathic System: Ag, </a:t>
            </a:r>
            <a:r>
              <a:rPr dirty="0" lang="en-US" err="1" smtClean="0"/>
              <a:t>Au,Zn</a:t>
            </a:r>
            <a:endParaRPr dirty="0" lang="en-US" smtClean="0"/>
          </a:p>
          <a:p>
            <a:r>
              <a:rPr dirty="0" lang="en-US" smtClean="0"/>
              <a:t>(viii) </a:t>
            </a:r>
            <a:r>
              <a:rPr dirty="0" lang="en-US" smtClean="0">
                <a:solidFill>
                  <a:srgbClr val="00B050"/>
                </a:solidFill>
              </a:rPr>
              <a:t>Formation of alloys </a:t>
            </a:r>
            <a:r>
              <a:rPr dirty="0" lang="en-US" smtClean="0"/>
              <a:t>for various purposes (e.g., Bronze, Brass).</a:t>
            </a:r>
          </a:p>
          <a:p>
            <a:r>
              <a:rPr dirty="0" lang="en-US" smtClean="0"/>
              <a:t>(ix) </a:t>
            </a:r>
            <a:r>
              <a:rPr dirty="0" lang="en-US" smtClean="0">
                <a:solidFill>
                  <a:srgbClr val="00B050"/>
                </a:solidFill>
              </a:rPr>
              <a:t>Agriculture:</a:t>
            </a:r>
            <a:r>
              <a:rPr dirty="0" lang="en-US" smtClean="0"/>
              <a:t> fertilizers, seed dressings and fungicides (e.g.</a:t>
            </a:r>
          </a:p>
          <a:p>
            <a:r>
              <a:rPr dirty="0" lang="en-US" err="1" smtClean="0">
                <a:solidFill>
                  <a:srgbClr val="FF0000"/>
                </a:solidFill>
              </a:rPr>
              <a:t>zineb</a:t>
            </a:r>
            <a:r>
              <a:rPr dirty="0" lang="en-US" smtClean="0"/>
              <a:t> containing zinc, </a:t>
            </a:r>
            <a:r>
              <a:rPr dirty="0" lang="en-US" err="1" smtClean="0">
                <a:solidFill>
                  <a:srgbClr val="FF0000"/>
                </a:solidFill>
              </a:rPr>
              <a:t>Maneb</a:t>
            </a:r>
            <a:r>
              <a:rPr dirty="0" lang="en-US" smtClean="0"/>
              <a:t>-containing manganese etc.).</a:t>
            </a:r>
          </a:p>
          <a:p>
            <a:r>
              <a:rPr dirty="0" lang="en-US" smtClean="0"/>
              <a:t>(x)</a:t>
            </a:r>
            <a:r>
              <a:rPr dirty="0" lang="en-US" smtClean="0">
                <a:solidFill>
                  <a:srgbClr val="00B050"/>
                </a:solidFill>
              </a:rPr>
              <a:t> </a:t>
            </a:r>
            <a:r>
              <a:rPr dirty="0" lang="en-US" err="1" smtClean="0">
                <a:solidFill>
                  <a:srgbClr val="00B050"/>
                </a:solidFill>
              </a:rPr>
              <a:t>Jewellery</a:t>
            </a:r>
            <a:r>
              <a:rPr dirty="0" lang="en-US" smtClean="0">
                <a:solidFill>
                  <a:srgbClr val="00B050"/>
                </a:solidFill>
              </a:rPr>
              <a:t>: </a:t>
            </a:r>
            <a:r>
              <a:rPr dirty="0" lang="en-US" smtClean="0"/>
              <a:t> Gold, silver, platinum, diamond.</a:t>
            </a:r>
          </a:p>
          <a:p>
            <a:endParaRPr dirty="0" lang="en-US"/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3"/>
          <p:cNvPicPr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52400" y="457200"/>
            <a:ext cx="8763000" cy="6400800"/>
          </a:xfrm>
          <a:prstGeom prst="rect"/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9220200" cy="685800"/>
          </a:xfrm>
        </p:spPr>
        <p:txBody>
          <a:bodyPr>
            <a:noAutofit/>
          </a:bodyPr>
          <a:p>
            <a:r>
              <a:rPr dirty="0" sz="4000" lang="en-US" smtClean="0">
                <a:solidFill>
                  <a:srgbClr val="D32BE5"/>
                </a:solidFill>
              </a:rPr>
              <a:t>Major uses of some non-</a:t>
            </a:r>
            <a:r>
              <a:rPr dirty="0" sz="4000" lang="en-US" err="1" smtClean="0">
                <a:solidFill>
                  <a:srgbClr val="D32BE5"/>
                </a:solidFill>
              </a:rPr>
              <a:t>metalic</a:t>
            </a:r>
            <a:r>
              <a:rPr dirty="0" sz="4000" lang="en-US" smtClean="0">
                <a:solidFill>
                  <a:srgbClr val="D32BE5"/>
                </a:solidFill>
              </a:rPr>
              <a:t> minerals</a:t>
            </a:r>
            <a:endParaRPr dirty="0" sz="4000" lang="en-US">
              <a:solidFill>
                <a:srgbClr val="D32BE5"/>
              </a:solidFill>
            </a:endParaRPr>
          </a:p>
        </p:txBody>
      </p:sp>
      <p:sp>
        <p:nvSpPr>
          <p:cNvPr id="1048675" name="Content Placeholder 2"/>
          <p:cNvSpPr>
            <a:spLocks noGrp="1"/>
          </p:cNvSpPr>
          <p:nvPr>
            <p:ph idx="1"/>
          </p:nvPr>
        </p:nvSpPr>
        <p:spPr>
          <a:xfrm>
            <a:off x="457200" y="4724400"/>
            <a:ext cx="8686800" cy="2133600"/>
          </a:xfrm>
        </p:spPr>
        <p:txBody>
          <a:bodyPr/>
          <a:p>
            <a:r>
              <a:rPr dirty="0" sz="2400" lang="en-US" smtClean="0">
                <a:solidFill>
                  <a:srgbClr val="00B050"/>
                </a:solidFill>
              </a:rPr>
              <a:t>Maximum quantity used</a:t>
            </a:r>
            <a:r>
              <a:rPr dirty="0" sz="2400" lang="en-US" smtClean="0"/>
              <a:t>:  Iron and steel (740 million metric tons annually)</a:t>
            </a:r>
          </a:p>
          <a:p>
            <a:r>
              <a:rPr dirty="0" sz="2400" lang="en-US" smtClean="0"/>
              <a:t> followed by manganese, copper, chromium, </a:t>
            </a:r>
            <a:r>
              <a:rPr dirty="0" sz="2400" lang="en-US" err="1" smtClean="0"/>
              <a:t>aluminium</a:t>
            </a:r>
            <a:r>
              <a:rPr dirty="0" sz="2400" lang="en-US" smtClean="0"/>
              <a:t> and Nickel.</a:t>
            </a:r>
          </a:p>
          <a:p>
            <a:endParaRPr dirty="0" lang="en-US"/>
          </a:p>
        </p:txBody>
      </p:sp>
      <p:pic>
        <p:nvPicPr>
          <p:cNvPr id="2097156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5330" t="12349" b="6175"/>
          <a:stretch>
            <a:fillRect/>
          </a:stretch>
        </p:blipFill>
        <p:spPr bwMode="auto">
          <a:xfrm>
            <a:off x="1143001" y="1219200"/>
            <a:ext cx="7391400" cy="3505199"/>
          </a:xfrm>
          <a:prstGeom prst="rect"/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p>
            <a:pPr algn="ctr"/>
            <a:r>
              <a:rPr dirty="0" sz="4000" lang="en-US" smtClean="0">
                <a:solidFill>
                  <a:srgbClr val="D32BE5"/>
                </a:solidFill>
              </a:rPr>
              <a:t>Major reserves and important uses metals</a:t>
            </a:r>
            <a:endParaRPr dirty="0" sz="4000" lang="en-US">
              <a:solidFill>
                <a:srgbClr val="D32BE5"/>
              </a:solidFill>
            </a:endParaRPr>
          </a:p>
        </p:txBody>
      </p:sp>
      <p:pic>
        <p:nvPicPr>
          <p:cNvPr id="2097157" name="Picture 3"/>
          <p:cNvPicPr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0" y="1066800"/>
            <a:ext cx="6477000" cy="5528310"/>
          </a:xfrm>
          <a:prstGeom prst="rect"/>
          <a:noFill/>
          <a:ln w="9525">
            <a:noFill/>
            <a:miter lim="800000"/>
            <a:headEnd/>
            <a:tailEnd/>
          </a:ln>
        </p:spPr>
      </p:pic>
      <p:sp>
        <p:nvSpPr>
          <p:cNvPr id="1048677" name="Content Placeholder 2"/>
          <p:cNvSpPr>
            <a:spLocks noGrp="1"/>
          </p:cNvSpPr>
          <p:nvPr>
            <p:ph idx="1"/>
          </p:nvPr>
        </p:nvSpPr>
        <p:spPr>
          <a:xfrm>
            <a:off x="6477000" y="1447800"/>
            <a:ext cx="2446020" cy="2819400"/>
          </a:xfrm>
          <a:solidFill>
            <a:srgbClr val="FFFF00"/>
          </a:solidFill>
        </p:spPr>
        <p:txBody>
          <a:bodyPr>
            <a:normAutofit/>
          </a:bodyPr>
          <a:p>
            <a:r>
              <a:rPr b="1" dirty="0" sz="1700" lang="en-US" smtClean="0"/>
              <a:t>Major world reserves of most of the metallic minerals are: </a:t>
            </a:r>
          </a:p>
          <a:p>
            <a:r>
              <a:rPr dirty="0" sz="1700" lang="en-US" smtClean="0"/>
              <a:t>USSR, USA, Canada, South Africa and Australia</a:t>
            </a:r>
          </a:p>
          <a:p>
            <a:r>
              <a:rPr dirty="0" sz="1600" lang="en-US" smtClean="0"/>
              <a:t>Japan virtually no metal reserves</a:t>
            </a:r>
            <a:endParaRPr dirty="0" sz="1600" lang="en-US"/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>
          <a:xfrm>
            <a:off x="1219200" y="914400"/>
            <a:ext cx="5715000" cy="685800"/>
          </a:xfrm>
        </p:spPr>
        <p:txBody>
          <a:bodyPr>
            <a:noAutofit/>
          </a:bodyPr>
          <a:p>
            <a:r>
              <a:rPr dirty="0" sz="4000" lang="en-US" smtClean="0">
                <a:solidFill>
                  <a:srgbClr val="D32BE5"/>
                </a:solidFill>
              </a:rPr>
              <a:t>Major Minerals of India</a:t>
            </a:r>
            <a:br>
              <a:rPr dirty="0" sz="4000" lang="en-US" smtClean="0">
                <a:solidFill>
                  <a:srgbClr val="D32BE5"/>
                </a:solidFill>
              </a:rPr>
            </a:br>
            <a:endParaRPr dirty="0" sz="4000" lang="en-US">
              <a:solidFill>
                <a:srgbClr val="D32BE5"/>
              </a:solidFill>
            </a:endParaRPr>
          </a:p>
        </p:txBody>
      </p:sp>
      <p:sp>
        <p:nvSpPr>
          <p:cNvPr id="1048682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438912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dirty="0" sz="2000" lang="en-US" smtClean="0">
                <a:solidFill>
                  <a:srgbClr val="00B050"/>
                </a:solidFill>
              </a:rPr>
              <a:t>(a)</a:t>
            </a:r>
            <a:r>
              <a:rPr dirty="0" sz="2000" lang="en-US" smtClean="0"/>
              <a:t> </a:t>
            </a:r>
            <a:r>
              <a:rPr dirty="0" sz="2000" lang="en-US" smtClean="0">
                <a:solidFill>
                  <a:srgbClr val="FF0000"/>
                </a:solidFill>
              </a:rPr>
              <a:t>Energy generating minerals</a:t>
            </a:r>
            <a:r>
              <a:rPr dirty="0" sz="2000" lang="en-US" smtClean="0">
                <a:solidFill>
                  <a:srgbClr val="00B050"/>
                </a:solidFill>
              </a:rPr>
              <a:t>: Coal and lignite</a:t>
            </a:r>
            <a:r>
              <a:rPr dirty="0" sz="2000" lang="en-US" smtClean="0"/>
              <a:t>: West Bengal, Jharkhand, Orissa, M.P., A.P.</a:t>
            </a:r>
          </a:p>
          <a:p>
            <a:pPr>
              <a:lnSpc>
                <a:spcPct val="150000"/>
              </a:lnSpc>
            </a:pPr>
            <a:r>
              <a:rPr dirty="0" sz="2000" lang="en-US" smtClean="0"/>
              <a:t> </a:t>
            </a:r>
            <a:r>
              <a:rPr dirty="0" sz="2000" lang="en-US" smtClean="0">
                <a:solidFill>
                  <a:srgbClr val="00B050"/>
                </a:solidFill>
              </a:rPr>
              <a:t>Uranium (Pitchblende or </a:t>
            </a:r>
            <a:r>
              <a:rPr dirty="0" sz="2000" lang="en-US" err="1" smtClean="0">
                <a:solidFill>
                  <a:srgbClr val="00B050"/>
                </a:solidFill>
              </a:rPr>
              <a:t>Uranite</a:t>
            </a:r>
            <a:r>
              <a:rPr dirty="0" sz="2000" lang="en-US" smtClean="0">
                <a:solidFill>
                  <a:srgbClr val="00B050"/>
                </a:solidFill>
              </a:rPr>
              <a:t> ore)</a:t>
            </a:r>
            <a:r>
              <a:rPr dirty="0" sz="2000" lang="en-US" smtClean="0"/>
              <a:t>: Jharkhand, Andhra Pradesh (Nellore, </a:t>
            </a:r>
            <a:r>
              <a:rPr dirty="0" sz="2000" lang="en-US" err="1" smtClean="0"/>
              <a:t>Nalgonda</a:t>
            </a:r>
            <a:r>
              <a:rPr dirty="0" sz="2000" lang="en-US" smtClean="0"/>
              <a:t>), Meghalaya, Rajasthan (Ajmer).</a:t>
            </a:r>
          </a:p>
          <a:p>
            <a:pPr>
              <a:lnSpc>
                <a:spcPct val="150000"/>
              </a:lnSpc>
            </a:pPr>
            <a:r>
              <a:rPr dirty="0" sz="2000" lang="en-US" smtClean="0"/>
              <a:t>(</a:t>
            </a:r>
            <a:r>
              <a:rPr dirty="0" sz="2000" lang="en-US" smtClean="0">
                <a:solidFill>
                  <a:srgbClr val="3333FF"/>
                </a:solidFill>
              </a:rPr>
              <a:t>b) </a:t>
            </a:r>
            <a:r>
              <a:rPr dirty="0" sz="2000" lang="en-US" smtClean="0">
                <a:solidFill>
                  <a:srgbClr val="FF0000"/>
                </a:solidFill>
              </a:rPr>
              <a:t>Other commercially used minerals </a:t>
            </a:r>
            <a:r>
              <a:rPr dirty="0" sz="2000" lang="en-US" err="1" smtClean="0">
                <a:solidFill>
                  <a:srgbClr val="3333FF"/>
                </a:solidFill>
              </a:rPr>
              <a:t>Aluminium</a:t>
            </a:r>
            <a:r>
              <a:rPr dirty="0" sz="2000" lang="en-US" smtClean="0"/>
              <a:t> (Bauxite ore): Jharkhand, West Bengal, Maharashtra, M.P., </a:t>
            </a:r>
            <a:r>
              <a:rPr dirty="0" sz="2000" lang="en-US" err="1" smtClean="0"/>
              <a:t>Tamilnadu</a:t>
            </a:r>
            <a:r>
              <a:rPr dirty="0" sz="2000" lang="en-US" smtClean="0"/>
              <a:t>.</a:t>
            </a:r>
          </a:p>
          <a:p>
            <a:pPr>
              <a:lnSpc>
                <a:spcPct val="150000"/>
              </a:lnSpc>
            </a:pPr>
            <a:r>
              <a:rPr dirty="0" sz="2000" lang="en-US" smtClean="0"/>
              <a:t> </a:t>
            </a:r>
            <a:r>
              <a:rPr dirty="0" sz="2000" lang="en-US" smtClean="0">
                <a:solidFill>
                  <a:srgbClr val="3333FF"/>
                </a:solidFill>
              </a:rPr>
              <a:t>Iron (</a:t>
            </a:r>
            <a:r>
              <a:rPr dirty="0" sz="2000" lang="en-US" err="1" smtClean="0">
                <a:solidFill>
                  <a:srgbClr val="3333FF"/>
                </a:solidFill>
              </a:rPr>
              <a:t>haematite</a:t>
            </a:r>
            <a:r>
              <a:rPr dirty="0" sz="2000" lang="en-US" smtClean="0">
                <a:solidFill>
                  <a:srgbClr val="3333FF"/>
                </a:solidFill>
              </a:rPr>
              <a:t> and magnetite ore)</a:t>
            </a:r>
            <a:r>
              <a:rPr dirty="0" sz="2000" lang="en-US" smtClean="0"/>
              <a:t>: Jharkhand, Orissa, M.P., A.P., </a:t>
            </a:r>
            <a:r>
              <a:rPr dirty="0" sz="2000" lang="en-US" err="1" smtClean="0"/>
              <a:t>Tamilnadu</a:t>
            </a:r>
            <a:r>
              <a:rPr dirty="0" sz="2000" lang="en-US" smtClean="0"/>
              <a:t>, Karnataka, Maharashtra and Goa.</a:t>
            </a:r>
          </a:p>
          <a:p>
            <a:pPr>
              <a:lnSpc>
                <a:spcPct val="150000"/>
              </a:lnSpc>
            </a:pPr>
            <a:r>
              <a:rPr dirty="0" sz="2000" lang="en-US" smtClean="0"/>
              <a:t> </a:t>
            </a:r>
            <a:r>
              <a:rPr dirty="0" sz="2000" lang="en-US" smtClean="0">
                <a:solidFill>
                  <a:srgbClr val="3333FF"/>
                </a:solidFill>
              </a:rPr>
              <a:t>Copper (Copper Pyrites): </a:t>
            </a:r>
            <a:r>
              <a:rPr dirty="0" sz="2000" lang="en-US" smtClean="0"/>
              <a:t>Rajasthan (</a:t>
            </a:r>
            <a:r>
              <a:rPr dirty="0" sz="2000" lang="en-US" err="1" smtClean="0"/>
              <a:t>Khetri</a:t>
            </a:r>
            <a:r>
              <a:rPr dirty="0" sz="2000" lang="en-US" smtClean="0"/>
              <a:t>), Bihar, Jharkhand, Karnataka, M.P., West Bengal, Andhra Pradesh and </a:t>
            </a:r>
            <a:r>
              <a:rPr dirty="0" sz="2000" lang="en-US" err="1" smtClean="0"/>
              <a:t>Uttarnchal</a:t>
            </a:r>
            <a:r>
              <a:rPr dirty="0" sz="2000" lang="en-US" smtClean="0"/>
              <a:t>. </a:t>
            </a:r>
          </a:p>
          <a:p>
            <a:pPr>
              <a:lnSpc>
                <a:spcPct val="170000"/>
              </a:lnSpc>
            </a:pPr>
            <a:endParaRPr dirty="0" sz="2000" lang="en-US"/>
          </a:p>
        </p:txBody>
      </p:sp>
      <p:sp>
        <p:nvSpPr>
          <p:cNvPr id="1048683" name="TextBox 3"/>
          <p:cNvSpPr txBox="1"/>
          <p:nvPr/>
        </p:nvSpPr>
        <p:spPr>
          <a:xfrm>
            <a:off x="152400" y="6019800"/>
            <a:ext cx="8780289" cy="369332"/>
          </a:xfrm>
          <a:prstGeom prst="rect"/>
          <a:solidFill>
            <a:srgbClr val="FFFF00"/>
          </a:solidFill>
        </p:spPr>
        <p:txBody>
          <a:bodyPr rtlCol="0" wrap="none">
            <a:spAutoFit/>
          </a:bodyPr>
          <a:p>
            <a:r>
              <a:rPr dirty="0" lang="en-US" smtClean="0"/>
              <a:t>India is the producer of 84 minerals the annual value of which is about Rs. 50,000 </a:t>
            </a:r>
            <a:r>
              <a:rPr dirty="0" lang="en-US" err="1" smtClean="0"/>
              <a:t>crore</a:t>
            </a:r>
            <a:endParaRPr dirty="0" lang="en-US"/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296400" cy="1143000"/>
          </a:xfrm>
        </p:spPr>
        <p:txBody>
          <a:bodyPr>
            <a:normAutofit/>
          </a:bodyPr>
          <a:p>
            <a:pPr algn="ctr"/>
            <a:r>
              <a:rPr dirty="0" lang="en-US" smtClean="0">
                <a:solidFill>
                  <a:srgbClr val="D32BE5"/>
                </a:solidFill>
              </a:rPr>
              <a:t>State wise share of minerals Production </a:t>
            </a:r>
            <a:br>
              <a:rPr dirty="0" lang="en-US" smtClean="0">
                <a:solidFill>
                  <a:srgbClr val="D32BE5"/>
                </a:solidFill>
              </a:rPr>
            </a:br>
            <a:r>
              <a:rPr dirty="0" lang="en-US" smtClean="0">
                <a:solidFill>
                  <a:srgbClr val="D32BE5"/>
                </a:solidFill>
              </a:rPr>
              <a:t>in India</a:t>
            </a:r>
            <a:endParaRPr dirty="0" lang="en-US">
              <a:solidFill>
                <a:srgbClr val="D32BE5"/>
              </a:solidFill>
            </a:endParaRPr>
          </a:p>
        </p:txBody>
      </p:sp>
      <p:pic>
        <p:nvPicPr>
          <p:cNvPr id="2097158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t="9469"/>
          <a:stretch>
            <a:fillRect/>
          </a:stretch>
        </p:blipFill>
        <p:spPr bwMode="auto">
          <a:xfrm>
            <a:off x="457200" y="1219200"/>
            <a:ext cx="8153400" cy="5638800"/>
          </a:xfrm>
          <a:prstGeom prst="rect"/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t="8592"/>
          <a:stretch>
            <a:fillRect/>
          </a:stretch>
        </p:blipFill>
        <p:spPr bwMode="auto">
          <a:xfrm>
            <a:off x="0" y="685800"/>
            <a:ext cx="6781800" cy="3210670"/>
          </a:xfrm>
          <a:prstGeom prst="rect"/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2097160" name="Content Placeholder 4"/>
          <p:cNvPicPr>
            <a:picLocks noGrp="1"/>
          </p:cNvPicPr>
          <p:nvPr>
            <p:ph idx="1"/>
          </p:nvPr>
        </p:nvPicPr>
        <p:blipFill>
          <a:blip xmlns:r="http://schemas.openxmlformats.org/officeDocument/2006/relationships" r:embed="rId2"/>
          <a:srcRect t="8921"/>
          <a:stretch>
            <a:fillRect/>
          </a:stretch>
        </p:blipFill>
        <p:spPr bwMode="auto">
          <a:xfrm>
            <a:off x="3200400" y="4359517"/>
            <a:ext cx="5638800" cy="2498483"/>
          </a:xfrm>
          <a:prstGeom prst="rect"/>
          <a:noFill/>
          <a:ln w="12700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1048685" name="TextBox 5"/>
          <p:cNvSpPr txBox="1"/>
          <p:nvPr/>
        </p:nvSpPr>
        <p:spPr>
          <a:xfrm>
            <a:off x="152400" y="0"/>
            <a:ext cx="8549713" cy="584775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US" smtClean="0">
                <a:solidFill>
                  <a:srgbClr val="D32BE5"/>
                </a:solidFill>
              </a:rPr>
              <a:t>Production of major metallic minerals in India</a:t>
            </a:r>
            <a:endParaRPr dirty="0" sz="3200" lang="en-US">
              <a:solidFill>
                <a:srgbClr val="D32BE5"/>
              </a:solidFill>
            </a:endParaRPr>
          </a:p>
        </p:txBody>
      </p:sp>
      <p:sp>
        <p:nvSpPr>
          <p:cNvPr id="1048686" name="TextBox 7"/>
          <p:cNvSpPr txBox="1"/>
          <p:nvPr/>
        </p:nvSpPr>
        <p:spPr>
          <a:xfrm>
            <a:off x="4114800" y="3886200"/>
            <a:ext cx="3817776" cy="461665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US" smtClean="0">
                <a:solidFill>
                  <a:srgbClr val="D32BE5"/>
                </a:solidFill>
              </a:rPr>
              <a:t>Mineral Reserves in </a:t>
            </a:r>
            <a:r>
              <a:rPr dirty="0" sz="2400" lang="en-US" err="1" smtClean="0">
                <a:solidFill>
                  <a:srgbClr val="D32BE5"/>
                </a:solidFill>
              </a:rPr>
              <a:t>Odisha</a:t>
            </a:r>
            <a:endParaRPr dirty="0" sz="2400" lang="en-US">
              <a:solidFill>
                <a:srgbClr val="D32BE5"/>
              </a:solidFill>
            </a:endParaRPr>
          </a:p>
        </p:txBody>
      </p:sp>
      <p:sp>
        <p:nvSpPr>
          <p:cNvPr id="1048687" name="TextBox 8"/>
          <p:cNvSpPr txBox="1"/>
          <p:nvPr/>
        </p:nvSpPr>
        <p:spPr>
          <a:xfrm>
            <a:off x="76200" y="4724400"/>
            <a:ext cx="3159776" cy="646331"/>
          </a:xfrm>
          <a:prstGeom prst="rect"/>
          <a:solidFill>
            <a:schemeClr val="accent5">
              <a:lumMod val="20000"/>
              <a:lumOff val="80000"/>
            </a:schemeClr>
          </a:solidFill>
        </p:spPr>
        <p:txBody>
          <a:bodyPr rtlCol="0" wrap="none">
            <a:spAutoFit/>
          </a:bodyPr>
          <a:p>
            <a:r>
              <a:rPr dirty="0" lang="en-US" err="1" smtClean="0"/>
              <a:t>Odisha</a:t>
            </a:r>
            <a:r>
              <a:rPr dirty="0" lang="en-US" smtClean="0"/>
              <a:t> is the hub of minerals </a:t>
            </a:r>
          </a:p>
          <a:p>
            <a:r>
              <a:rPr dirty="0" lang="en-US" smtClean="0"/>
              <a:t>resource in India </a:t>
            </a:r>
            <a:endParaRPr dirty="0" lang="en-US"/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9144000" cy="1143000"/>
          </a:xfrm>
        </p:spPr>
        <p:txBody>
          <a:bodyPr>
            <a:noAutofit/>
          </a:bodyPr>
          <a:p>
            <a:r>
              <a:rPr b="1" dirty="0" sz="4000" lang="en-US" smtClean="0">
                <a:solidFill>
                  <a:srgbClr val="D32BE5"/>
                </a:solidFill>
              </a:rPr>
              <a:t>Major mines causing severe Environmental problems</a:t>
            </a:r>
            <a:endParaRPr b="1" dirty="0" sz="4000" lang="en-US">
              <a:solidFill>
                <a:srgbClr val="D32BE5"/>
              </a:solidFill>
            </a:endParaRPr>
          </a:p>
        </p:txBody>
      </p:sp>
      <p:sp>
        <p:nvSpPr>
          <p:cNvPr id="1048692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839200" cy="4389120"/>
          </a:xfrm>
        </p:spPr>
        <p:txBody>
          <a:bodyPr>
            <a:normAutofit/>
          </a:bodyPr>
          <a:p>
            <a:r>
              <a:rPr dirty="0" lang="en-US" err="1" smtClean="0">
                <a:solidFill>
                  <a:srgbClr val="3333FF"/>
                </a:solidFill>
              </a:rPr>
              <a:t>i</a:t>
            </a:r>
            <a:r>
              <a:rPr dirty="0" lang="en-US" smtClean="0">
                <a:solidFill>
                  <a:srgbClr val="3333FF"/>
                </a:solidFill>
              </a:rPr>
              <a:t>) </a:t>
            </a:r>
            <a:r>
              <a:rPr dirty="0" lang="en-US" err="1" smtClean="0">
                <a:solidFill>
                  <a:srgbClr val="3333FF"/>
                </a:solidFill>
              </a:rPr>
              <a:t>Jaduguda</a:t>
            </a:r>
            <a:r>
              <a:rPr dirty="0" lang="en-US" smtClean="0">
                <a:solidFill>
                  <a:srgbClr val="3333FF"/>
                </a:solidFill>
              </a:rPr>
              <a:t> Uranium Mine: </a:t>
            </a:r>
            <a:r>
              <a:rPr dirty="0" lang="en-US" smtClean="0"/>
              <a:t>, </a:t>
            </a:r>
            <a:r>
              <a:rPr dirty="0" lang="en-US" err="1" smtClean="0"/>
              <a:t>Jharkhand.exposing</a:t>
            </a:r>
            <a:r>
              <a:rPr dirty="0" lang="en-US" smtClean="0"/>
              <a:t> local people to radioactive hazards.</a:t>
            </a:r>
          </a:p>
          <a:p>
            <a:r>
              <a:rPr dirty="0" lang="en-US" smtClean="0">
                <a:solidFill>
                  <a:srgbClr val="3333FF"/>
                </a:solidFill>
              </a:rPr>
              <a:t>(ii) </a:t>
            </a:r>
            <a:r>
              <a:rPr dirty="0" lang="en-US" err="1" smtClean="0">
                <a:solidFill>
                  <a:srgbClr val="3333FF"/>
                </a:solidFill>
              </a:rPr>
              <a:t>Jharia</a:t>
            </a:r>
            <a:r>
              <a:rPr dirty="0" lang="en-US" smtClean="0">
                <a:solidFill>
                  <a:srgbClr val="3333FF"/>
                </a:solidFill>
              </a:rPr>
              <a:t> coal mines: </a:t>
            </a:r>
            <a:r>
              <a:rPr dirty="0" lang="en-US" err="1" smtClean="0"/>
              <a:t>Jharkhand.underground</a:t>
            </a:r>
            <a:r>
              <a:rPr dirty="0" lang="en-US" smtClean="0"/>
              <a:t> fire leading to land subsidence and forced displacement of people.</a:t>
            </a:r>
          </a:p>
          <a:p>
            <a:r>
              <a:rPr dirty="0" lang="en-US" smtClean="0">
                <a:solidFill>
                  <a:srgbClr val="3333FF"/>
                </a:solidFill>
              </a:rPr>
              <a:t>(iii) </a:t>
            </a:r>
            <a:r>
              <a:rPr dirty="0" lang="en-US" err="1" smtClean="0">
                <a:solidFill>
                  <a:srgbClr val="3333FF"/>
                </a:solidFill>
              </a:rPr>
              <a:t>Sukinda</a:t>
            </a:r>
            <a:r>
              <a:rPr dirty="0" lang="en-US" smtClean="0">
                <a:solidFill>
                  <a:srgbClr val="3333FF"/>
                </a:solidFill>
              </a:rPr>
              <a:t> </a:t>
            </a:r>
            <a:r>
              <a:rPr dirty="0" lang="en-US" err="1" smtClean="0">
                <a:solidFill>
                  <a:srgbClr val="3333FF"/>
                </a:solidFill>
              </a:rPr>
              <a:t>chromite</a:t>
            </a:r>
            <a:r>
              <a:rPr dirty="0" lang="en-US" smtClean="0">
                <a:solidFill>
                  <a:srgbClr val="3333FF"/>
                </a:solidFill>
              </a:rPr>
              <a:t> mines</a:t>
            </a:r>
            <a:r>
              <a:rPr dirty="0" lang="en-US" smtClean="0"/>
              <a:t>, Orissa. seeping of </a:t>
            </a:r>
            <a:r>
              <a:rPr dirty="0" lang="en-US" err="1" smtClean="0"/>
              <a:t>hexavalent</a:t>
            </a:r>
            <a:r>
              <a:rPr dirty="0" lang="en-US" smtClean="0"/>
              <a:t> chromium into river posing serious health hazard, Cr</a:t>
            </a:r>
            <a:r>
              <a:rPr baseline="30000" dirty="0" lang="en-US" smtClean="0"/>
              <a:t>6+ </a:t>
            </a:r>
            <a:r>
              <a:rPr dirty="0" lang="en-US" smtClean="0"/>
              <a:t>being highly toxic and carcinogenic.</a:t>
            </a:r>
          </a:p>
          <a:p>
            <a:r>
              <a:rPr dirty="0" lang="en-US" smtClean="0"/>
              <a:t>(</a:t>
            </a:r>
            <a:r>
              <a:rPr dirty="0" lang="en-US" smtClean="0">
                <a:solidFill>
                  <a:srgbClr val="3333FF"/>
                </a:solidFill>
              </a:rPr>
              <a:t>iv) </a:t>
            </a:r>
            <a:r>
              <a:rPr dirty="0" lang="en-US" err="1" smtClean="0">
                <a:solidFill>
                  <a:srgbClr val="3333FF"/>
                </a:solidFill>
              </a:rPr>
              <a:t>Kudremukh</a:t>
            </a:r>
            <a:r>
              <a:rPr dirty="0" lang="en-US" smtClean="0">
                <a:solidFill>
                  <a:srgbClr val="3333FF"/>
                </a:solidFill>
              </a:rPr>
              <a:t> iron ore mine</a:t>
            </a:r>
            <a:r>
              <a:rPr dirty="0" lang="en-US" smtClean="0"/>
              <a:t>, </a:t>
            </a:r>
            <a:r>
              <a:rPr dirty="0" lang="en-US" err="1" smtClean="0"/>
              <a:t>Karnataka.causing</a:t>
            </a:r>
            <a:r>
              <a:rPr dirty="0" lang="en-US" smtClean="0"/>
              <a:t> river pollution and threat to biodiversity.</a:t>
            </a:r>
          </a:p>
          <a:p>
            <a:r>
              <a:rPr dirty="0" lang="en-US" smtClean="0">
                <a:solidFill>
                  <a:srgbClr val="3333FF"/>
                </a:solidFill>
              </a:rPr>
              <a:t>(v) East coast Bauxite mine</a:t>
            </a:r>
            <a:r>
              <a:rPr dirty="0" lang="en-US" smtClean="0"/>
              <a:t>, </a:t>
            </a:r>
            <a:r>
              <a:rPr dirty="0" lang="en-US" err="1" smtClean="0"/>
              <a:t>Orissa.Land</a:t>
            </a:r>
            <a:r>
              <a:rPr dirty="0" lang="en-US" smtClean="0"/>
              <a:t> encroachment and issue of rehabilitation unsettled.</a:t>
            </a:r>
          </a:p>
          <a:p>
            <a:r>
              <a:rPr dirty="0" lang="en-US" smtClean="0">
                <a:solidFill>
                  <a:srgbClr val="3333FF"/>
                </a:solidFill>
              </a:rPr>
              <a:t>(vi) North-Eastern Coal Fields:</a:t>
            </a:r>
            <a:r>
              <a:rPr dirty="0" lang="en-US" smtClean="0"/>
              <a:t> </a:t>
            </a:r>
            <a:r>
              <a:rPr dirty="0" lang="en-US" err="1" smtClean="0"/>
              <a:t>Assam.Very</a:t>
            </a:r>
            <a:r>
              <a:rPr dirty="0" lang="en-US" smtClean="0"/>
              <a:t> high </a:t>
            </a:r>
            <a:r>
              <a:rPr dirty="0" lang="en-US" err="1" smtClean="0"/>
              <a:t>sulphur</a:t>
            </a:r>
            <a:r>
              <a:rPr dirty="0" lang="en-US" smtClean="0"/>
              <a:t> contamination of groundwater.</a:t>
            </a:r>
            <a:endParaRPr dirty="0" lang="en-US"/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5410200" cy="914400"/>
          </a:xfrm>
        </p:spPr>
        <p:txBody>
          <a:bodyPr/>
          <a:p>
            <a:r>
              <a:rPr b="1" dirty="0" sz="4400" lang="en-US" smtClean="0">
                <a:solidFill>
                  <a:srgbClr val="D32BE5"/>
                </a:solidFill>
              </a:rPr>
              <a:t>Impacts of mining</a:t>
            </a:r>
            <a:r>
              <a:rPr b="1" dirty="0" lang="en-US" smtClean="0">
                <a:solidFill>
                  <a:srgbClr val="D32BE5"/>
                </a:solidFill>
              </a:rPr>
              <a:t>:</a:t>
            </a:r>
            <a:endParaRPr dirty="0" lang="en-US">
              <a:solidFill>
                <a:srgbClr val="D32BE5"/>
              </a:solidFill>
            </a:endParaRPr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915400" cy="5257800"/>
          </a:xfrm>
        </p:spPr>
        <p:txBody>
          <a:bodyPr>
            <a:noAutofit/>
          </a:bodyPr>
          <a:p>
            <a:r>
              <a:rPr dirty="0" sz="2000" lang="en-US" smtClean="0">
                <a:solidFill>
                  <a:srgbClr val="3333FF"/>
                </a:solidFill>
              </a:rPr>
              <a:t>(</a:t>
            </a:r>
            <a:r>
              <a:rPr dirty="0" sz="2000" lang="en-US" err="1" smtClean="0">
                <a:solidFill>
                  <a:srgbClr val="3333FF"/>
                </a:solidFill>
              </a:rPr>
              <a:t>i</a:t>
            </a:r>
            <a:r>
              <a:rPr dirty="0" sz="2000" lang="en-US" smtClean="0">
                <a:solidFill>
                  <a:srgbClr val="3333FF"/>
                </a:solidFill>
              </a:rPr>
              <a:t>) </a:t>
            </a:r>
            <a:r>
              <a:rPr dirty="0" sz="2200" lang="en-US" err="1" smtClean="0">
                <a:solidFill>
                  <a:srgbClr val="3333FF"/>
                </a:solidFill>
              </a:rPr>
              <a:t>Devegetation</a:t>
            </a:r>
            <a:r>
              <a:rPr dirty="0" sz="2200" lang="en-US" smtClean="0">
                <a:solidFill>
                  <a:srgbClr val="3333FF"/>
                </a:solidFill>
              </a:rPr>
              <a:t> and defacing of landscape: </a:t>
            </a:r>
            <a:r>
              <a:rPr dirty="0" sz="2200" lang="en-US" smtClean="0"/>
              <a:t>The topsoil as well as the vegetation are removed deforestation  leads to several </a:t>
            </a:r>
            <a:r>
              <a:rPr b="1" dirty="0" sz="2200" lang="en-US" smtClean="0"/>
              <a:t>ecological losses,  increase the landscape. prone to soil erosion</a:t>
            </a:r>
            <a:r>
              <a:rPr dirty="0" sz="2200" lang="en-US" smtClean="0"/>
              <a:t>.</a:t>
            </a:r>
          </a:p>
          <a:p>
            <a:r>
              <a:rPr dirty="0" sz="2200" lang="en-US" smtClean="0">
                <a:solidFill>
                  <a:srgbClr val="3333FF"/>
                </a:solidFill>
              </a:rPr>
              <a:t>(ii) Subsidence of land: M</a:t>
            </a:r>
            <a:r>
              <a:rPr dirty="0" sz="2200" lang="en-US" smtClean="0"/>
              <a:t>ainly associated with underground mining. </a:t>
            </a:r>
          </a:p>
          <a:p>
            <a:pPr>
              <a:buNone/>
            </a:pPr>
            <a:r>
              <a:rPr dirty="0" sz="2200" lang="en-US" smtClean="0"/>
              <a:t>             results in tilting of buildings, </a:t>
            </a:r>
          </a:p>
          <a:p>
            <a:pPr>
              <a:buNone/>
            </a:pPr>
            <a:r>
              <a:rPr dirty="0" sz="2200" lang="en-US" smtClean="0"/>
              <a:t>             cracks in houses, </a:t>
            </a:r>
          </a:p>
          <a:p>
            <a:pPr>
              <a:buNone/>
            </a:pPr>
            <a:r>
              <a:rPr dirty="0" sz="2200" lang="en-US" smtClean="0"/>
              <a:t>             buckling of roads, sudden change in structure</a:t>
            </a:r>
          </a:p>
          <a:p>
            <a:pPr>
              <a:buNone/>
            </a:pPr>
            <a:r>
              <a:rPr dirty="0" sz="2200" lang="en-US" smtClean="0"/>
              <a:t>             bending of rail tracks and</a:t>
            </a:r>
          </a:p>
          <a:p>
            <a:pPr>
              <a:buNone/>
            </a:pPr>
            <a:r>
              <a:rPr dirty="0" sz="2200" lang="en-US" smtClean="0"/>
              <a:t> leaking of gas from cracked pipelines leading to serious disasters.</a:t>
            </a:r>
          </a:p>
          <a:p>
            <a:r>
              <a:rPr dirty="0" sz="2200" lang="en-US" smtClean="0">
                <a:solidFill>
                  <a:srgbClr val="3333FF"/>
                </a:solidFill>
              </a:rPr>
              <a:t>(iii) Groundwater contamination</a:t>
            </a:r>
            <a:r>
              <a:rPr dirty="0" sz="2200" lang="en-US" smtClean="0"/>
              <a:t>: pollutes the groundwater</a:t>
            </a:r>
          </a:p>
          <a:p>
            <a:r>
              <a:rPr dirty="0" sz="2200" lang="en-US" err="1" smtClean="0">
                <a:solidFill>
                  <a:srgbClr val="00B050"/>
                </a:solidFill>
              </a:rPr>
              <a:t>Sulphur</a:t>
            </a:r>
            <a:r>
              <a:rPr dirty="0" sz="2200" lang="en-US" smtClean="0">
                <a:solidFill>
                  <a:srgbClr val="00B050"/>
                </a:solidFill>
              </a:rPr>
              <a:t> containing ore  </a:t>
            </a:r>
            <a:r>
              <a:rPr dirty="0" sz="2200" lang="en-US" smtClean="0"/>
              <a:t>converted into </a:t>
            </a:r>
            <a:r>
              <a:rPr dirty="0" sz="2200" lang="en-US" err="1" smtClean="0"/>
              <a:t>sulphuric</a:t>
            </a:r>
            <a:r>
              <a:rPr dirty="0" sz="2200" lang="en-US" smtClean="0"/>
              <a:t> acid through microbial action, thereby making the water acidic which enhances toxic </a:t>
            </a:r>
            <a:r>
              <a:rPr dirty="0" sz="2200" lang="en-US" smtClean="0">
                <a:solidFill>
                  <a:srgbClr val="00B050"/>
                </a:solidFill>
              </a:rPr>
              <a:t>metal leaching  posing health hazards.</a:t>
            </a:r>
          </a:p>
          <a:p>
            <a:endParaRPr dirty="0" sz="2000" lang="en-US" smtClean="0"/>
          </a:p>
          <a:p>
            <a:endParaRPr dirty="0" sz="2000" lang="en-US"/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1905000" y="228600"/>
            <a:ext cx="5410200" cy="914400"/>
          </a:xfrm>
        </p:spPr>
        <p:txBody>
          <a:bodyPr/>
          <a:p>
            <a:r>
              <a:rPr b="1" dirty="0" lang="en-US" smtClean="0">
                <a:solidFill>
                  <a:srgbClr val="D32BE5"/>
                </a:solidFill>
              </a:rPr>
              <a:t>Impacts of mining:</a:t>
            </a:r>
            <a:endParaRPr dirty="0" lang="en-US"/>
          </a:p>
        </p:txBody>
      </p:sp>
      <p:sp>
        <p:nvSpPr>
          <p:cNvPr id="1048699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8839200" cy="5181600"/>
          </a:xfrm>
        </p:spPr>
        <p:txBody>
          <a:bodyPr>
            <a:normAutofit/>
          </a:bodyPr>
          <a:p>
            <a:r>
              <a:rPr dirty="0" lang="en-US" smtClean="0">
                <a:solidFill>
                  <a:srgbClr val="00B050"/>
                </a:solidFill>
              </a:rPr>
              <a:t>(iv) Surface water pollution: </a:t>
            </a:r>
            <a:r>
              <a:rPr dirty="0" lang="en-US" smtClean="0"/>
              <a:t>The acid mine drainage often contaminates the nearby streams and lakes.</a:t>
            </a:r>
          </a:p>
          <a:p>
            <a:pPr>
              <a:buNone/>
            </a:pPr>
            <a:r>
              <a:rPr dirty="0" lang="en-US" smtClean="0"/>
              <a:t> Sometimes uranium, Cr, </a:t>
            </a:r>
            <a:r>
              <a:rPr dirty="0" lang="en-US" err="1" smtClean="0"/>
              <a:t>Pb</a:t>
            </a:r>
            <a:r>
              <a:rPr dirty="0" lang="en-US" smtClean="0"/>
              <a:t>, </a:t>
            </a:r>
            <a:r>
              <a:rPr dirty="0" lang="en-US" err="1" smtClean="0"/>
              <a:t>Cd</a:t>
            </a:r>
            <a:r>
              <a:rPr dirty="0" lang="en-US" smtClean="0"/>
              <a:t>, As contamination by mine wastes kill aquatic animals and creating human health hazards.</a:t>
            </a:r>
          </a:p>
          <a:p>
            <a:r>
              <a:rPr dirty="0" lang="en-US" smtClean="0">
                <a:solidFill>
                  <a:srgbClr val="00B050"/>
                </a:solidFill>
              </a:rPr>
              <a:t>(v) Air pollution: O</a:t>
            </a:r>
            <a:r>
              <a:rPr dirty="0" lang="en-US" smtClean="0"/>
              <a:t>re, smelting emits air pollutants damaging the vegetation and serious environmental damage and human health hazard . </a:t>
            </a:r>
          </a:p>
          <a:p>
            <a:pPr>
              <a:buNone/>
            </a:pPr>
            <a:r>
              <a:rPr dirty="0" lang="en-US" smtClean="0"/>
              <a:t>The suspended particulate matter (SPM),</a:t>
            </a:r>
          </a:p>
          <a:p>
            <a:pPr>
              <a:buNone/>
            </a:pPr>
            <a:r>
              <a:rPr dirty="0" lang="en-US" smtClean="0"/>
              <a:t> </a:t>
            </a:r>
            <a:r>
              <a:rPr dirty="0" lang="en-US" err="1" smtClean="0"/>
              <a:t>SOx</a:t>
            </a:r>
            <a:r>
              <a:rPr dirty="0" lang="en-US" smtClean="0"/>
              <a:t>, soot, arsenic particles, </a:t>
            </a:r>
          </a:p>
          <a:p>
            <a:pPr>
              <a:buNone/>
            </a:pPr>
            <a:r>
              <a:rPr dirty="0" lang="en-US" smtClean="0"/>
              <a:t>cadmium, lead etc. </a:t>
            </a:r>
          </a:p>
          <a:p>
            <a:endParaRPr dirty="0" lang="en-US"/>
          </a:p>
        </p:txBody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>
          <a:xfrm>
            <a:off x="1295400" y="304800"/>
            <a:ext cx="6172200" cy="762000"/>
          </a:xfrm>
        </p:spPr>
        <p:txBody>
          <a:bodyPr>
            <a:normAutofit/>
          </a:bodyPr>
          <a:p>
            <a:r>
              <a:rPr dirty="0" sz="4000" lang="en-US" smtClean="0">
                <a:solidFill>
                  <a:srgbClr val="D32BE5"/>
                </a:solidFill>
              </a:rPr>
              <a:t>Occupational Health Hazards</a:t>
            </a:r>
            <a:endParaRPr dirty="0" sz="4000" lang="en-US">
              <a:solidFill>
                <a:srgbClr val="D32BE5"/>
              </a:solidFill>
            </a:endParaRPr>
          </a:p>
        </p:txBody>
      </p:sp>
      <p:sp>
        <p:nvSpPr>
          <p:cNvPr id="1048704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8686800" cy="4693920"/>
          </a:xfrm>
        </p:spPr>
        <p:txBody>
          <a:bodyPr>
            <a:normAutofit/>
          </a:bodyPr>
          <a:p>
            <a:r>
              <a:rPr dirty="0" lang="en-US" smtClean="0"/>
              <a:t>Respiratory and skin diseases due to constant exposure to the suspended particulate matter and toxic substances.</a:t>
            </a:r>
          </a:p>
          <a:p>
            <a:pPr>
              <a:buNone/>
            </a:pPr>
            <a:r>
              <a:rPr dirty="0" lang="en-US" smtClean="0"/>
              <a:t>    Suffer by Asbestosis, silicosis, black lung disease etc. </a:t>
            </a:r>
          </a:p>
          <a:p>
            <a:r>
              <a:rPr dirty="0" lang="en-US" smtClean="0">
                <a:solidFill>
                  <a:srgbClr val="3333FF"/>
                </a:solidFill>
              </a:rPr>
              <a:t>Statistical data</a:t>
            </a:r>
            <a:r>
              <a:rPr dirty="0" lang="en-US" smtClean="0">
                <a:solidFill>
                  <a:srgbClr val="00B050"/>
                </a:solidFill>
              </a:rPr>
              <a:t>: </a:t>
            </a:r>
            <a:r>
              <a:rPr dirty="0" lang="en-US" smtClean="0"/>
              <a:t>, on an average, there are 30 non-fatal but disabling accidents  per every ton of mineral produced</a:t>
            </a:r>
          </a:p>
          <a:p>
            <a:r>
              <a:rPr dirty="0" lang="en-US" smtClean="0"/>
              <a:t> one death per 2.5 tons of mineral produced. </a:t>
            </a:r>
          </a:p>
          <a:p>
            <a:r>
              <a:rPr b="1" dirty="0" lang="en-US" smtClean="0">
                <a:solidFill>
                  <a:srgbClr val="3333FF"/>
                </a:solidFill>
              </a:rPr>
              <a:t>Remedial measures: </a:t>
            </a:r>
            <a:endParaRPr b="1" dirty="0" lang="en-US" smtClean="0"/>
          </a:p>
          <a:p>
            <a:pPr>
              <a:buNone/>
            </a:pPr>
            <a:r>
              <a:rPr dirty="0" lang="en-US" err="1" smtClean="0">
                <a:solidFill>
                  <a:srgbClr val="00B050"/>
                </a:solidFill>
              </a:rPr>
              <a:t>i</a:t>
            </a:r>
            <a:r>
              <a:rPr dirty="0" lang="en-US" smtClean="0">
                <a:solidFill>
                  <a:srgbClr val="00B050"/>
                </a:solidFill>
              </a:rPr>
              <a:t>) Adopt eco-friendly mining technology</a:t>
            </a:r>
            <a:r>
              <a:rPr dirty="0" lang="en-US" smtClean="0"/>
              <a:t>: Microbial-leaching technique</a:t>
            </a:r>
          </a:p>
          <a:p>
            <a:r>
              <a:rPr dirty="0" i="1" lang="en-US" err="1" smtClean="0">
                <a:solidFill>
                  <a:srgbClr val="00B0F0"/>
                </a:solidFill>
              </a:rPr>
              <a:t>Thiobacillus</a:t>
            </a:r>
            <a:r>
              <a:rPr dirty="0" i="1" lang="en-US" smtClean="0">
                <a:solidFill>
                  <a:srgbClr val="00B0F0"/>
                </a:solidFill>
              </a:rPr>
              <a:t> </a:t>
            </a:r>
            <a:r>
              <a:rPr dirty="0" i="1" lang="en-US" err="1" smtClean="0">
                <a:solidFill>
                  <a:srgbClr val="00B0F0"/>
                </a:solidFill>
              </a:rPr>
              <a:t>ferroxidans</a:t>
            </a:r>
            <a:r>
              <a:rPr dirty="0" i="1" lang="en-US" smtClean="0">
                <a:solidFill>
                  <a:srgbClr val="00B0F0"/>
                </a:solidFill>
              </a:rPr>
              <a:t> </a:t>
            </a:r>
            <a:r>
              <a:rPr dirty="0" lang="en-US" smtClean="0"/>
              <a:t>used for extracting gold embedded in iron </a:t>
            </a:r>
            <a:r>
              <a:rPr dirty="0" lang="en-US" err="1" smtClean="0"/>
              <a:t>sulphide</a:t>
            </a:r>
            <a:r>
              <a:rPr dirty="0" lang="en-US" smtClean="0"/>
              <a:t> ore </a:t>
            </a:r>
          </a:p>
          <a:p>
            <a:pPr>
              <a:buNone/>
            </a:pPr>
            <a:r>
              <a:rPr dirty="0" lang="en-US" smtClean="0"/>
              <a:t>     </a:t>
            </a:r>
            <a:r>
              <a:rPr dirty="0" lang="en-US" smtClean="0">
                <a:solidFill>
                  <a:srgbClr val="FF0000"/>
                </a:solidFill>
              </a:rPr>
              <a:t>it  remove </a:t>
            </a:r>
            <a:r>
              <a:rPr dirty="0" lang="en-US" err="1" smtClean="0">
                <a:solidFill>
                  <a:srgbClr val="FF0000"/>
                </a:solidFill>
              </a:rPr>
              <a:t>sulphur</a:t>
            </a:r>
            <a:r>
              <a:rPr dirty="0" lang="en-US" smtClean="0">
                <a:solidFill>
                  <a:srgbClr val="FF0000"/>
                </a:solidFill>
              </a:rPr>
              <a:t> from ore </a:t>
            </a:r>
          </a:p>
          <a:p>
            <a:endParaRPr dirty="0" lang="en-US"/>
          </a:p>
        </p:txBody>
      </p:sp>
      <p:sp>
        <p:nvSpPr>
          <p:cNvPr id="1048705" name="Rectangle 3"/>
          <p:cNvSpPr/>
          <p:nvPr/>
        </p:nvSpPr>
        <p:spPr>
          <a:xfrm>
            <a:off x="457200" y="1295400"/>
            <a:ext cx="5325689" cy="523220"/>
          </a:xfrm>
          <a:prstGeom prst="rect"/>
        </p:spPr>
        <p:txBody>
          <a:bodyPr wrap="none">
            <a:spAutoFit/>
          </a:bodyPr>
          <a:p>
            <a:r>
              <a:rPr dirty="0" sz="2800" lang="en-US" smtClean="0">
                <a:solidFill>
                  <a:srgbClr val="00B050"/>
                </a:solidFill>
              </a:rPr>
              <a:t>Most of the mining worker suffer </a:t>
            </a:r>
            <a:endParaRPr dirty="0" sz="2800" lang="en-US">
              <a:solidFill>
                <a:srgbClr val="00B050"/>
              </a:solidFill>
            </a:endParaRPr>
          </a:p>
        </p:txBody>
      </p:sp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>
                <a:solidFill>
                  <a:srgbClr val="00B050"/>
                </a:solidFill>
              </a:rPr>
              <a:t>ii) Restoration of mined areas by re-vegetating: </a:t>
            </a:r>
            <a:r>
              <a:rPr dirty="0" lang="en-US" smtClean="0"/>
              <a:t>them with appropriate plant species, stabilization of the mined lands, gradual restoration of flora, </a:t>
            </a:r>
          </a:p>
          <a:p>
            <a:r>
              <a:rPr dirty="0" lang="en-US" smtClean="0">
                <a:solidFill>
                  <a:srgbClr val="00B050"/>
                </a:solidFill>
              </a:rPr>
              <a:t>iii) prevention of toxic drainage discharge </a:t>
            </a:r>
            <a:r>
              <a:rPr dirty="0" lang="en-US" smtClean="0"/>
              <a:t>and need suitable treatment. </a:t>
            </a:r>
          </a:p>
          <a:p>
            <a:r>
              <a:rPr dirty="0" lang="en-US" smtClean="0">
                <a:solidFill>
                  <a:srgbClr val="00B050"/>
                </a:solidFill>
              </a:rPr>
              <a:t>iv)</a:t>
            </a:r>
            <a:r>
              <a:rPr dirty="0" lang="en-US" smtClean="0"/>
              <a:t> </a:t>
            </a:r>
            <a:r>
              <a:rPr dirty="0" lang="en-US" smtClean="0">
                <a:solidFill>
                  <a:srgbClr val="00B050"/>
                </a:solidFill>
              </a:rPr>
              <a:t>Controlling the standards of air emissions </a:t>
            </a:r>
            <a:r>
              <a:rPr dirty="0" lang="en-US" smtClean="0"/>
              <a:t>are essential for minimizing environmental impacts of mining.</a:t>
            </a:r>
          </a:p>
          <a:p>
            <a:pPr>
              <a:buNone/>
            </a:pPr>
            <a:endParaRPr dirty="0" lang="en-US" smtClean="0"/>
          </a:p>
          <a:p>
            <a:endParaRPr dirty="0" lang="en-US"/>
          </a:p>
        </p:txBody>
      </p:sp>
      <p:sp>
        <p:nvSpPr>
          <p:cNvPr id="1048707" name="Rectangle 4"/>
          <p:cNvSpPr/>
          <p:nvPr/>
        </p:nvSpPr>
        <p:spPr>
          <a:xfrm>
            <a:off x="2057400" y="685800"/>
            <a:ext cx="5207388" cy="707886"/>
          </a:xfrm>
          <a:prstGeom prst="rect"/>
        </p:spPr>
        <p:txBody>
          <a:bodyPr wrap="none">
            <a:spAutoFit/>
          </a:bodyPr>
          <a:p>
            <a:r>
              <a:rPr b="1" dirty="0" sz="4000" lang="en-US" smtClean="0">
                <a:solidFill>
                  <a:srgbClr val="D32BE5"/>
                </a:solidFill>
              </a:rPr>
              <a:t>Remedial measures </a:t>
            </a:r>
          </a:p>
        </p:txBody>
      </p:sp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extBox 1"/>
          <p:cNvSpPr txBox="1"/>
          <p:nvPr/>
        </p:nvSpPr>
        <p:spPr>
          <a:xfrm>
            <a:off x="1412718" y="2730848"/>
            <a:ext cx="5616146" cy="2308324"/>
          </a:xfrm>
          <a:prstGeom prst="rect"/>
          <a:solidFill>
            <a:srgbClr val="92D050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perspectiveContrastingRightFacing"/>
            <a:lightRig dir="t" rig="threePt"/>
          </a:scene3d>
        </p:spPr>
        <p:txBody>
          <a:bodyPr rtlCol="0" wrap="square">
            <a:spAutoFit/>
          </a:bodyPr>
          <a:p>
            <a:pPr algn="ctr"/>
            <a:r>
              <a:rPr dirty="0" sz="7200" lang="en-US"/>
              <a:t>Thank You All</a:t>
            </a:r>
            <a:endParaRPr dirty="0" sz="7200" lang="en-IN"/>
          </a:p>
        </p:txBody>
      </p:sp>
    </p:spTree>
  </p:cSld>
  <p:clrMapOvr>
    <a:masterClrMapping/>
  </p:clrMapOvr>
  <p:timing/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lastClr="000000" val="windowText"/>
      </a:dk1>
      <a:lt1>
        <a:sysClr lastClr="FFFFFF" val="window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dir="tl" rig="glow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algn="tl" flip="none" sx="65000" sy="65000" tx="0" ty="0"/>
        </a:blip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1</dc:title>
  <dc:creator>NARESH</dc:creator>
  <cp:lastModifiedBy>user</cp:lastModifiedBy>
  <dcterms:created xsi:type="dcterms:W3CDTF">2020-04-17T03:13:05Z</dcterms:created>
  <dcterms:modified xsi:type="dcterms:W3CDTF">2025-10-06T05:35:58Z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0f64898cb18a43e38f2e033a6b580d1f</vt:lpwstr>
  </property>
</Properties>
</file>
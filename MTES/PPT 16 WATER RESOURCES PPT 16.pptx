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720" r:id="rId1"/>
  </p:sldMasterIdLst>
  <p:notesMasterIdLst>
    <p:notesMasterId r:id="rId2"/>
  </p:notesMasterIdLst>
  <p:sldIdLst>
    <p:sldId id="425" r:id="rId3"/>
    <p:sldId id="426" r:id="rId4"/>
    <p:sldId id="427" r:id="rId5"/>
    <p:sldId id="428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0" r:id="rId18"/>
    <p:sldId id="441" r:id="rId19"/>
    <p:sldId id="442" r:id="rId20"/>
    <p:sldId id="443" r:id="rId21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D24EB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549" autoAdjust="0"/>
  </p:normalViewPr>
  <p:slideViewPr>
    <p:cSldViewPr snapToGrid="0">
      <p:cViewPr varScale="1">
        <p:scale>
          <a:sx n="110" d="100"/>
          <a:sy n="110" d="100"/>
        </p:scale>
        <p:origin x="-55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3A3C5F22-4007-407C-922C-CDE8C7C628CB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104875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5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93FB1343-C529-470C-B4DC-CEA778B98F8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7"/>
          <p:cNvSpPr txBox="1">
            <a:spLocks noGrp="1" noChangeArrowheads="1"/>
          </p:cNvSpPr>
          <p:nvPr/>
        </p:nvSpPr>
        <p:spPr bwMode="auto">
          <a:xfrm>
            <a:off x="3894138" y="9558338"/>
            <a:ext cx="2978150" cy="503237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b" bIns="48390" lIns="96780" rIns="96780" tIns="48390"/>
          <a:p>
            <a:pPr algn="r" defTabSz="965200" eaLnBrk="1" hangingPunct="1">
              <a:buClr>
                <a:srgbClr val="000000"/>
              </a:buClr>
            </a:pPr>
            <a:fld id="{80858C5B-47FB-42E5-BCA8-25173A393ACE}" type="slidenum">
              <a:rPr altLang="zh-CN" sz="1300" lang="zh-CN">
                <a:latin typeface="Calibri" pitchFamily="34" charset="0"/>
              </a:rPr>
              <a:pPr algn="r" defTabSz="965200" eaLnBrk="1" hangingPunct="1">
                <a:buClr>
                  <a:srgbClr val="000000"/>
                </a:buClr>
              </a:pPr>
              <a:t>2</a:t>
            </a:fld>
            <a:endParaRPr altLang="zh-CN" sz="1300" lang="en-US">
              <a:latin typeface="Calibri" pitchFamily="34" charset="0"/>
            </a:endParaRPr>
          </a:p>
        </p:txBody>
      </p:sp>
      <p:sp>
        <p:nvSpPr>
          <p:cNvPr id="1048660" name="Rectangle 2"/>
          <p:cNvSpPr>
            <a:spLocks noChangeAspect="1" noRot="1" noGrp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6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altLang="en-US" 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bg>
      <p:bgRef idx="1002">
        <a:schemeClr val="bg2"/>
      </p:bgRef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anchor="b" bIns="0" rIns="18288" tIns="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b="1" sz="560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00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algn="r" indent="0" marL="0" marR="45720">
              <a:buNone/>
              <a:defRPr>
                <a:solidFill>
                  <a:schemeClr val="tx1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4870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0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Ref idx="1002">
        <a:schemeClr val="bg2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anchor="b" bIns="0" tIns="0" vert="horz">
            <a:no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baseline="0" b="1" cap="none" dirty="0" sz="5600" lang="en-US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29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anchor="t" lIns="45720" rIns="45720"/>
          <a:lstStyle>
            <a:lvl1pPr indent="0" marL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34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35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 tIns="45720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40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anchor="ctr" bIns="0" lIns="45720" rIns="45720" tIns="0">
            <a:noAutofit/>
          </a:bodyPr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41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anchor="ctr" bIns="0" lIns="45720" rIns="45720" tIns="0"/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42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43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4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4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4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anchor="b" bIns="0" tIns="4572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b="0" sz="50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0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0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anchor="b" lIns="0">
            <a:noAutofit/>
          </a:bodyPr>
          <a:lstStyle>
            <a:lvl1pPr algn="l" rtl="0">
              <a:spcBef>
                <a:spcPct val="0"/>
              </a:spcBef>
              <a:buNone/>
              <a:defRPr b="0" sz="26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48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algn="l" indent="0" marL="0">
              <a:buNone/>
              <a:defRPr sz="1400"/>
            </a:lvl1pPr>
            <a:lvl2pPr algn="l" indent="0">
              <a:buNone/>
              <a:defRPr sz="1200"/>
            </a:lvl2pPr>
            <a:lvl3pPr algn="l" indent="0">
              <a:buNone/>
              <a:defRPr sz="1000"/>
            </a:lvl3pPr>
            <a:lvl4pPr algn="l" indent="0">
              <a:buNone/>
              <a:defRPr sz="900"/>
            </a:lvl4pPr>
            <a:lvl5pPr algn="l" indent="0">
              <a:buNone/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algn="tl" blurRad="63500" dir="7500000" dist="38500" kx="100000" rotWithShape="0" sx="98500" sy="10008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714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/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algn="tl" blurRad="19685" dir="12900000" dist="6350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anchor="b" bIns="45720" lIns="45720" rIns="45720" tIns="45720" vert="horz"/>
          <a:lstStyle>
            <a:lvl1pPr algn="l">
              <a:buNone/>
              <a:defRPr b="1" sz="2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anchor="t" bIns="45720" lIns="64008" rIns="45720"/>
          <a:lstStyle>
            <a:lvl1pPr algn="l" indent="0" marL="0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  <p:sp>
        <p:nvSpPr>
          <p:cNvPr id="1048720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/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indent="0" marL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dirty="0" kumimoji="0" lang="en-US"/>
          </a:p>
        </p:txBody>
      </p:sp>
      <p:sp>
        <p:nvSpPr>
          <p:cNvPr id="1048721" name="Freeform 9"/>
          <p:cNvSpPr/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722" name="Freeform 10"/>
          <p:cNvSpPr/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2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0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/>
        </p:spPr>
        <p:txBody>
          <a:bodyPr anchor="b" bIns="0" lIns="0" rIns="0" vert="horz">
            <a:normAutofit/>
          </a:bodyPr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en-US" smtClean="0"/>
              <a:t>Click to edit Master text styles</a:t>
            </a:r>
          </a:p>
          <a:p>
            <a:pPr eaLnBrk="1" hangingPunct="1" latinLnBrk="0" lvl="1"/>
            <a:r>
              <a:rPr kumimoji="0" lang="en-US" smtClean="0"/>
              <a:t>Second level</a:t>
            </a:r>
          </a:p>
          <a:p>
            <a:pPr eaLnBrk="1" hangingPunct="1" latinLnBrk="0" lvl="2"/>
            <a:r>
              <a:rPr kumimoji="0" lang="en-US" smtClean="0"/>
              <a:t>Third level</a:t>
            </a:r>
          </a:p>
          <a:p>
            <a:pPr eaLnBrk="1" hangingPunct="1" latinLnBrk="0" lvl="3"/>
            <a:r>
              <a:rPr kumimoji="0" lang="en-US" smtClean="0"/>
              <a:t>Fourth level</a:t>
            </a:r>
          </a:p>
          <a:p>
            <a:pPr eaLnBrk="1" hangingPunct="1" latinLnBrk="0" lvl="4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9B9A32-6574-4D2F-ADF6-2C7B45BE2FED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/>
        </p:spPr>
        <p:txBody>
          <a:bodyPr anchor="b" bIns="0" lIns="0" rIns="0" tIns="0" vert="horz"/>
          <a:lstStyle>
            <a:lvl1pPr algn="r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FF99AD7-A098-4A1B-89D5-8B10CC453178}" type="slidenum">
              <a:rPr lang="en-IN" smtClean="0"/>
              <a:t>‹#›</a:t>
            </a:fld>
            <a:endParaRPr lang="en-IN"/>
          </a:p>
        </p:txBody>
      </p:sp>
      <p:grpSp>
        <p:nvGrpSpPr>
          <p:cNvPr id="13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eaLnBrk="1" hangingPunct="1" latinLnBrk="0" rtl="0">
        <a:spcBef>
          <a:spcPct val="0"/>
        </a:spcBef>
        <a:buNone/>
        <a:defRPr b="0" sz="5000" kern="1200" kumimoji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ct val="20000"/>
        </a:spcBef>
        <a:buClr>
          <a:schemeClr val="accent3"/>
        </a:buClr>
        <a:buSzPct val="95000"/>
        <a:buFont typeface="Wingdings 2"/>
        <a:buChar char=""/>
        <a:defRPr sz="26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46888" latinLnBrk="0" marL="640080" rtl="0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400"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46888" latinLnBrk="0" marL="914400" rtl="0">
        <a:spcBef>
          <a:spcPct val="20000"/>
        </a:spcBef>
        <a:buClr>
          <a:schemeClr val="accent2"/>
        </a:buClr>
        <a:buSzPct val="70000"/>
        <a:buFont typeface="Wingdings 2"/>
        <a:buChar char=""/>
        <a:defRPr sz="21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210312" latinLnBrk="0" marL="1188720" rtl="0">
        <a:spcBef>
          <a:spcPct val="20000"/>
        </a:spcBef>
        <a:buClr>
          <a:schemeClr val="accent3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210312" latinLnBrk="0" marL="1463040" rtl="0">
        <a:spcBef>
          <a:spcPct val="20000"/>
        </a:spcBef>
        <a:buClr>
          <a:schemeClr val="accent4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210312" latinLnBrk="0" marL="1737360" rtl="0">
        <a:spcBef>
          <a:spcPct val="20000"/>
        </a:spcBef>
        <a:buClr>
          <a:schemeClr val="accent5"/>
        </a:buClr>
        <a:buSzPct val="80000"/>
        <a:buFont typeface="Wingdings 2"/>
        <a:buChar char="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920240" rtl="0">
        <a:spcBef>
          <a:spcPct val="20000"/>
        </a:spcBef>
        <a:buClr>
          <a:schemeClr val="accent6"/>
        </a:buClr>
        <a:buSzPct val="80000"/>
        <a:buFont typeface="Wingdings 2"/>
        <a:buChar char=""/>
        <a:defRPr baseline="0" sz="16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194560" rtl="0">
        <a:spcBef>
          <a:spcPct val="20000"/>
        </a:spcBef>
        <a:buClr>
          <a:schemeClr val="tx2"/>
        </a:buClr>
        <a:buChar char="•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468880" rtl="0">
        <a:spcBef>
          <a:spcPct val="20000"/>
        </a:spcBef>
        <a:buClr>
          <a:schemeClr val="tx2"/>
        </a:buClr>
        <a:buFontTx/>
        <a:buChar char="•"/>
        <a:defRPr baseline="0" sz="14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jpeg"/><Relationship Id="rId3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3"/>
          <p:cNvSpPr/>
          <p:nvPr/>
        </p:nvSpPr>
        <p:spPr>
          <a:xfrm>
            <a:off x="304800" y="1905003"/>
            <a:ext cx="10769600" cy="1805940"/>
          </a:xfrm>
          <a:prstGeom prst="rect"/>
        </p:spPr>
        <p:txBody>
          <a:bodyPr wrap="square">
            <a:spAutoFit/>
          </a:bodyPr>
          <a:p>
            <a:pPr algn="ctr"/>
            <a:r>
              <a:rPr b="1" dirty="0" sz="3200" lang="en-US" smtClean="0">
                <a:solidFill>
                  <a:srgbClr val="FF0000"/>
                </a:solidFill>
                <a:latin typeface="Cooper Black" pitchFamily="18" charset="0"/>
              </a:rPr>
              <a:t>Water Resources </a:t>
            </a:r>
          </a:p>
          <a:p>
            <a:pPr algn="ctr"/>
            <a:r>
              <a:rPr b="1" dirty="0" sz="3200" lang="en-US" smtClean="0"/>
              <a:t>Unit 2 </a:t>
            </a:r>
            <a:endParaRPr dirty="0" sz="3200" lang="en-US"/>
          </a:p>
          <a:p>
            <a:r>
              <a:rPr dirty="0" sz="3200" lang="en-US"/>
              <a:t> </a:t>
            </a:r>
            <a:r>
              <a:rPr dirty="0" sz="3200" lang="en-US" smtClean="0"/>
              <a:t>                                          </a:t>
            </a:r>
            <a:r>
              <a:rPr b="1" dirty="0" sz="3200" lang="en-US" smtClean="0"/>
              <a:t>Natural </a:t>
            </a:r>
            <a:r>
              <a:rPr b="1" dirty="0" sz="3200" lang="en-US"/>
              <a:t>Resources 	</a:t>
            </a:r>
          </a:p>
          <a:p>
            <a:pPr algn="ctr"/>
            <a:r>
              <a:rPr dirty="0" lang="en-US"/>
              <a:t>	</a:t>
            </a:r>
          </a:p>
        </p:txBody>
      </p:sp>
      <p:sp>
        <p:nvSpPr>
          <p:cNvPr id="1048591" name="Rectangle 4"/>
          <p:cNvSpPr/>
          <p:nvPr/>
        </p:nvSpPr>
        <p:spPr>
          <a:xfrm>
            <a:off x="203200" y="5257805"/>
            <a:ext cx="6096000" cy="646331"/>
          </a:xfrm>
          <a:prstGeom prst="rect"/>
        </p:spPr>
        <p:txBody>
          <a:bodyPr>
            <a:spAutoFit/>
          </a:bodyPr>
          <a:p>
            <a:pPr algn="just"/>
            <a:r>
              <a:rPr altLang="en-US" b="1" dirty="0" lang="en-US" smtClean="0">
                <a:latin typeface="Comic Sans MS" pitchFamily="66" charset="0"/>
              </a:rPr>
              <a:t>Department: Chemistry</a:t>
            </a:r>
          </a:p>
          <a:p>
            <a:pPr algn="just"/>
            <a:r>
              <a:rPr altLang="en-US" b="1" dirty="0" lang="en-US" smtClean="0">
                <a:latin typeface="Comic Sans MS" pitchFamily="66" charset="0"/>
              </a:rPr>
              <a:t>Subject: </a:t>
            </a:r>
            <a:r>
              <a:rPr altLang="en-US" b="1" dirty="0" lang="en-US" smtClean="0">
                <a:latin typeface="Comic Sans MS" pitchFamily="66" charset="0"/>
              </a:rPr>
              <a:t>MTES (CHM2049)</a:t>
            </a:r>
            <a:endParaRPr altLang="en-US" b="1" dirty="0" lang="en-US" smtClean="0">
              <a:latin typeface="Comic Sans MS" pitchFamily="66" charset="0"/>
            </a:endParaRPr>
          </a:p>
        </p:txBody>
      </p:sp>
      <p:pic>
        <p:nvPicPr>
          <p:cNvPr id="2097152" name="image1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144001" y="76200"/>
            <a:ext cx="3048001" cy="2886456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592" name="Rectangle 7"/>
          <p:cNvSpPr/>
          <p:nvPr/>
        </p:nvSpPr>
        <p:spPr>
          <a:xfrm>
            <a:off x="508000" y="762002"/>
            <a:ext cx="8026400" cy="1754326"/>
          </a:xfrm>
          <a:prstGeom prst="rect"/>
        </p:spPr>
        <p:txBody>
          <a:bodyPr wrap="square">
            <a:spAutoFit/>
          </a:bodyPr>
          <a:p>
            <a:pPr algn="ctr"/>
            <a:r>
              <a:rPr b="1" dirty="0" sz="2800" lang="en-US" smtClean="0">
                <a:solidFill>
                  <a:srgbClr val="D32BE5"/>
                </a:solidFill>
              </a:rPr>
              <a:t>(</a:t>
            </a:r>
            <a:r>
              <a:rPr b="1" dirty="0" sz="2800" lang="en-US" smtClean="0">
                <a:solidFill>
                  <a:srgbClr val="C030B9"/>
                </a:solidFill>
              </a:rPr>
              <a:t>Management </a:t>
            </a:r>
            <a:r>
              <a:rPr b="1" dirty="0" sz="2800" lang="en-US">
                <a:solidFill>
                  <a:srgbClr val="C030B9"/>
                </a:solidFill>
              </a:rPr>
              <a:t>Topic in Environmental Studies) </a:t>
            </a:r>
          </a:p>
          <a:p>
            <a:pPr algn="ctr"/>
            <a:r>
              <a:rPr b="1" dirty="0" sz="2800" lang="en-US">
                <a:solidFill>
                  <a:srgbClr val="D32BE5"/>
                </a:solidFill>
              </a:rPr>
              <a:t>B. Tech  7</a:t>
            </a:r>
            <a:r>
              <a:rPr baseline="30000" b="1" dirty="0" sz="2800" lang="en-US">
                <a:solidFill>
                  <a:srgbClr val="D32BE5"/>
                </a:solidFill>
              </a:rPr>
              <a:t>TH</a:t>
            </a:r>
            <a:r>
              <a:rPr b="1" dirty="0" sz="2800" lang="en-US">
                <a:solidFill>
                  <a:srgbClr val="D32BE5"/>
                </a:solidFill>
              </a:rPr>
              <a:t>  Semester</a:t>
            </a:r>
            <a:endParaRPr dirty="0" sz="2800" lang="en-US"/>
          </a:p>
          <a:p>
            <a:pPr algn="ctr"/>
            <a:r>
              <a:rPr dirty="0" sz="2800" lang="en-US">
                <a:solidFill>
                  <a:srgbClr val="FF0000"/>
                </a:solidFill>
              </a:rPr>
              <a:t/>
            </a:r>
            <a:br>
              <a:rPr dirty="0" sz="2800" lang="en-US">
                <a:solidFill>
                  <a:srgbClr val="FF0000"/>
                </a:solidFill>
              </a:rPr>
            </a:br>
            <a:endParaRPr dirty="0" sz="2400" lang="en-US"/>
          </a:p>
        </p:txBody>
      </p:sp>
      <p:pic>
        <p:nvPicPr>
          <p:cNvPr id="2097153" name="Picture 5" descr="C:\Users\NARESH\Desktop\Water resources\water-resources-8-638 (1)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 t="52610"/>
          <a:stretch>
            <a:fillRect/>
          </a:stretch>
        </p:blipFill>
        <p:spPr bwMode="auto">
          <a:xfrm>
            <a:off x="5216441" y="4242816"/>
            <a:ext cx="6902407" cy="2455803"/>
          </a:xfrm>
          <a:prstGeom prst="rect"/>
          <a:noFill/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Box 3"/>
          <p:cNvSpPr txBox="1">
            <a:spLocks noChangeArrowheads="1"/>
          </p:cNvSpPr>
          <p:nvPr/>
        </p:nvSpPr>
        <p:spPr bwMode="auto">
          <a:xfrm>
            <a:off x="2214035" y="722314"/>
            <a:ext cx="184731" cy="369332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p>
            <a:pPr eaLnBrk="1" hangingPunct="1">
              <a:buClr>
                <a:srgbClr val="000000"/>
              </a:buClr>
              <a:buSzPct val="100000"/>
            </a:pPr>
            <a:endParaRPr altLang="en-US" lang="zh-CN">
              <a:latin typeface="Century Schoolbook" pitchFamily="18" charset="0"/>
            </a:endParaRPr>
          </a:p>
        </p:txBody>
      </p:sp>
      <p:sp>
        <p:nvSpPr>
          <p:cNvPr id="1048597" name="AutoShape 4"/>
          <p:cNvSpPr>
            <a:spLocks noChangeArrowheads="1"/>
          </p:cNvSpPr>
          <p:nvPr/>
        </p:nvSpPr>
        <p:spPr bwMode="auto">
          <a:xfrm rot="5400000" flipH="1">
            <a:off x="-2017182" y="1711327"/>
            <a:ext cx="4032250" cy="4298951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/>
          <a:p>
            <a:endParaRPr lang="en-US"/>
          </a:p>
        </p:txBody>
      </p:sp>
      <p:sp>
        <p:nvSpPr>
          <p:cNvPr id="1048598" name="AutoShape 5"/>
          <p:cNvSpPr>
            <a:spLocks noChangeArrowheads="1"/>
          </p:cNvSpPr>
          <p:nvPr/>
        </p:nvSpPr>
        <p:spPr bwMode="auto">
          <a:xfrm>
            <a:off x="2698496" y="2111795"/>
            <a:ext cx="7526867" cy="269765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dirty="0" sz="2800" lang="en-IN" smtClean="0">
                <a:latin typeface="Times New Roman" panose="02020603050405020304" pitchFamily="18" charset="0"/>
                <a:ea typeface="Calibri" panose="020F0502020204030204" pitchFamily="34" charset="0"/>
              </a:rPr>
              <a:t>Hydrological cycle</a:t>
            </a:r>
            <a:endParaRPr dirty="0" sz="2800" lang="en-US" smtClean="0"/>
          </a:p>
          <a:p>
            <a:pPr algn="just">
              <a:buClr>
                <a:srgbClr val="000000"/>
              </a:buClr>
              <a:buSzPct val="100000"/>
            </a:pPr>
            <a:endParaRPr dirty="0" sz="2800" lang="en-US" smtClean="0"/>
          </a:p>
          <a:p>
            <a:pPr algn="just">
              <a:buClr>
                <a:srgbClr val="000000"/>
              </a:buClr>
              <a:buSzPct val="100000"/>
            </a:pPr>
            <a:r>
              <a:rPr b="1" dirty="0" sz="2400" lang="en-US" smtClean="0"/>
              <a:t/>
            </a:r>
            <a:br>
              <a:rPr b="1" dirty="0" sz="2400" lang="en-US" smtClean="0"/>
            </a:br>
            <a:endParaRPr dirty="0" sz="240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</p:txBody>
      </p:sp>
      <p:sp>
        <p:nvSpPr>
          <p:cNvPr id="1048599" name="AutoShape 8"/>
          <p:cNvSpPr>
            <a:spLocks noChangeArrowheads="1"/>
          </p:cNvSpPr>
          <p:nvPr/>
        </p:nvSpPr>
        <p:spPr bwMode="auto">
          <a:xfrm>
            <a:off x="1893824" y="740330"/>
            <a:ext cx="8026400" cy="1731884"/>
          </a:xfrm>
          <a:prstGeom prst="roundRect">
            <a:avLst>
              <a:gd name="adj" fmla="val 265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dirty="0" sz="2800" lang="en-US" smtClean="0"/>
              <a:t>Water availability</a:t>
            </a:r>
          </a:p>
          <a:p>
            <a:pPr algn="just">
              <a:buClr>
                <a:srgbClr val="000000"/>
              </a:buClr>
              <a:buSzPct val="100000"/>
            </a:pPr>
            <a:endParaRPr dirty="0" sz="2800" lang="en-US" smtClean="0"/>
          </a:p>
          <a:p>
            <a:pPr algn="just">
              <a:buClr>
                <a:srgbClr val="000000"/>
              </a:buClr>
              <a:buSzPct val="100000"/>
            </a:pPr>
            <a:endParaRPr b="1" dirty="0" lang="en-US" smtClean="0">
              <a:solidFill>
                <a:srgbClr val="D32BE5"/>
              </a:solidFill>
            </a:endParaRPr>
          </a:p>
          <a:p>
            <a:pPr algn="just">
              <a:buClr>
                <a:srgbClr val="000000"/>
              </a:buClr>
              <a:buSzPct val="100000"/>
            </a:pPr>
            <a:endParaRPr altLang="zh-CN" b="1" dirty="0" lang="en-US">
              <a:solidFill>
                <a:srgbClr val="D32BE5"/>
              </a:solidFill>
              <a:latin typeface="Century Schoolbook" pitchFamily="18" charset="0"/>
              <a:ea typeface="SimHei" pitchFamily="49" charset="-122"/>
            </a:endParaRPr>
          </a:p>
        </p:txBody>
      </p:sp>
      <p:sp>
        <p:nvSpPr>
          <p:cNvPr id="1048600" name="AutoShape 9"/>
          <p:cNvSpPr>
            <a:spLocks noChangeArrowheads="1"/>
          </p:cNvSpPr>
          <p:nvPr/>
        </p:nvSpPr>
        <p:spPr bwMode="auto">
          <a:xfrm rot="5400000">
            <a:off x="-2590800" y="330138"/>
            <a:ext cx="5181600" cy="6134101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endParaRPr altLang="en-US" lang="zh-CN">
              <a:latin typeface="+mn-lt"/>
            </a:endParaRPr>
          </a:p>
        </p:txBody>
      </p:sp>
      <p:grpSp>
        <p:nvGrpSpPr>
          <p:cNvPr id="38" name="Group 10"/>
          <p:cNvGrpSpPr/>
          <p:nvPr/>
        </p:nvGrpSpPr>
        <p:grpSpPr bwMode="auto">
          <a:xfrm>
            <a:off x="1016001" y="1219200"/>
            <a:ext cx="488951" cy="381000"/>
            <a:chOff x="785" y="1175"/>
            <a:chExt cx="231" cy="240"/>
          </a:xfrm>
        </p:grpSpPr>
        <p:sp>
          <p:nvSpPr>
            <p:cNvPr id="1048601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2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3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04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5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06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39" name="Group 31"/>
          <p:cNvGrpSpPr/>
          <p:nvPr/>
        </p:nvGrpSpPr>
        <p:grpSpPr bwMode="auto">
          <a:xfrm>
            <a:off x="2357121" y="2581656"/>
            <a:ext cx="488951" cy="381000"/>
            <a:chOff x="567" y="3612"/>
            <a:chExt cx="231" cy="240"/>
          </a:xfrm>
        </p:grpSpPr>
        <p:sp>
          <p:nvSpPr>
            <p:cNvPr id="1048607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8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9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0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1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2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sp>
        <p:nvSpPr>
          <p:cNvPr id="1048613" name="AutoShape 8"/>
          <p:cNvSpPr>
            <a:spLocks noChangeArrowheads="1"/>
          </p:cNvSpPr>
          <p:nvPr/>
        </p:nvSpPr>
        <p:spPr bwMode="auto">
          <a:xfrm>
            <a:off x="3048000" y="3752579"/>
            <a:ext cx="7524749" cy="1260823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</a:rPr>
              <a:t> </a:t>
            </a:r>
            <a:endParaRPr b="1" dirty="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  <a:p>
            <a:pPr algn="just">
              <a:buClr>
                <a:srgbClr val="000000"/>
              </a:buClr>
              <a:buSzPct val="100000"/>
            </a:pPr>
            <a:endParaRPr b="1" dirty="0" lang="en-US" smtClean="0">
              <a:solidFill>
                <a:srgbClr val="7030A0"/>
              </a:solidFill>
            </a:endParaRPr>
          </a:p>
        </p:txBody>
      </p:sp>
      <p:sp>
        <p:nvSpPr>
          <p:cNvPr id="1048614" name="Footer Placeholder 4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453954" y="1017855"/>
            <a:ext cx="2011362" cy="512233"/>
          </a:xfrm>
          <a:ln>
            <a:miter lim="800000"/>
            <a:headEnd/>
            <a:tailEnd/>
          </a:ln>
        </p:spPr>
        <p:txBody>
          <a:bodyPr bIns="45720" compatLnSpc="1" lIns="91440" numCol="1" rIns="91440" tIns="45720" wrap="square">
            <a:prstTxWarp prst="textNoShape"/>
          </a:bodyPr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altLang="en-US" lang="en-US"/>
              <a:t> </a:t>
            </a:r>
          </a:p>
        </p:txBody>
      </p:sp>
      <p:grpSp>
        <p:nvGrpSpPr>
          <p:cNvPr id="40" name="Group 17"/>
          <p:cNvGrpSpPr/>
          <p:nvPr/>
        </p:nvGrpSpPr>
        <p:grpSpPr bwMode="auto">
          <a:xfrm>
            <a:off x="1748537" y="1819656"/>
            <a:ext cx="488951" cy="381000"/>
            <a:chOff x="1202" y="2024"/>
            <a:chExt cx="231" cy="240"/>
          </a:xfrm>
        </p:grpSpPr>
        <p:sp>
          <p:nvSpPr>
            <p:cNvPr id="1048615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6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7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8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9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0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grpSp>
        <p:nvGrpSpPr>
          <p:cNvPr id="41" name="Group 10"/>
          <p:cNvGrpSpPr/>
          <p:nvPr/>
        </p:nvGrpSpPr>
        <p:grpSpPr bwMode="auto">
          <a:xfrm>
            <a:off x="2520697" y="3136392"/>
            <a:ext cx="488951" cy="381000"/>
            <a:chOff x="785" y="1175"/>
            <a:chExt cx="231" cy="240"/>
          </a:xfrm>
        </p:grpSpPr>
        <p:sp>
          <p:nvSpPr>
            <p:cNvPr id="1048621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2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3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4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5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6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42" name="Group 31"/>
          <p:cNvGrpSpPr/>
          <p:nvPr/>
        </p:nvGrpSpPr>
        <p:grpSpPr bwMode="auto">
          <a:xfrm>
            <a:off x="2425193" y="3953256"/>
            <a:ext cx="488951" cy="381000"/>
            <a:chOff x="567" y="3612"/>
            <a:chExt cx="231" cy="240"/>
          </a:xfrm>
        </p:grpSpPr>
        <p:sp>
          <p:nvSpPr>
            <p:cNvPr id="1048627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8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9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0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1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2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sp>
        <p:nvSpPr>
          <p:cNvPr id="1048633" name="Rectangle 75"/>
          <p:cNvSpPr/>
          <p:nvPr/>
        </p:nvSpPr>
        <p:spPr>
          <a:xfrm>
            <a:off x="2258568" y="1648969"/>
            <a:ext cx="9412224" cy="1196340"/>
          </a:xfrm>
          <a:prstGeom prst="rect"/>
        </p:spPr>
        <p:txBody>
          <a:bodyPr wrap="square">
            <a:spAutoFit/>
          </a:bodyPr>
          <a:p>
            <a:r>
              <a:rPr dirty="0" sz="2800" lang="en-US" smtClean="0"/>
              <a:t>Over utilization and pollution of surface and ground water</a:t>
            </a:r>
          </a:p>
          <a:p>
            <a:endParaRPr dirty="0" sz="2800" lang="en-US" smtClean="0"/>
          </a:p>
          <a:p>
            <a:endParaRPr b="1" dirty="0" lang="en-US" smtClean="0"/>
          </a:p>
        </p:txBody>
      </p:sp>
      <p:sp>
        <p:nvSpPr>
          <p:cNvPr id="1048634" name="Rectangle 77"/>
          <p:cNvSpPr/>
          <p:nvPr/>
        </p:nvSpPr>
        <p:spPr>
          <a:xfrm>
            <a:off x="3115057" y="3029713"/>
            <a:ext cx="7292195" cy="1196340"/>
          </a:xfrm>
          <a:prstGeom prst="rect"/>
        </p:spPr>
        <p:txBody>
          <a:bodyPr wrap="square">
            <a:spAutoFit/>
          </a:bodyPr>
          <a:p>
            <a:r>
              <a:rPr dirty="0" sz="2800" lang="en-US" smtClean="0">
                <a:latin typeface="FrutigerBold"/>
              </a:rPr>
              <a:t>Floods</a:t>
            </a:r>
          </a:p>
          <a:p>
            <a:endParaRPr dirty="0" sz="2800" lang="en-US" smtClean="0"/>
          </a:p>
          <a:p>
            <a:pPr lvl="0"/>
            <a:r>
              <a:rPr b="1" dirty="0" lang="en-US" smtClean="0">
                <a:solidFill>
                  <a:srgbClr val="D32BE5"/>
                </a:solidFill>
              </a:rPr>
              <a:t> </a:t>
            </a:r>
            <a:endParaRPr b="1" dirty="0" lang="en-US"/>
          </a:p>
        </p:txBody>
      </p:sp>
      <p:sp>
        <p:nvSpPr>
          <p:cNvPr id="1048635" name="Rectangle 74"/>
          <p:cNvSpPr/>
          <p:nvPr/>
        </p:nvSpPr>
        <p:spPr>
          <a:xfrm>
            <a:off x="2724912" y="1"/>
            <a:ext cx="7982711" cy="769441"/>
          </a:xfrm>
          <a:prstGeom prst="rect"/>
        </p:spPr>
        <p:txBody>
          <a:bodyPr wrap="square">
            <a:spAutoFit/>
          </a:bodyPr>
          <a:p>
            <a:r>
              <a:rPr altLang="zh-CN" b="1" dirty="0" sz="4400" lang="en-US" smtClean="0">
                <a:solidFill>
                  <a:srgbClr val="D32BE5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Arial" pitchFamily="34" charset="0"/>
              </a:rPr>
              <a:t>Contents</a:t>
            </a:r>
            <a:endParaRPr dirty="0" sz="4400" lang="en-US"/>
          </a:p>
        </p:txBody>
      </p:sp>
      <p:grpSp>
        <p:nvGrpSpPr>
          <p:cNvPr id="43" name="Group 10"/>
          <p:cNvGrpSpPr/>
          <p:nvPr/>
        </p:nvGrpSpPr>
        <p:grpSpPr bwMode="auto">
          <a:xfrm>
            <a:off x="2163065" y="4581144"/>
            <a:ext cx="488951" cy="381000"/>
            <a:chOff x="785" y="1175"/>
            <a:chExt cx="231" cy="240"/>
          </a:xfrm>
        </p:grpSpPr>
        <p:sp>
          <p:nvSpPr>
            <p:cNvPr id="1048636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7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8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9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0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41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sp>
        <p:nvSpPr>
          <p:cNvPr id="1048642" name="Rectangle 54"/>
          <p:cNvSpPr/>
          <p:nvPr/>
        </p:nvSpPr>
        <p:spPr>
          <a:xfrm>
            <a:off x="2991540" y="4498848"/>
            <a:ext cx="7716084" cy="523220"/>
          </a:xfrm>
          <a:prstGeom prst="rect"/>
        </p:spPr>
        <p:txBody>
          <a:bodyPr wrap="square">
            <a:spAutoFit/>
          </a:bodyPr>
          <a:p>
            <a:r>
              <a:rPr dirty="0" sz="2800" lang="en-US" smtClean="0">
                <a:latin typeface="FrutigerBold"/>
              </a:rPr>
              <a:t>Sustainable water management</a:t>
            </a:r>
          </a:p>
        </p:txBody>
      </p:sp>
      <p:sp>
        <p:nvSpPr>
          <p:cNvPr id="1048643" name="Rectangle 55"/>
          <p:cNvSpPr/>
          <p:nvPr/>
        </p:nvSpPr>
        <p:spPr>
          <a:xfrm>
            <a:off x="3179282" y="3867912"/>
            <a:ext cx="3742726" cy="523220"/>
          </a:xfrm>
          <a:prstGeom prst="rect"/>
        </p:spPr>
        <p:txBody>
          <a:bodyPr wrap="square">
            <a:spAutoFit/>
          </a:bodyPr>
          <a:p>
            <a:r>
              <a:rPr dirty="0" sz="2800" lang="en-US" smtClean="0">
                <a:latin typeface="FrutigerBold"/>
              </a:rPr>
              <a:t>Drought</a:t>
            </a:r>
          </a:p>
        </p:txBody>
      </p:sp>
      <p:sp>
        <p:nvSpPr>
          <p:cNvPr id="1048644" name="Rectangle 56"/>
          <p:cNvSpPr/>
          <p:nvPr/>
        </p:nvSpPr>
        <p:spPr>
          <a:xfrm>
            <a:off x="2795724" y="5120640"/>
            <a:ext cx="6348276" cy="523220"/>
          </a:xfrm>
          <a:prstGeom prst="rect"/>
        </p:spPr>
        <p:txBody>
          <a:bodyPr wrap="square">
            <a:spAutoFit/>
          </a:bodyPr>
          <a:p>
            <a:r>
              <a:rPr dirty="0" sz="2800" lang="en-US" smtClean="0">
                <a:latin typeface="FrutigerBold"/>
              </a:rPr>
              <a:t>Advantages with reservoirs/dams</a:t>
            </a:r>
          </a:p>
        </p:txBody>
      </p:sp>
      <p:sp>
        <p:nvSpPr>
          <p:cNvPr id="1048645" name="Rectangle 57"/>
          <p:cNvSpPr/>
          <p:nvPr/>
        </p:nvSpPr>
        <p:spPr>
          <a:xfrm>
            <a:off x="2432920" y="5740646"/>
            <a:ext cx="6637928" cy="523220"/>
          </a:xfrm>
          <a:prstGeom prst="rect"/>
        </p:spPr>
        <p:txBody>
          <a:bodyPr wrap="square">
            <a:spAutoFit/>
          </a:bodyPr>
          <a:p>
            <a:pPr lvl="0"/>
            <a:r>
              <a:rPr dirty="0" sz="2800" lang="en-US" smtClean="0">
                <a:latin typeface="FrutigerBold"/>
              </a:rPr>
              <a:t>Problems with reservoirs/dams</a:t>
            </a:r>
          </a:p>
        </p:txBody>
      </p:sp>
      <p:sp>
        <p:nvSpPr>
          <p:cNvPr id="1048646" name="AutoShape 8"/>
          <p:cNvSpPr>
            <a:spLocks noChangeArrowheads="1"/>
          </p:cNvSpPr>
          <p:nvPr/>
        </p:nvSpPr>
        <p:spPr bwMode="auto">
          <a:xfrm>
            <a:off x="2103120" y="5011401"/>
            <a:ext cx="7524749" cy="1260823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</a:rPr>
              <a:t> </a:t>
            </a:r>
            <a:endParaRPr b="1" dirty="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  <a:p>
            <a:pPr algn="just">
              <a:buClr>
                <a:srgbClr val="000000"/>
              </a:buClr>
              <a:buSzPct val="100000"/>
            </a:pPr>
            <a:endParaRPr b="1" dirty="0" lang="en-US" smtClean="0">
              <a:solidFill>
                <a:srgbClr val="7030A0"/>
              </a:solidFill>
            </a:endParaRPr>
          </a:p>
        </p:txBody>
      </p:sp>
      <p:grpSp>
        <p:nvGrpSpPr>
          <p:cNvPr id="44" name="Group 10"/>
          <p:cNvGrpSpPr/>
          <p:nvPr/>
        </p:nvGrpSpPr>
        <p:grpSpPr bwMode="auto">
          <a:xfrm>
            <a:off x="1236473" y="5721096"/>
            <a:ext cx="488951" cy="381000"/>
            <a:chOff x="785" y="1175"/>
            <a:chExt cx="231" cy="240"/>
          </a:xfrm>
        </p:grpSpPr>
        <p:sp>
          <p:nvSpPr>
            <p:cNvPr id="1048647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8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9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50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51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52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45" name="Group 17"/>
          <p:cNvGrpSpPr/>
          <p:nvPr/>
        </p:nvGrpSpPr>
        <p:grpSpPr bwMode="auto">
          <a:xfrm>
            <a:off x="1745489" y="4971288"/>
            <a:ext cx="488951" cy="381000"/>
            <a:chOff x="1202" y="2024"/>
            <a:chExt cx="231" cy="240"/>
          </a:xfrm>
        </p:grpSpPr>
        <p:sp>
          <p:nvSpPr>
            <p:cNvPr id="1048653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54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55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56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57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58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>
          <a:xfrm>
            <a:off x="600456" y="0"/>
            <a:ext cx="10515600" cy="1103067"/>
          </a:xfrm>
        </p:spPr>
        <p:txBody>
          <a:bodyPr>
            <a:normAutofit/>
          </a:bodyPr>
          <a:p>
            <a:pPr algn="ctr"/>
            <a:r>
              <a:rPr dirty="0" sz="4400" lang="en-US" smtClean="0">
                <a:solidFill>
                  <a:srgbClr val="D24EB6"/>
                </a:solidFill>
              </a:rPr>
              <a:t>Water availability</a:t>
            </a:r>
            <a:endParaRPr dirty="0" sz="4400" lang="en-US">
              <a:solidFill>
                <a:srgbClr val="D24EB6"/>
              </a:solidFill>
            </a:endParaRPr>
          </a:p>
        </p:txBody>
      </p:sp>
      <p:sp>
        <p:nvSpPr>
          <p:cNvPr id="1048663" name="Content Placeholder 2"/>
          <p:cNvSpPr>
            <a:spLocks noGrp="1"/>
          </p:cNvSpPr>
          <p:nvPr>
            <p:ph idx="1"/>
          </p:nvPr>
        </p:nvSpPr>
        <p:spPr>
          <a:xfrm>
            <a:off x="420624" y="1161288"/>
            <a:ext cx="10933176" cy="5015675"/>
          </a:xfrm>
        </p:spPr>
        <p:txBody>
          <a:bodyPr>
            <a:noAutofit/>
          </a:bodyPr>
          <a:p>
            <a:pPr algn="just"/>
            <a:r>
              <a:rPr dirty="0" sz="3200" lang="en-US" smtClean="0"/>
              <a:t>70 % land mass in earth under water</a:t>
            </a:r>
          </a:p>
          <a:p>
            <a:pPr algn="just"/>
            <a:r>
              <a:rPr dirty="0" sz="3200" lang="en-US" smtClean="0"/>
              <a:t>Only </a:t>
            </a:r>
            <a:r>
              <a:rPr dirty="0" sz="3200" lang="en-US" smtClean="0">
                <a:solidFill>
                  <a:srgbClr val="7030A0"/>
                </a:solidFill>
              </a:rPr>
              <a:t>3 %  fresh </a:t>
            </a:r>
            <a:r>
              <a:rPr dirty="0" sz="3200" lang="en-US" smtClean="0"/>
              <a:t>water  and </a:t>
            </a:r>
            <a:r>
              <a:rPr dirty="0" sz="3200" lang="en-US" smtClean="0">
                <a:solidFill>
                  <a:srgbClr val="7030A0"/>
                </a:solidFill>
              </a:rPr>
              <a:t>97% saline </a:t>
            </a:r>
            <a:r>
              <a:rPr dirty="0" sz="3200" lang="en-US" smtClean="0"/>
              <a:t>water</a:t>
            </a:r>
          </a:p>
          <a:p>
            <a:pPr algn="just"/>
            <a:r>
              <a:rPr dirty="0" sz="3200" lang="en-US" smtClean="0"/>
              <a:t>Out of this </a:t>
            </a:r>
            <a:r>
              <a:rPr dirty="0" sz="3200" lang="en-US" smtClean="0">
                <a:solidFill>
                  <a:srgbClr val="7030A0"/>
                </a:solidFill>
              </a:rPr>
              <a:t>2 % </a:t>
            </a:r>
            <a:r>
              <a:rPr dirty="0" sz="3200" lang="en-US" smtClean="0"/>
              <a:t>is entrapped in </a:t>
            </a:r>
            <a:r>
              <a:rPr dirty="0" sz="3200" lang="en-US" smtClean="0">
                <a:solidFill>
                  <a:srgbClr val="7030A0"/>
                </a:solidFill>
              </a:rPr>
              <a:t>polar ice </a:t>
            </a:r>
            <a:r>
              <a:rPr dirty="0" sz="3200" lang="en-US" smtClean="0"/>
              <a:t>cap</a:t>
            </a:r>
          </a:p>
          <a:p>
            <a:pPr algn="just"/>
            <a:r>
              <a:rPr dirty="0" sz="3200" lang="en-US" smtClean="0"/>
              <a:t>1 % water is the flowing water in rivers, lakes and ground water</a:t>
            </a:r>
          </a:p>
          <a:p>
            <a:pPr algn="just"/>
            <a:endParaRPr dirty="0" sz="3200" lang="en-US" smtClean="0"/>
          </a:p>
          <a:p>
            <a:pPr algn="just"/>
            <a:endParaRPr dirty="0" sz="3200" lang="en-US" smtClean="0"/>
          </a:p>
          <a:p>
            <a:pPr algn="just"/>
            <a:endParaRPr dirty="0" sz="3200" lang="en-US" smtClean="0"/>
          </a:p>
        </p:txBody>
      </p:sp>
      <p:pic>
        <p:nvPicPr>
          <p:cNvPr id="2097154" name="Picture 2" descr="C:\Users\NARESH\Desktop\Water resources\water-resources-2-72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4945" t="39560" r="32967" b="10989"/>
          <a:stretch>
            <a:fillRect/>
          </a:stretch>
        </p:blipFill>
        <p:spPr bwMode="auto">
          <a:xfrm>
            <a:off x="4873752" y="3504271"/>
            <a:ext cx="5879592" cy="3228215"/>
          </a:xfrm>
          <a:prstGeom prst="rect"/>
          <a:noFill/>
        </p:spPr>
      </p:pic>
      <p:sp>
        <p:nvSpPr>
          <p:cNvPr id="1048664" name="Rectangle 4"/>
          <p:cNvSpPr/>
          <p:nvPr/>
        </p:nvSpPr>
        <p:spPr>
          <a:xfrm>
            <a:off x="396240" y="4334256"/>
            <a:ext cx="4221480" cy="1348740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r>
              <a:rPr dirty="0" sz="2800" lang="en-US" smtClean="0">
                <a:solidFill>
                  <a:srgbClr val="231F20"/>
                </a:solidFill>
                <a:latin typeface="FrutigerLight"/>
              </a:rPr>
              <a:t>India is expected to face </a:t>
            </a:r>
          </a:p>
          <a:p>
            <a:r>
              <a:rPr dirty="0" sz="2800" lang="en-US" smtClean="0">
                <a:solidFill>
                  <a:srgbClr val="231F20"/>
                </a:solidFill>
                <a:latin typeface="FrutigerLight"/>
              </a:rPr>
              <a:t>critical levels of water stress by 2025</a:t>
            </a:r>
            <a:endParaRPr dirty="0" sz="2800" lang="en-US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" descr="C:\Users\NARESH\Desktop\Water resources\water-resources-34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3762" t="15031" r="3762" b="5010"/>
          <a:stretch>
            <a:fillRect/>
          </a:stretch>
        </p:blipFill>
        <p:spPr bwMode="auto">
          <a:xfrm>
            <a:off x="0" y="820694"/>
            <a:ext cx="12192000" cy="6037306"/>
          </a:xfrm>
          <a:prstGeom prst="rect"/>
          <a:noFill/>
        </p:spPr>
      </p:pic>
      <p:sp>
        <p:nvSpPr>
          <p:cNvPr id="1048665" name="TextBox 4"/>
          <p:cNvSpPr txBox="1"/>
          <p:nvPr/>
        </p:nvSpPr>
        <p:spPr>
          <a:xfrm>
            <a:off x="1856232" y="0"/>
            <a:ext cx="8476488" cy="707886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4000" lang="en-US" smtClean="0">
                <a:solidFill>
                  <a:srgbClr val="D24EB6"/>
                </a:solidFill>
              </a:rPr>
              <a:t>Water Stress &amp; water Scarcity</a:t>
            </a:r>
            <a:endParaRPr dirty="0" sz="4000" lang="en-US">
              <a:solidFill>
                <a:srgbClr val="D24EB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3" descr="C:\Users\NARESH\Desktop\Water resources\water-resources-35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5643" t="2505" r="5643" b="2505"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/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182880" y="-256032"/>
            <a:ext cx="10073640" cy="768096"/>
          </a:xfrm>
        </p:spPr>
        <p:txBody>
          <a:bodyPr>
            <a:normAutofit/>
          </a:bodyPr>
          <a:p>
            <a:pPr algn="ctr"/>
            <a:r>
              <a:rPr b="1" dirty="0" sz="4000" lang="en-US" smtClean="0">
                <a:solidFill>
                  <a:srgbClr val="D24EB6"/>
                </a:solidFill>
              </a:rPr>
              <a:t>Water use in India</a:t>
            </a:r>
            <a:endParaRPr b="1" dirty="0" sz="4000" lang="en-US">
              <a:solidFill>
                <a:srgbClr val="D24EB6"/>
              </a:solidFill>
            </a:endParaRPr>
          </a:p>
        </p:txBody>
      </p:sp>
      <p:grpSp>
        <p:nvGrpSpPr>
          <p:cNvPr id="52" name="Group 7"/>
          <p:cNvGrpSpPr/>
          <p:nvPr/>
        </p:nvGrpSpPr>
        <p:grpSpPr>
          <a:xfrm>
            <a:off x="0" y="663160"/>
            <a:ext cx="12192000" cy="6075967"/>
            <a:chOff x="0" y="663160"/>
            <a:chExt cx="12192000" cy="6075967"/>
          </a:xfrm>
        </p:grpSpPr>
        <p:grpSp>
          <p:nvGrpSpPr>
            <p:cNvPr id="53" name="Group 5"/>
            <p:cNvGrpSpPr/>
            <p:nvPr/>
          </p:nvGrpSpPr>
          <p:grpSpPr>
            <a:xfrm>
              <a:off x="0" y="663160"/>
              <a:ext cx="12192000" cy="6075967"/>
              <a:chOff x="0" y="663160"/>
              <a:chExt cx="12192000" cy="6075967"/>
            </a:xfrm>
          </p:grpSpPr>
          <p:pic>
            <p:nvPicPr>
              <p:cNvPr id="2097157" name="Picture 4" descr="C:\Users\NARESH\Desktop\Water resources\water-resources-6-638 (2).jpg"/>
              <p:cNvPicPr>
                <a:picLocks noChangeAspect="1" noChangeArrowheads="1"/>
              </p:cNvPicPr>
              <p:nvPr/>
            </p:nvPicPr>
            <p:blipFill>
              <a:blip xmlns:r="http://schemas.openxmlformats.org/officeDocument/2006/relationships" r:embed="rId1"/>
              <a:srcRect l="1881" t="10021" r="1881" b="2505"/>
              <a:stretch>
                <a:fillRect/>
              </a:stretch>
            </p:blipFill>
            <p:spPr bwMode="auto">
              <a:xfrm>
                <a:off x="0" y="663160"/>
                <a:ext cx="12192000" cy="6075967"/>
              </a:xfrm>
              <a:prstGeom prst="rect"/>
              <a:noFill/>
            </p:spPr>
          </p:pic>
          <p:sp>
            <p:nvSpPr>
              <p:cNvPr id="1048667" name="Rectangle 4"/>
              <p:cNvSpPr/>
              <p:nvPr/>
            </p:nvSpPr>
            <p:spPr>
              <a:xfrm>
                <a:off x="246888" y="3831336"/>
                <a:ext cx="2084832" cy="1865376"/>
              </a:xfrm>
              <a:prstGeom prst="rect"/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p>
                <a:pPr algn="ctr"/>
                <a:endParaRPr lang="en-US"/>
              </a:p>
            </p:txBody>
          </p:sp>
        </p:grpSp>
        <p:pic>
          <p:nvPicPr>
            <p:cNvPr id="2097158" name="Picture 7" descr="C:\Users\NARESH\Desktop\Water resources\water-resources-28-638.jpg"/>
            <p:cNvPicPr>
              <a:picLocks noChangeAspect="1" noChangeArrowheads="1"/>
            </p:cNvPicPr>
            <p:nvPr/>
          </p:nvPicPr>
          <p:blipFill>
            <a:blip xmlns:r="http://schemas.openxmlformats.org/officeDocument/2006/relationships" r:embed="rId2"/>
            <a:srcRect l="5643" t="2505" r="11285" b="47599"/>
            <a:stretch>
              <a:fillRect/>
            </a:stretch>
          </p:blipFill>
          <p:spPr bwMode="auto">
            <a:xfrm>
              <a:off x="0" y="3995928"/>
              <a:ext cx="2680358" cy="2734056"/>
            </a:xfrm>
            <a:prstGeom prst="rect"/>
            <a:noFill/>
          </p:spPr>
        </p:pic>
      </p:grp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719328" y="256032"/>
            <a:ext cx="10972800" cy="1143000"/>
          </a:xfrm>
        </p:spPr>
        <p:txBody>
          <a:bodyPr>
            <a:normAutofit/>
          </a:bodyPr>
          <a:p>
            <a:r>
              <a:rPr dirty="0" sz="4000" lang="en-US" smtClean="0">
                <a:solidFill>
                  <a:srgbClr val="D24EB6"/>
                </a:solidFill>
              </a:rPr>
              <a:t>Hydrological cycles-components</a:t>
            </a:r>
            <a:endParaRPr dirty="0" sz="4000" lang="en-US">
              <a:solidFill>
                <a:srgbClr val="D24EB6"/>
              </a:solidFill>
            </a:endParaRPr>
          </a:p>
        </p:txBody>
      </p:sp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335280" y="1847088"/>
            <a:ext cx="10939272" cy="4395216"/>
          </a:xfrm>
        </p:spPr>
        <p:txBody>
          <a:bodyPr>
            <a:normAutofit/>
          </a:bodyPr>
          <a:p>
            <a:r>
              <a:rPr dirty="0" lang="en-US" smtClean="0">
                <a:solidFill>
                  <a:srgbClr val="7030A0"/>
                </a:solidFill>
              </a:rPr>
              <a:t>Evaporation</a:t>
            </a:r>
            <a:r>
              <a:rPr dirty="0" lang="en-US" smtClean="0"/>
              <a:t>: The transformation of water in to water</a:t>
            </a:r>
          </a:p>
          <a:p>
            <a:pPr>
              <a:buNone/>
            </a:pPr>
            <a:r>
              <a:rPr dirty="0" lang="en-US" smtClean="0"/>
              <a:t> vapour at all surface at all temperature</a:t>
            </a:r>
          </a:p>
          <a:p>
            <a:r>
              <a:rPr dirty="0" lang="en-US" smtClean="0">
                <a:solidFill>
                  <a:srgbClr val="7030A0"/>
                </a:solidFill>
              </a:rPr>
              <a:t>Transpiration: </a:t>
            </a:r>
            <a:r>
              <a:rPr dirty="0" lang="en-US" smtClean="0"/>
              <a:t>Evaporation of water from vegetative surfaces like plant foliage</a:t>
            </a:r>
          </a:p>
          <a:p>
            <a:r>
              <a:rPr dirty="0" lang="en-US" smtClean="0">
                <a:solidFill>
                  <a:srgbClr val="7030A0"/>
                </a:solidFill>
              </a:rPr>
              <a:t>Infiltration: </a:t>
            </a:r>
            <a:r>
              <a:rPr dirty="0" lang="en-US" smtClean="0"/>
              <a:t>The movement of water into the interior of soil to the ground  water regime.</a:t>
            </a:r>
          </a:p>
          <a:p>
            <a:r>
              <a:rPr dirty="0" lang="en-US" smtClean="0">
                <a:solidFill>
                  <a:srgbClr val="7030A0"/>
                </a:solidFill>
              </a:rPr>
              <a:t>Precipitation: </a:t>
            </a:r>
            <a:r>
              <a:rPr dirty="0" lang="en-US" smtClean="0"/>
              <a:t>Water vapour forms cloud and results in precipitation in the form of rain fall and snow fall.</a:t>
            </a:r>
          </a:p>
          <a:p>
            <a:r>
              <a:rPr dirty="0" lang="en-US" smtClean="0">
                <a:solidFill>
                  <a:srgbClr val="7030A0"/>
                </a:solidFill>
              </a:rPr>
              <a:t>Run off: </a:t>
            </a:r>
            <a:r>
              <a:rPr dirty="0" lang="en-US" smtClean="0"/>
              <a:t>The portion of precipitation percolates ground as ground water and the major portion leaves in different stream as run off.</a:t>
            </a:r>
          </a:p>
          <a:p>
            <a:r>
              <a:rPr dirty="0" lang="en-US" smtClean="0">
                <a:solidFill>
                  <a:srgbClr val="7030A0"/>
                </a:solidFill>
              </a:rPr>
              <a:t>Precipitation </a:t>
            </a:r>
            <a:r>
              <a:rPr dirty="0" lang="en-US" smtClean="0"/>
              <a:t>= </a:t>
            </a:r>
            <a:r>
              <a:rPr dirty="0" lang="en-US" smtClean="0">
                <a:solidFill>
                  <a:prstClr val="black"/>
                </a:solidFill>
              </a:rPr>
              <a:t>Evaporation+ Transpiration + Infiltration+ Run off</a:t>
            </a:r>
            <a:endParaRPr dirty="0" lang="en-US"/>
          </a:p>
        </p:txBody>
      </p:sp>
      <p:pic>
        <p:nvPicPr>
          <p:cNvPr id="2097159" name="Picture 2" descr="C:\Users\NARESH\Desktop\Water resources\water-resources-11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t="15031"/>
          <a:stretch>
            <a:fillRect/>
          </a:stretch>
        </p:blipFill>
        <p:spPr bwMode="auto">
          <a:xfrm>
            <a:off x="7626096" y="-3874"/>
            <a:ext cx="4572246" cy="2792794"/>
          </a:xfrm>
          <a:prstGeom prst="rect"/>
          <a:noFill/>
        </p:spPr>
      </p:pic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383357" y="-28281"/>
            <a:ext cx="11004222" cy="801278"/>
          </a:xfrm>
        </p:spPr>
        <p:txBody>
          <a:bodyPr>
            <a:normAutofit/>
          </a:bodyPr>
          <a:p>
            <a:pPr algn="ctr"/>
            <a:r>
              <a:rPr dirty="0" lang="en-US" smtClean="0">
                <a:solidFill>
                  <a:srgbClr val="D24EB6"/>
                </a:solidFill>
              </a:rPr>
              <a:t>Hydrological cycle</a:t>
            </a:r>
            <a:endParaRPr dirty="0" lang="en-US">
              <a:solidFill>
                <a:srgbClr val="D24EB6"/>
              </a:solidFill>
            </a:endParaRPr>
          </a:p>
        </p:txBody>
      </p:sp>
      <p:pic>
        <p:nvPicPr>
          <p:cNvPr id="2097160" name="Picture 3" descr="C:\Users\NARESH\Desktop\download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 flipH="1">
            <a:off x="6224557" y="3804501"/>
            <a:ext cx="581548" cy="578963"/>
          </a:xfrm>
          <a:prstGeom prst="rect"/>
          <a:noFill/>
        </p:spPr>
      </p:pic>
      <p:pic>
        <p:nvPicPr>
          <p:cNvPr id="2097161" name="Picture 3" descr="C:\Users\NARESH\Desktop\download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 flipH="1">
            <a:off x="6716322" y="3900340"/>
            <a:ext cx="581548" cy="578963"/>
          </a:xfrm>
          <a:prstGeom prst="rect"/>
          <a:noFill/>
        </p:spPr>
      </p:pic>
      <p:grpSp>
        <p:nvGrpSpPr>
          <p:cNvPr id="56" name="Group 37"/>
          <p:cNvGrpSpPr/>
          <p:nvPr/>
        </p:nvGrpSpPr>
        <p:grpSpPr>
          <a:xfrm>
            <a:off x="0" y="760626"/>
            <a:ext cx="11594592" cy="5819284"/>
            <a:chOff x="0" y="760626"/>
            <a:chExt cx="10699128" cy="5819284"/>
          </a:xfrm>
        </p:grpSpPr>
        <p:grpSp>
          <p:nvGrpSpPr>
            <p:cNvPr id="57" name="Group 33"/>
            <p:cNvGrpSpPr/>
            <p:nvPr/>
          </p:nvGrpSpPr>
          <p:grpSpPr>
            <a:xfrm>
              <a:off x="0" y="760626"/>
              <a:ext cx="10699128" cy="5819284"/>
              <a:chOff x="0" y="760626"/>
              <a:chExt cx="10699128" cy="5819284"/>
            </a:xfrm>
          </p:grpSpPr>
          <p:grpSp>
            <p:nvGrpSpPr>
              <p:cNvPr id="58" name="Group 13"/>
              <p:cNvGrpSpPr/>
              <p:nvPr/>
            </p:nvGrpSpPr>
            <p:grpSpPr>
              <a:xfrm>
                <a:off x="374715" y="760626"/>
                <a:ext cx="10324413" cy="5819284"/>
                <a:chOff x="-1282045" y="623936"/>
                <a:chExt cx="10324413" cy="5819284"/>
              </a:xfrm>
            </p:grpSpPr>
            <p:pic>
              <p:nvPicPr>
                <p:cNvPr id="2097162" name="Picture 3"/>
                <p:cNvPicPr>
                  <a:picLocks noChangeAspect="1"/>
                </p:cNvPicPr>
                <p:nvPr/>
              </p:nvPicPr>
              <p:blipFill>
                <a:blip xmlns:r="http://schemas.openxmlformats.org/officeDocument/2006/relationships" r:embed="rId2" cstate="print"/>
                <a:srcRect l="2450" r="3675"/>
                <a:stretch>
                  <a:fillRect/>
                </a:stretch>
              </p:blipFill>
              <p:spPr>
                <a:xfrm>
                  <a:off x="-1282045" y="623936"/>
                  <a:ext cx="10324413" cy="5819284"/>
                </a:xfrm>
                <a:prstGeom prst="rect"/>
              </p:spPr>
            </p:pic>
            <p:sp>
              <p:nvSpPr>
                <p:cNvPr id="1048671" name="Notched Right Arrow 9"/>
                <p:cNvSpPr/>
                <p:nvPr/>
              </p:nvSpPr>
              <p:spPr>
                <a:xfrm rot="18597347">
                  <a:off x="-1452816" y="1947718"/>
                  <a:ext cx="2709590" cy="174736"/>
                </a:xfrm>
                <a:prstGeom prst="notchedRightArrow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endParaRPr lang="en-US"/>
                </a:p>
              </p:txBody>
            </p:sp>
            <p:sp>
              <p:nvSpPr>
                <p:cNvPr id="1048672" name="Notched Right Arrow 10"/>
                <p:cNvSpPr/>
                <p:nvPr/>
              </p:nvSpPr>
              <p:spPr>
                <a:xfrm rot="7738790">
                  <a:off x="-1117709" y="2109520"/>
                  <a:ext cx="2590249" cy="173848"/>
                </a:xfrm>
                <a:prstGeom prst="notchedRightArrow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endParaRPr lang="en-US"/>
                </a:p>
              </p:txBody>
            </p:sp>
            <p:sp>
              <p:nvSpPr>
                <p:cNvPr id="1048673" name="TextBox 11"/>
                <p:cNvSpPr txBox="1"/>
                <p:nvPr/>
              </p:nvSpPr>
              <p:spPr>
                <a:xfrm rot="18340991">
                  <a:off x="-1080201" y="1706252"/>
                  <a:ext cx="1449949" cy="369332"/>
                </a:xfrm>
                <a:prstGeom prst="rect"/>
                <a:noFill/>
              </p:spPr>
              <p:txBody>
                <a:bodyPr rtlCol="0" wrap="none">
                  <a:spAutoFit/>
                </a:bodyPr>
                <a:p>
                  <a:r>
                    <a:rPr dirty="0" lang="en-US" smtClean="0"/>
                    <a:t>Evaporation </a:t>
                  </a:r>
                  <a:endParaRPr dirty="0" lang="en-US"/>
                </a:p>
              </p:txBody>
            </p:sp>
            <p:sp>
              <p:nvSpPr>
                <p:cNvPr id="1048674" name="TextBox 12"/>
                <p:cNvSpPr txBox="1"/>
                <p:nvPr/>
              </p:nvSpPr>
              <p:spPr>
                <a:xfrm rot="18411053">
                  <a:off x="-357890" y="2169736"/>
                  <a:ext cx="1535613" cy="369332"/>
                </a:xfrm>
                <a:prstGeom prst="rect"/>
                <a:noFill/>
              </p:spPr>
              <p:txBody>
                <a:bodyPr rtlCol="0" wrap="none">
                  <a:spAutoFit/>
                </a:bodyPr>
                <a:p>
                  <a:r>
                    <a:rPr dirty="0" lang="en-US" smtClean="0"/>
                    <a:t>Precipitation </a:t>
                  </a:r>
                  <a:endParaRPr dirty="0" lang="en-US"/>
                </a:p>
              </p:txBody>
            </p:sp>
          </p:grpSp>
          <p:grpSp>
            <p:nvGrpSpPr>
              <p:cNvPr id="59" name="Group 15"/>
              <p:cNvGrpSpPr/>
              <p:nvPr/>
            </p:nvGrpSpPr>
            <p:grpSpPr>
              <a:xfrm>
                <a:off x="0" y="3393649"/>
                <a:ext cx="1632626" cy="914400"/>
                <a:chOff x="122548" y="3610466"/>
                <a:chExt cx="1632626" cy="914400"/>
              </a:xfrm>
            </p:grpSpPr>
            <p:sp>
              <p:nvSpPr>
                <p:cNvPr id="1048675" name="Rounded Rectangle 16"/>
                <p:cNvSpPr/>
                <p:nvPr/>
              </p:nvSpPr>
              <p:spPr>
                <a:xfrm>
                  <a:off x="160256" y="3610466"/>
                  <a:ext cx="1583703" cy="914400"/>
                </a:xfrm>
                <a:prstGeom prst="roundRect"/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r>
                    <a:rPr dirty="0" lang="en-US" smtClean="0"/>
                    <a:t>G</a:t>
                  </a:r>
                  <a:endParaRPr dirty="0" lang="en-US"/>
                </a:p>
              </p:txBody>
            </p:sp>
            <p:sp>
              <p:nvSpPr>
                <p:cNvPr id="1048676" name="TextBox 17"/>
                <p:cNvSpPr txBox="1"/>
                <p:nvPr/>
              </p:nvSpPr>
              <p:spPr>
                <a:xfrm>
                  <a:off x="122548" y="3921550"/>
                  <a:ext cx="1632626" cy="369332"/>
                </a:xfrm>
                <a:prstGeom prst="rect"/>
                <a:noFill/>
              </p:spPr>
              <p:txBody>
                <a:bodyPr rtlCol="0" wrap="none">
                  <a:spAutoFit/>
                </a:bodyPr>
                <a:p>
                  <a:r>
                    <a:rPr dirty="0" lang="en-US" smtClean="0"/>
                    <a:t>Glacier / Snow</a:t>
                  </a:r>
                  <a:endParaRPr dirty="0" lang="en-US"/>
                </a:p>
              </p:txBody>
            </p:sp>
          </p:grpSp>
          <p:grpSp>
            <p:nvGrpSpPr>
              <p:cNvPr id="60" name="Group 21"/>
              <p:cNvGrpSpPr/>
              <p:nvPr/>
            </p:nvGrpSpPr>
            <p:grpSpPr>
              <a:xfrm rot="19442748">
                <a:off x="6513016" y="1358800"/>
                <a:ext cx="762157" cy="2320758"/>
                <a:chOff x="907771" y="1101078"/>
                <a:chExt cx="762157" cy="2320758"/>
              </a:xfrm>
            </p:grpSpPr>
            <p:sp>
              <p:nvSpPr>
                <p:cNvPr id="1048677" name="Notched Right Arrow 22"/>
                <p:cNvSpPr/>
                <p:nvPr/>
              </p:nvSpPr>
              <p:spPr>
                <a:xfrm rot="18416081">
                  <a:off x="293105" y="2128699"/>
                  <a:ext cx="2151177" cy="224553"/>
                </a:xfrm>
                <a:prstGeom prst="notchedRightArrow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endParaRPr lang="en-US"/>
                </a:p>
              </p:txBody>
            </p:sp>
            <p:sp>
              <p:nvSpPr>
                <p:cNvPr id="1048678" name="Notched Right Arrow 23"/>
                <p:cNvSpPr/>
                <p:nvPr/>
              </p:nvSpPr>
              <p:spPr>
                <a:xfrm rot="7499832">
                  <a:off x="-76317" y="2141992"/>
                  <a:ext cx="2320758" cy="238929"/>
                </a:xfrm>
                <a:prstGeom prst="notchedRightArrow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endParaRPr lang="en-US"/>
                </a:p>
              </p:txBody>
            </p:sp>
            <p:sp>
              <p:nvSpPr>
                <p:cNvPr id="1048679" name="TextBox 24"/>
                <p:cNvSpPr txBox="1"/>
                <p:nvPr/>
              </p:nvSpPr>
              <p:spPr>
                <a:xfrm rot="18340991">
                  <a:off x="367462" y="1743197"/>
                  <a:ext cx="1449949" cy="369332"/>
                </a:xfrm>
                <a:prstGeom prst="rect"/>
                <a:noFill/>
              </p:spPr>
              <p:txBody>
                <a:bodyPr rtlCol="0" wrap="none">
                  <a:spAutoFit/>
                </a:bodyPr>
                <a:p>
                  <a:r>
                    <a:rPr dirty="0" lang="en-US" smtClean="0"/>
                    <a:t>Evaporation </a:t>
                  </a:r>
                  <a:endParaRPr dirty="0" lang="en-US"/>
                </a:p>
              </p:txBody>
            </p:sp>
            <p:sp>
              <p:nvSpPr>
                <p:cNvPr id="1048680" name="TextBox 25"/>
                <p:cNvSpPr txBox="1"/>
                <p:nvPr/>
              </p:nvSpPr>
              <p:spPr>
                <a:xfrm rot="18411053">
                  <a:off x="717455" y="2217167"/>
                  <a:ext cx="1535613" cy="369332"/>
                </a:xfrm>
                <a:prstGeom prst="rect"/>
                <a:noFill/>
              </p:spPr>
              <p:txBody>
                <a:bodyPr rtlCol="0" wrap="none">
                  <a:spAutoFit/>
                </a:bodyPr>
                <a:p>
                  <a:r>
                    <a:rPr dirty="0" lang="en-US" smtClean="0"/>
                    <a:t>Precipitation </a:t>
                  </a:r>
                  <a:endParaRPr dirty="0" lang="en-US"/>
                </a:p>
              </p:txBody>
            </p:sp>
          </p:grpSp>
          <p:sp>
            <p:nvSpPr>
              <p:cNvPr id="1048681" name="TextBox 32"/>
              <p:cNvSpPr txBox="1"/>
              <p:nvPr/>
            </p:nvSpPr>
            <p:spPr>
              <a:xfrm>
                <a:off x="6876194" y="3542216"/>
                <a:ext cx="1137861" cy="369332"/>
              </a:xfrm>
              <a:prstGeom prst="rect"/>
              <a:noFill/>
            </p:spPr>
            <p:txBody>
              <a:bodyPr rtlCol="0" wrap="none">
                <a:spAutoFit/>
              </a:bodyPr>
              <a:p>
                <a:r>
                  <a:rPr b="1" dirty="0" sz="1200" lang="en-US" smtClean="0">
                    <a:solidFill>
                      <a:srgbClr val="D24EB6"/>
                    </a:solidFill>
                  </a:rPr>
                  <a:t>Transpiration</a:t>
                </a:r>
                <a:r>
                  <a:rPr b="1" dirty="0" lang="en-US" smtClean="0"/>
                  <a:t> </a:t>
                </a:r>
                <a:endParaRPr b="1" dirty="0" lang="en-US"/>
              </a:p>
            </p:txBody>
          </p:sp>
        </p:grpSp>
        <p:sp>
          <p:nvSpPr>
            <p:cNvPr id="1048682" name="Right Arrow 35"/>
            <p:cNvSpPr/>
            <p:nvPr/>
          </p:nvSpPr>
          <p:spPr>
            <a:xfrm rot="1907644">
              <a:off x="1618488" y="4151376"/>
              <a:ext cx="1545336" cy="173736"/>
            </a:xfrm>
            <a:prstGeom prst="rightArrow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  <p:sp>
          <p:nvSpPr>
            <p:cNvPr id="1048683" name="TextBox 36"/>
            <p:cNvSpPr txBox="1"/>
            <p:nvPr/>
          </p:nvSpPr>
          <p:spPr>
            <a:xfrm rot="2082375">
              <a:off x="1323161" y="4200441"/>
              <a:ext cx="1541063" cy="307777"/>
            </a:xfrm>
            <a:prstGeom prst="rect"/>
            <a:noFill/>
          </p:spPr>
          <p:txBody>
            <a:bodyPr rtlCol="0" wrap="none">
              <a:spAutoFit/>
            </a:bodyPr>
            <a:p>
              <a:r>
                <a:rPr b="1" dirty="0" sz="1400" lang="en-US" smtClean="0">
                  <a:solidFill>
                    <a:srgbClr val="7030A0"/>
                  </a:solidFill>
                </a:rPr>
                <a:t>Glacier melting </a:t>
              </a:r>
              <a:endParaRPr b="1" dirty="0" sz="1400" lang="en-US">
                <a:solidFill>
                  <a:srgbClr val="7030A0"/>
                </a:solidFill>
              </a:endParaRPr>
            </a:p>
          </p:txBody>
        </p:sp>
      </p:grpSp>
      <p:pic>
        <p:nvPicPr>
          <p:cNvPr id="2097163" name="Picture 2" descr="C:\Users\NARESH\Desktop\download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 cstate="print"/>
          <a:srcRect/>
          <a:stretch>
            <a:fillRect/>
          </a:stretch>
        </p:blipFill>
        <p:spPr bwMode="auto">
          <a:xfrm>
            <a:off x="7036119" y="3852672"/>
            <a:ext cx="471105" cy="469011"/>
          </a:xfrm>
          <a:prstGeom prst="rect"/>
          <a:noFill/>
        </p:spPr>
      </p:pic>
      <p:pic>
        <p:nvPicPr>
          <p:cNvPr id="2097164" name="Picture 3" descr="C:\Users\NARESH\Desktop\download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4" cstate="print"/>
          <a:srcRect/>
          <a:stretch>
            <a:fillRect/>
          </a:stretch>
        </p:blipFill>
        <p:spPr bwMode="auto">
          <a:xfrm>
            <a:off x="7539039" y="3825241"/>
            <a:ext cx="443673" cy="441701"/>
          </a:xfrm>
          <a:prstGeom prst="rect"/>
          <a:noFill/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Picture 2" descr="C:\Users\NARESH\Desktop\Water resources\water-resources-17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b="2505"/>
          <a:stretch>
            <a:fillRect/>
          </a:stretch>
        </p:blipFill>
        <p:spPr bwMode="auto">
          <a:xfrm>
            <a:off x="-70727" y="0"/>
            <a:ext cx="12262727" cy="7003559"/>
          </a:xfrm>
          <a:prstGeom prst="rect"/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2" descr="C:\Users\NARESH\Desktop\Water resources\water-resources-18-638 (2)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b="10021"/>
          <a:stretch>
            <a:fillRect/>
          </a:stretch>
        </p:blipFill>
        <p:spPr bwMode="auto">
          <a:xfrm>
            <a:off x="0" y="109728"/>
            <a:ext cx="12192000" cy="6748272"/>
          </a:xfrm>
          <a:prstGeom prst="rect"/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2097167" name="Picture 2" descr="C:\Users\NARESH\Desktop\Water resources\water-resources-21-638 (2)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b="2505"/>
          <a:stretch>
            <a:fillRect/>
          </a:stretch>
        </p:blipFill>
        <p:spPr bwMode="auto">
          <a:xfrm>
            <a:off x="278384" y="540003"/>
            <a:ext cx="11508584" cy="6317997"/>
          </a:xfrm>
          <a:prstGeom prst="rect"/>
          <a:noFill/>
        </p:spPr>
      </p:pic>
      <p:sp>
        <p:nvSpPr>
          <p:cNvPr id="1048686" name="TextBox 4"/>
          <p:cNvSpPr txBox="1"/>
          <p:nvPr/>
        </p:nvSpPr>
        <p:spPr>
          <a:xfrm>
            <a:off x="3035808" y="9144"/>
            <a:ext cx="4626331" cy="646331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rtlCol="0" wrap="none">
            <a:spAutoFit/>
          </a:bodyPr>
          <a:p>
            <a:r>
              <a:rPr dirty="0" sz="3600" lang="en-US" smtClean="0">
                <a:solidFill>
                  <a:srgbClr val="D24EB6"/>
                </a:solidFill>
              </a:rPr>
              <a:t>Factor affecting Flood </a:t>
            </a:r>
            <a:endParaRPr dirty="0" sz="3600" lang="en-US">
              <a:solidFill>
                <a:srgbClr val="D24EB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838200" y="-219456"/>
            <a:ext cx="10972800" cy="1143000"/>
          </a:xfrm>
        </p:spPr>
        <p:txBody>
          <a:bodyPr/>
          <a:p>
            <a:pPr algn="ctr"/>
            <a:r>
              <a:rPr dirty="0" lang="en-US" smtClean="0">
                <a:solidFill>
                  <a:srgbClr val="D24EB6"/>
                </a:solidFill>
              </a:rPr>
              <a:t>Impact of Floods</a:t>
            </a:r>
            <a:endParaRPr dirty="0" lang="en-US">
              <a:solidFill>
                <a:srgbClr val="D24EB6"/>
              </a:solidFill>
            </a:endParaRPr>
          </a:p>
        </p:txBody>
      </p:sp>
      <p:pic>
        <p:nvPicPr>
          <p:cNvPr id="2097168" name="Picture 2" descr="C:\Users\NARESH\Desktop\Water resources\water-resources-22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t="20042" r="13166" b="12526"/>
          <a:stretch>
            <a:fillRect/>
          </a:stretch>
        </p:blipFill>
        <p:spPr bwMode="auto">
          <a:xfrm>
            <a:off x="1316736" y="1022065"/>
            <a:ext cx="9445752" cy="5507055"/>
          </a:xfrm>
          <a:prstGeom prst="rect"/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Picture 2" descr="C:\Users\NARESH\Desktop\Water resources\water-resources-24-638 (1)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5643" t="26555" r="5643" b="5010"/>
          <a:stretch>
            <a:fillRect/>
          </a:stretch>
        </p:blipFill>
        <p:spPr bwMode="auto">
          <a:xfrm>
            <a:off x="1454812" y="1823431"/>
            <a:ext cx="7753196" cy="4357913"/>
          </a:xfrm>
          <a:prstGeom prst="rect"/>
          <a:noFill/>
        </p:spPr>
      </p:pic>
      <p:sp>
        <p:nvSpPr>
          <p:cNvPr id="1048688" name="TextBox 4"/>
          <p:cNvSpPr txBox="1"/>
          <p:nvPr/>
        </p:nvSpPr>
        <p:spPr>
          <a:xfrm>
            <a:off x="2350008" y="109728"/>
            <a:ext cx="6556248" cy="707886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4000" lang="en-US" smtClean="0">
                <a:solidFill>
                  <a:srgbClr val="D24EB6"/>
                </a:solidFill>
              </a:rPr>
              <a:t>Drought </a:t>
            </a:r>
            <a:endParaRPr dirty="0" sz="4000" lang="en-US">
              <a:solidFill>
                <a:srgbClr val="D24EB6"/>
              </a:solidFill>
            </a:endParaRPr>
          </a:p>
        </p:txBody>
      </p:sp>
      <p:sp>
        <p:nvSpPr>
          <p:cNvPr id="1048689" name="Rectangle 5"/>
          <p:cNvSpPr/>
          <p:nvPr/>
        </p:nvSpPr>
        <p:spPr>
          <a:xfrm>
            <a:off x="1475232" y="792402"/>
            <a:ext cx="7787640" cy="861774"/>
          </a:xfrm>
          <a:prstGeom prst="rect"/>
        </p:spPr>
        <p:txBody>
          <a:bodyPr wrap="square">
            <a:spAutoFit/>
          </a:bodyPr>
          <a:p>
            <a:pPr algn="just">
              <a:buFont typeface="Arial" pitchFamily="34" charset="0"/>
              <a:buChar char="•"/>
            </a:pP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It is an unpredictable climatic condition and occurs due to the failure of one or more monsoons.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2" descr="C:\Users\NARESH\Desktop\Water resources\water-resources-26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3762" t="22547" r="5643" b="10021"/>
          <a:stretch>
            <a:fillRect/>
          </a:stretch>
        </p:blipFill>
        <p:spPr bwMode="auto">
          <a:xfrm>
            <a:off x="512064" y="896113"/>
            <a:ext cx="10524744" cy="5693754"/>
          </a:xfrm>
          <a:prstGeom prst="rect"/>
          <a:noFill/>
        </p:spPr>
      </p:pic>
      <p:sp>
        <p:nvSpPr>
          <p:cNvPr id="1048690" name="TextBox 4"/>
          <p:cNvSpPr txBox="1"/>
          <p:nvPr/>
        </p:nvSpPr>
        <p:spPr>
          <a:xfrm>
            <a:off x="3044952" y="246888"/>
            <a:ext cx="4394408" cy="707886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4000" lang="en-US" smtClean="0">
                <a:solidFill>
                  <a:srgbClr val="D24EB6"/>
                </a:solidFill>
              </a:rPr>
              <a:t>Causes of Drought </a:t>
            </a:r>
            <a:endParaRPr dirty="0" sz="4000" lang="en-US">
              <a:solidFill>
                <a:srgbClr val="D24EB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765048" y="0"/>
            <a:ext cx="10972800" cy="1143000"/>
          </a:xfrm>
        </p:spPr>
        <p:txBody>
          <a:bodyPr/>
          <a:p>
            <a:r>
              <a:rPr dirty="0" lang="en-US" smtClean="0">
                <a:solidFill>
                  <a:srgbClr val="D24EB6"/>
                </a:solidFill>
              </a:rPr>
              <a:t>Causes of Drought </a:t>
            </a:r>
            <a:endParaRPr dirty="0" lang="en-US">
              <a:solidFill>
                <a:srgbClr val="D24EB6"/>
              </a:solidFill>
            </a:endParaRPr>
          </a:p>
        </p:txBody>
      </p:sp>
      <p:pic>
        <p:nvPicPr>
          <p:cNvPr id="2097171" name="Picture 2" descr="C:\Users\NARESH\Desktop\Water resources\water-resources-25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68020" y="1211771"/>
            <a:ext cx="8793099" cy="5097589"/>
          </a:xfrm>
          <a:prstGeom prst="rect"/>
          <a:noFill/>
        </p:spPr>
      </p:pic>
      <p:sp>
        <p:nvSpPr>
          <p:cNvPr id="1048692" name="Rectangle 4"/>
          <p:cNvSpPr/>
          <p:nvPr/>
        </p:nvSpPr>
        <p:spPr>
          <a:xfrm>
            <a:off x="9000744" y="2889718"/>
            <a:ext cx="2816352" cy="1754326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algn="just"/>
            <a:r>
              <a:rPr dirty="0" lang="en-US" smtClean="0">
                <a:solidFill>
                  <a:srgbClr val="231F20"/>
                </a:solidFill>
                <a:latin typeface="FrutigerLight"/>
              </a:rPr>
              <a:t>Soil and water management and </a:t>
            </a:r>
            <a:r>
              <a:rPr dirty="0" lang="en-US" err="1" smtClean="0">
                <a:solidFill>
                  <a:srgbClr val="231F20"/>
                </a:solidFill>
                <a:latin typeface="FrutigerLight"/>
              </a:rPr>
              <a:t>afforestation</a:t>
            </a:r>
            <a:r>
              <a:rPr dirty="0" lang="en-US" smtClean="0">
                <a:solidFill>
                  <a:srgbClr val="231F20"/>
                </a:solidFill>
                <a:latin typeface="FrutigerLight"/>
              </a:rPr>
              <a:t> are long-term measures that reduce the impact of droughts</a:t>
            </a:r>
            <a:endParaRPr dirty="0" lang="en-US"/>
          </a:p>
        </p:txBody>
      </p:sp>
      <p:pic>
        <p:nvPicPr>
          <p:cNvPr id="2097172" name="Picture 2" descr="C:\Users\NARESH\Desktop\Water resources\water-resources-24-638 (1)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 l="1881" t="2505" r="35737" b="75157"/>
          <a:stretch>
            <a:fillRect/>
          </a:stretch>
        </p:blipFill>
        <p:spPr bwMode="auto">
          <a:xfrm>
            <a:off x="8719375" y="0"/>
            <a:ext cx="3472625" cy="1389888"/>
          </a:xfrm>
          <a:prstGeom prst="rect"/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838200" y="-402336"/>
            <a:ext cx="10972800" cy="1143000"/>
          </a:xfrm>
        </p:spPr>
        <p:txBody>
          <a:bodyPr>
            <a:normAutofit/>
          </a:bodyPr>
          <a:p>
            <a:pPr indent="-228600" lvl="0" marL="228600">
              <a:spcBef>
                <a:spcPts val="1000"/>
              </a:spcBef>
            </a:pPr>
            <a:r>
              <a:rPr dirty="0" sz="3600" lang="en-US">
                <a:solidFill>
                  <a:srgbClr val="D24EB6"/>
                </a:solidFill>
                <a:latin typeface="FrutigerBold"/>
                <a:ea typeface="+mn-ea"/>
                <a:cs typeface="+mn-cs"/>
              </a:rPr>
              <a:t>Advantages with reservoirs/dams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99872" y="1025158"/>
            <a:ext cx="10515600" cy="4786045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2400" lang="en-US">
                <a:solidFill>
                  <a:srgbClr val="231F20"/>
                </a:solidFill>
                <a:latin typeface="FrutigerLight"/>
              </a:rPr>
              <a:t>India’s increasing demand for water </a:t>
            </a: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for intensive </a:t>
            </a:r>
            <a:r>
              <a:rPr dirty="0" sz="2400" lang="en-US">
                <a:solidFill>
                  <a:srgbClr val="92D050"/>
                </a:solidFill>
                <a:latin typeface="FrutigerLight"/>
              </a:rPr>
              <a:t>irrigated agriculture</a:t>
            </a:r>
            <a:r>
              <a:rPr dirty="0" sz="2400" lang="en-US">
                <a:solidFill>
                  <a:srgbClr val="231F20"/>
                </a:solidFill>
                <a:latin typeface="FrutigerLight"/>
              </a:rPr>
              <a:t>, for </a:t>
            </a:r>
            <a:r>
              <a:rPr dirty="0" sz="2400" lang="en-US" smtClean="0">
                <a:solidFill>
                  <a:srgbClr val="92D050"/>
                </a:solidFill>
                <a:latin typeface="FrutigerLight"/>
              </a:rPr>
              <a:t>generating electricity</a:t>
            </a:r>
            <a:r>
              <a:rPr dirty="0" sz="2400" lang="en-US">
                <a:solidFill>
                  <a:srgbClr val="231F20"/>
                </a:solidFill>
                <a:latin typeface="FrutigerLight"/>
              </a:rPr>
              <a:t>, and for </a:t>
            </a:r>
            <a:r>
              <a:rPr dirty="0" sz="2400" lang="en-US">
                <a:solidFill>
                  <a:srgbClr val="92D050"/>
                </a:solidFill>
                <a:latin typeface="FrutigerLight"/>
              </a:rPr>
              <a:t>consumption in urban </a:t>
            </a:r>
            <a:r>
              <a:rPr dirty="0" sz="2400" lang="en-US" smtClean="0">
                <a:solidFill>
                  <a:srgbClr val="92D050"/>
                </a:solidFill>
                <a:latin typeface="FrutigerLight"/>
              </a:rPr>
              <a:t>and industrial </a:t>
            </a:r>
            <a:r>
              <a:rPr dirty="0" sz="2400" lang="en-US">
                <a:solidFill>
                  <a:srgbClr val="92D050"/>
                </a:solidFill>
                <a:latin typeface="FrutigerLight"/>
              </a:rPr>
              <a:t>centers</a:t>
            </a:r>
            <a:r>
              <a:rPr dirty="0" sz="2400" lang="en-US">
                <a:solidFill>
                  <a:srgbClr val="231F20"/>
                </a:solidFill>
                <a:latin typeface="FrutigerLight"/>
              </a:rPr>
              <a:t>, has been met by creating </a:t>
            </a: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large dams. </a:t>
            </a:r>
          </a:p>
          <a:p>
            <a:pPr indent="0" marL="0">
              <a:buNone/>
            </a:pP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The major </a:t>
            </a:r>
            <a:r>
              <a:rPr dirty="0" sz="2400" lang="en-US" smtClean="0">
                <a:solidFill>
                  <a:srgbClr val="C00000"/>
                </a:solidFill>
                <a:latin typeface="FrutigerLight"/>
              </a:rPr>
              <a:t>advantages of Dams </a:t>
            </a: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are</a:t>
            </a:r>
          </a:p>
          <a:p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Water supply to intensive irrigated </a:t>
            </a:r>
            <a:r>
              <a:rPr dirty="0" sz="2400" lang="en-US" smtClean="0">
                <a:solidFill>
                  <a:srgbClr val="92D050"/>
                </a:solidFill>
                <a:latin typeface="FrutigerLight"/>
              </a:rPr>
              <a:t>agricultural</a:t>
            </a: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 land</a:t>
            </a:r>
          </a:p>
          <a:p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Generation for cheap and non-polluting source of electricity, </a:t>
            </a:r>
            <a:r>
              <a:rPr dirty="0" sz="2400" lang="en-US" smtClean="0">
                <a:solidFill>
                  <a:srgbClr val="92D050"/>
                </a:solidFill>
                <a:latin typeface="FrutigerLight"/>
              </a:rPr>
              <a:t>Hydropower</a:t>
            </a:r>
          </a:p>
          <a:p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Water supply to cash crops</a:t>
            </a:r>
          </a:p>
          <a:p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Domestic water supply</a:t>
            </a:r>
          </a:p>
          <a:p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Water supply to </a:t>
            </a:r>
            <a:r>
              <a:rPr dirty="0" sz="2400" lang="en-US" smtClean="0">
                <a:solidFill>
                  <a:srgbClr val="92D050"/>
                </a:solidFill>
                <a:latin typeface="FrutigerLight"/>
              </a:rPr>
              <a:t>big industries</a:t>
            </a:r>
          </a:p>
          <a:p>
            <a:r>
              <a:rPr dirty="0" sz="2400" lang="en-US" smtClean="0">
                <a:solidFill>
                  <a:srgbClr val="92D050"/>
                </a:solidFill>
                <a:latin typeface="FrutigerLight"/>
              </a:rPr>
              <a:t>Fishing activities</a:t>
            </a:r>
          </a:p>
        </p:txBody>
      </p:sp>
      <p:pic>
        <p:nvPicPr>
          <p:cNvPr id="2097173" name="Picture 2" descr="C:\Users\NARESH\Desktop\Water resources\water-resources-30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997423" y="3465576"/>
            <a:ext cx="4431151" cy="3326836"/>
          </a:xfrm>
          <a:prstGeom prst="rect"/>
          <a:noFill/>
        </p:spPr>
      </p:pic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-1848250" y="-276017"/>
            <a:ext cx="10972800" cy="1143000"/>
          </a:xfrm>
        </p:spPr>
        <p:txBody>
          <a:bodyPr>
            <a:normAutofit/>
          </a:bodyPr>
          <a:p>
            <a:pPr algn="ctr" indent="-228600" lvl="0" marL="228600">
              <a:spcBef>
                <a:spcPts val="1000"/>
              </a:spcBef>
            </a:pPr>
            <a:r>
              <a:rPr dirty="0" sz="3600" lang="en-US">
                <a:solidFill>
                  <a:srgbClr val="D24EB6"/>
                </a:solidFill>
                <a:latin typeface="FrutigerBold"/>
                <a:ea typeface="+mn-ea"/>
                <a:cs typeface="+mn-cs"/>
              </a:rPr>
              <a:t>Problems with reservoirs/dams</a:t>
            </a:r>
          </a:p>
        </p:txBody>
      </p:sp>
      <p:sp>
        <p:nvSpPr>
          <p:cNvPr id="1048696" name="Content Placeholder 2"/>
          <p:cNvSpPr>
            <a:spLocks noGrp="1"/>
          </p:cNvSpPr>
          <p:nvPr>
            <p:ph idx="1"/>
          </p:nvPr>
        </p:nvSpPr>
        <p:spPr>
          <a:xfrm>
            <a:off x="0" y="1287008"/>
            <a:ext cx="11269013" cy="4760287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p>
            <a:r>
              <a:rPr dirty="0" sz="2400" lang="en-US" smtClean="0"/>
              <a:t>Submergence of forest land with valuable loss to biodiversity</a:t>
            </a:r>
          </a:p>
          <a:p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Sediment deposition in rivers  lead to flood and soil erosion </a:t>
            </a:r>
          </a:p>
          <a:p>
            <a:r>
              <a:rPr dirty="0" sz="2200" lang="en-US">
                <a:solidFill>
                  <a:srgbClr val="231F20"/>
                </a:solidFill>
                <a:latin typeface="FrutigerLight"/>
              </a:rPr>
              <a:t>Serious impacts on riverine ecosystems.</a:t>
            </a:r>
          </a:p>
          <a:p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Displacement 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of </a:t>
            </a:r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tribal people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.</a:t>
            </a:r>
          </a:p>
          <a:p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Water 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logging and </a:t>
            </a:r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salinity 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of </a:t>
            </a:r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surrounding lands leading to infertility of the soil.</a:t>
            </a:r>
            <a:endParaRPr dirty="0" sz="2200" lang="en-US">
              <a:solidFill>
                <a:srgbClr val="231F20"/>
              </a:solidFill>
              <a:latin typeface="FrutigerLight"/>
            </a:endParaRPr>
          </a:p>
          <a:p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Dislodging 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animal populations, </a:t>
            </a:r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damaging their 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habitat and cutting off their </a:t>
            </a:r>
            <a:r>
              <a:rPr dirty="0" sz="2200" lang="en-US" smtClean="0">
                <a:solidFill>
                  <a:srgbClr val="231F20"/>
                </a:solidFill>
                <a:latin typeface="FrutigerLight"/>
              </a:rPr>
              <a:t>migration routes</a:t>
            </a:r>
            <a:r>
              <a:rPr dirty="0" sz="2200" lang="en-US">
                <a:solidFill>
                  <a:srgbClr val="231F20"/>
                </a:solidFill>
                <a:latin typeface="FrutigerLight"/>
              </a:rPr>
              <a:t>.</a:t>
            </a:r>
          </a:p>
          <a:p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The </a:t>
            </a:r>
            <a:r>
              <a:rPr dirty="0" sz="2400" lang="en-US">
                <a:solidFill>
                  <a:srgbClr val="231F20"/>
                </a:solidFill>
                <a:latin typeface="FrutigerLight"/>
              </a:rPr>
              <a:t>emission of green house gases </a:t>
            </a:r>
            <a:r>
              <a:rPr dirty="0" sz="2400" lang="en-US" smtClean="0">
                <a:solidFill>
                  <a:srgbClr val="231F20"/>
                </a:solidFill>
                <a:latin typeface="FrutigerLight"/>
              </a:rPr>
              <a:t>from reservoirs </a:t>
            </a:r>
            <a:r>
              <a:rPr dirty="0" sz="2400" lang="en-US">
                <a:solidFill>
                  <a:srgbClr val="231F20"/>
                </a:solidFill>
                <a:latin typeface="FrutigerLight"/>
              </a:rPr>
              <a:t>due to rotting vegetation</a:t>
            </a:r>
            <a:endParaRPr dirty="0" sz="2200" lang="en-US" smtClean="0">
              <a:solidFill>
                <a:srgbClr val="231F20"/>
              </a:solidFill>
              <a:latin typeface="FrutigerLight"/>
            </a:endParaRPr>
          </a:p>
          <a:p>
            <a:endParaRPr dirty="0" sz="2200" lang="en-US"/>
          </a:p>
        </p:txBody>
      </p:sp>
      <p:pic>
        <p:nvPicPr>
          <p:cNvPr id="2097174" name="Picture 2" descr="C:\Users\NARESH\Desktop\Water resources\water-resources-29-6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 l="1881" t="67641" r="33856" b="5010"/>
          <a:stretch>
            <a:fillRect/>
          </a:stretch>
        </p:blipFill>
        <p:spPr bwMode="auto">
          <a:xfrm>
            <a:off x="7956803" y="169682"/>
            <a:ext cx="3905202" cy="1247738"/>
          </a:xfrm>
          <a:prstGeom prst="rect"/>
          <a:noFill/>
        </p:spPr>
      </p:pic>
      <p:pic>
        <p:nvPicPr>
          <p:cNvPr id="2097175" name="Picture 2" descr="C:\Users\NARESH\Desktop\Water resources\water-resources-34-638 (1)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 l="7524" t="42589" r="3762" b="20042"/>
          <a:stretch>
            <a:fillRect/>
          </a:stretch>
        </p:blipFill>
        <p:spPr bwMode="auto">
          <a:xfrm>
            <a:off x="637103" y="4666266"/>
            <a:ext cx="8327790" cy="1791095"/>
          </a:xfrm>
          <a:prstGeom prst="rect"/>
          <a:noFill/>
        </p:spPr>
      </p:pic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655320" y="-338328"/>
            <a:ext cx="10515600" cy="974278"/>
          </a:xfrm>
        </p:spPr>
        <p:txBody>
          <a:bodyPr>
            <a:normAutofit/>
          </a:bodyPr>
          <a:p>
            <a:pPr algn="ctr"/>
            <a:r>
              <a:rPr b="1" dirty="0" sz="4000" lang="en-US" smtClean="0">
                <a:solidFill>
                  <a:srgbClr val="D24EB6"/>
                </a:solidFill>
              </a:rPr>
              <a:t>Sustainable water management</a:t>
            </a:r>
            <a:endParaRPr b="1" dirty="0" sz="4000" lang="en-US">
              <a:solidFill>
                <a:srgbClr val="D24EB6"/>
              </a:solidFill>
            </a:endParaRPr>
          </a:p>
        </p:txBody>
      </p:sp>
      <p:sp>
        <p:nvSpPr>
          <p:cNvPr id="1048698" name="Content Placeholder 2"/>
          <p:cNvSpPr>
            <a:spLocks noGrp="1"/>
          </p:cNvSpPr>
          <p:nvPr>
            <p:ph idx="1"/>
          </p:nvPr>
        </p:nvSpPr>
        <p:spPr>
          <a:xfrm>
            <a:off x="810768" y="676657"/>
            <a:ext cx="10515600" cy="4892039"/>
          </a:xfrm>
        </p:spPr>
        <p:txBody>
          <a:bodyPr>
            <a:noAutofit/>
          </a:bodyPr>
          <a:p>
            <a:pPr indent="0" marL="0">
              <a:buNone/>
            </a:pP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Make people 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aware of the dangers of water scarcity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. </a:t>
            </a:r>
          </a:p>
          <a:p>
            <a:pPr indent="0" marL="0">
              <a:buNone/>
            </a:pPr>
            <a:r>
              <a:rPr b="1" dirty="0" sz="2000" lang="en-US" smtClean="0">
                <a:solidFill>
                  <a:srgbClr val="7030A0"/>
                </a:solidFill>
                <a:latin typeface="FrutigerLight"/>
              </a:rPr>
              <a:t>Measure for sustainable water management</a:t>
            </a:r>
          </a:p>
          <a:p>
            <a:r>
              <a:rPr dirty="0" sz="2000" lang="en-US">
                <a:solidFill>
                  <a:srgbClr val="231F20"/>
                </a:solidFill>
                <a:latin typeface="FrutigerLight"/>
              </a:rPr>
              <a:t>Building several small reservoirs instead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of few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mega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projects</a:t>
            </a:r>
          </a:p>
          <a:p>
            <a:r>
              <a:rPr dirty="0" sz="2000" lang="en-US">
                <a:solidFill>
                  <a:srgbClr val="231F20"/>
                </a:solidFill>
                <a:latin typeface="FrutigerLight"/>
              </a:rPr>
              <a:t>Develop small catchment dams and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protect wetlands</a:t>
            </a:r>
          </a:p>
          <a:p>
            <a:r>
              <a:rPr dirty="0" sz="2000" lang="en-US">
                <a:solidFill>
                  <a:srgbClr val="231F20"/>
                </a:solidFill>
                <a:latin typeface="FrutigerLight"/>
              </a:rPr>
              <a:t>Soil management, micro catchment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development and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afforestation permits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recharging of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underground aquifers thus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reducing the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need for large dams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.</a:t>
            </a:r>
          </a:p>
          <a:p>
            <a:r>
              <a:rPr dirty="0" sz="2000" lang="en-US">
                <a:solidFill>
                  <a:srgbClr val="231F20"/>
                </a:solidFill>
                <a:latin typeface="FrutigerLight"/>
              </a:rPr>
              <a:t>Treating and recycling municipal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waste water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for agricultural use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.</a:t>
            </a:r>
          </a:p>
          <a:p>
            <a:r>
              <a:rPr dirty="0" sz="2000" lang="en-US">
                <a:solidFill>
                  <a:srgbClr val="231F20"/>
                </a:solidFill>
                <a:latin typeface="FrutigerLight"/>
              </a:rPr>
              <a:t>Preventing leakages from dams and canals.</a:t>
            </a:r>
          </a:p>
          <a:p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Preventing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loss in Municipal pipes.</a:t>
            </a:r>
          </a:p>
          <a:p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Effective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rain water harvesting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and ground water recharging.</a:t>
            </a:r>
            <a:endParaRPr dirty="0" sz="2000" lang="en-US">
              <a:solidFill>
                <a:srgbClr val="231F20"/>
              </a:solidFill>
              <a:latin typeface="FrutigerLight"/>
            </a:endParaRPr>
          </a:p>
          <a:p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Water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conservation measures in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agriculture such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as using drip irrigation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.</a:t>
            </a:r>
          </a:p>
          <a:p>
            <a:r>
              <a:rPr dirty="0" sz="2000" lang="en-US">
                <a:solidFill>
                  <a:srgbClr val="231F20"/>
                </a:solidFill>
                <a:latin typeface="FrutigerLight"/>
              </a:rPr>
              <a:t>Pricing water at its real value makes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people use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it more responsibly and efficiently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and reduces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water wasting.</a:t>
            </a:r>
          </a:p>
          <a:p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In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deforested areas where land has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been degraded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, soil management by </a:t>
            </a:r>
            <a:r>
              <a:rPr dirty="0" sz="2000" lang="en-US" err="1" smtClean="0">
                <a:solidFill>
                  <a:srgbClr val="231F20"/>
                </a:solidFill>
                <a:latin typeface="FrutigerLight"/>
              </a:rPr>
              <a:t>bunding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 along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the hill slopes and making ‘</a:t>
            </a:r>
            <a:r>
              <a:rPr dirty="0" sz="2000" lang="en-US" err="1">
                <a:solidFill>
                  <a:srgbClr val="231F20"/>
                </a:solidFill>
                <a:latin typeface="FrutigerLight"/>
              </a:rPr>
              <a:t>nala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’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plugs, can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help retain moisture and make it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possible to </a:t>
            </a:r>
            <a:r>
              <a:rPr dirty="0" sz="2000" lang="en-US">
                <a:solidFill>
                  <a:srgbClr val="231F20"/>
                </a:solidFill>
                <a:latin typeface="FrutigerLight"/>
              </a:rPr>
              <a:t>re-vegetate degraded </a:t>
            </a:r>
            <a:r>
              <a:rPr dirty="0" sz="2000" lang="en-US" smtClean="0">
                <a:solidFill>
                  <a:srgbClr val="231F20"/>
                </a:solidFill>
                <a:latin typeface="FrutigerLight"/>
              </a:rPr>
              <a:t>areas</a:t>
            </a:r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" y="125082"/>
            <a:ext cx="12016596" cy="6732918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lastClr="000000" val="windowText"/>
      </a:dk1>
      <a:lt1>
        <a:sysClr lastClr="FFFFFF" val="window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dir="tl" rig="glow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algn="tl" flip="none" sx="65000" sy="65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ENVIRONMENTAL STUDIES</dc:title>
  <dc:creator>$YDhart</dc:creator>
  <cp:lastModifiedBy>user</cp:lastModifiedBy>
  <dcterms:created xsi:type="dcterms:W3CDTF">2020-04-14T01:58:40Z</dcterms:created>
  <dcterms:modified xsi:type="dcterms:W3CDTF">2025-10-06T05:36:26Z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55d2ad2a696b4ebe96aa47b9dd81cc46</vt:lpwstr>
  </property>
</Properties>
</file>
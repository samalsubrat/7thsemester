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notesMasterIdLst>
    <p:notesMasterId r:id="rId19"/>
  </p:notesMasterIdLst>
  <p:sldIdLst>
    <p:sldId id="352" r:id="rId2"/>
    <p:sldId id="369" r:id="rId3"/>
    <p:sldId id="354" r:id="rId4"/>
    <p:sldId id="362" r:id="rId5"/>
    <p:sldId id="334" r:id="rId6"/>
    <p:sldId id="346" r:id="rId7"/>
    <p:sldId id="345" r:id="rId8"/>
    <p:sldId id="337" r:id="rId9"/>
    <p:sldId id="338" r:id="rId10"/>
    <p:sldId id="363" r:id="rId11"/>
    <p:sldId id="364" r:id="rId12"/>
    <p:sldId id="341" r:id="rId13"/>
    <p:sldId id="365" r:id="rId14"/>
    <p:sldId id="366" r:id="rId15"/>
    <p:sldId id="367" r:id="rId16"/>
    <p:sldId id="368" r:id="rId17"/>
    <p:sldId id="277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4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F00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-1644" y="-90"/>
      </p:cViewPr>
      <p:guideLst>
        <p:guide orient="horz" pos="21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4A2D0-419D-44B7-995E-8095EA548248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94BC2-553B-45BC-B82B-4E54A7011B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5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 txBox="1">
            <a:spLocks noGrp="1" noChangeArrowheads="1"/>
          </p:cNvSpPr>
          <p:nvPr/>
        </p:nvSpPr>
        <p:spPr bwMode="auto">
          <a:xfrm>
            <a:off x="3894138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780" tIns="48390" rIns="96780" bIns="48390" anchor="b"/>
          <a:lstStyle/>
          <a:p>
            <a:pPr algn="r" defTabSz="965200" eaLnBrk="1" hangingPunct="1">
              <a:buClr>
                <a:srgbClr val="000000"/>
              </a:buClr>
            </a:pPr>
            <a:fld id="{80858C5B-47FB-42E5-BCA8-25173A393ACE}" type="slidenum">
              <a:rPr lang="zh-CN" altLang="zh-CN" sz="1300">
                <a:latin typeface="Calibri" pitchFamily="34" charset="0"/>
              </a:rPr>
              <a:pPr algn="r" defTabSz="965200" eaLnBrk="1" hangingPunct="1">
                <a:buClr>
                  <a:srgbClr val="000000"/>
                </a:buClr>
              </a:pPr>
              <a:t>2</a:t>
            </a:fld>
            <a:endParaRPr lang="en-US" altLang="zh-CN" sz="1300">
              <a:latin typeface="Calibri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08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94BC2-553B-45BC-B82B-4E54A7011BC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://en.wikipedia.org/wiki/File:Fungi_of_Saskatchewan.JPG" TargetMode="External"/><Relationship Id="rId7" Type="http://schemas.openxmlformats.org/officeDocument/2006/relationships/hyperlink" Target="http://en.wikipedia.org/wiki/File:Blue_Linckia_Starfish.JP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en.wikipedia.org/wiki/File:Forest_fruits_from_Barro_Colorado.png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/Image:0260-76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3.jpeg"/><Relationship Id="rId7" Type="http://schemas.openxmlformats.org/officeDocument/2006/relationships/image" Target="../media/image15.jpeg"/><Relationship Id="rId2" Type="http://schemas.openxmlformats.org/officeDocument/2006/relationships/hyperlink" Target="/Image:Thorn-Tree-Sossusvlei-Namib-6352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/Image:My-Spirit-Wolf-3334.jpg" TargetMode="External"/><Relationship Id="rId5" Type="http://schemas.openxmlformats.org/officeDocument/2006/relationships/image" Target="../media/image14.jpeg"/><Relationship Id="rId4" Type="http://schemas.openxmlformats.org/officeDocument/2006/relationships/hyperlink" Target="/Image:Nwhi---French-Frigate-Shoals-reef---857.jpg" TargetMode="External"/><Relationship Id="rId9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905000"/>
            <a:ext cx="80772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Cooper Black" pitchFamily="18" charset="0"/>
              </a:rPr>
              <a:t>BIODIVERSITY (PART-1)</a:t>
            </a:r>
          </a:p>
          <a:p>
            <a:pPr algn="ctr">
              <a:defRPr/>
            </a:pPr>
            <a:r>
              <a:rPr lang="en-US" sz="3200" b="1" dirty="0"/>
              <a:t>	</a:t>
            </a:r>
          </a:p>
          <a:p>
            <a:pPr algn="ctr">
              <a:defRPr/>
            </a:pPr>
            <a:r>
              <a:rPr lang="en-US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25780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en-US" b="1" dirty="0" smtClean="0">
                <a:latin typeface="Comic Sans MS" pitchFamily="66" charset="0"/>
              </a:rPr>
              <a:t>Department: Chemistry</a:t>
            </a:r>
          </a:p>
          <a:p>
            <a:pPr algn="just"/>
            <a:r>
              <a:rPr lang="en-US" altLang="en-US" b="1" dirty="0" smtClean="0">
                <a:latin typeface="Comic Sans MS" pitchFamily="66" charset="0"/>
              </a:rPr>
              <a:t>Subject: </a:t>
            </a:r>
            <a:r>
              <a:rPr lang="en-US" altLang="en-US" b="1" dirty="0" smtClean="0">
                <a:latin typeface="Comic Sans MS" pitchFamily="66" charset="0"/>
              </a:rPr>
              <a:t>MTES </a:t>
            </a:r>
            <a:r>
              <a:rPr lang="en-US" altLang="en-US" b="1" dirty="0" smtClean="0">
                <a:latin typeface="Comic Sans MS" pitchFamily="66" charset="0"/>
              </a:rPr>
              <a:t>(</a:t>
            </a:r>
            <a:r>
              <a:rPr lang="en-US" altLang="en-US" b="1" dirty="0" smtClean="0">
                <a:latin typeface="Comic Sans MS" pitchFamily="66" charset="0"/>
              </a:rPr>
              <a:t>CHM2049)</a:t>
            </a:r>
            <a:endParaRPr lang="en-US" altLang="en-US" b="1" dirty="0" smtClean="0">
              <a:latin typeface="Comic Sans MS" pitchFamily="66" charset="0"/>
            </a:endParaRPr>
          </a:p>
        </p:txBody>
      </p:sp>
      <p:pic>
        <p:nvPicPr>
          <p:cNvPr id="6" name="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51270" y="76200"/>
            <a:ext cx="199273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81000" y="762002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D32BE5"/>
                </a:solidFill>
              </a:rPr>
              <a:t>(Management Topic in Environmental Studies) </a:t>
            </a:r>
            <a:r>
              <a:rPr lang="en-US" sz="2800" b="1" dirty="0">
                <a:solidFill>
                  <a:srgbClr val="D32BE5"/>
                </a:solidFill>
              </a:rPr>
              <a:t>B. Tech  </a:t>
            </a:r>
            <a:r>
              <a:rPr lang="en-US" sz="2800" b="1" dirty="0" smtClean="0">
                <a:solidFill>
                  <a:srgbClr val="D32BE5"/>
                </a:solidFill>
              </a:rPr>
              <a:t>7</a:t>
            </a:r>
            <a:r>
              <a:rPr lang="en-US" sz="2800" b="1" baseline="30000" dirty="0" smtClean="0">
                <a:solidFill>
                  <a:srgbClr val="D32BE5"/>
                </a:solidFill>
              </a:rPr>
              <a:t>TH</a:t>
            </a:r>
            <a:r>
              <a:rPr lang="en-US" sz="2800" b="1" dirty="0" smtClean="0">
                <a:solidFill>
                  <a:srgbClr val="D32BE5"/>
                </a:solidFill>
              </a:rPr>
              <a:t>  </a:t>
            </a:r>
            <a:r>
              <a:rPr lang="en-US" sz="2800" b="1" dirty="0">
                <a:solidFill>
                  <a:srgbClr val="D32BE5"/>
                </a:solidFill>
              </a:rPr>
              <a:t>Semester</a:t>
            </a:r>
            <a:endParaRPr lang="en-US" sz="2800" dirty="0"/>
          </a:p>
        </p:txBody>
      </p:sp>
      <p:pic>
        <p:nvPicPr>
          <p:cNvPr id="9" name="Picture 4" descr="mhtml:file://D:\M.Tech.%20Course\Biodiversity\Biodiversity%20-%20M.Tech\Biodiversity%20-%20Wikipedia,%20the%20free%20encyclopedia.mht!http://upload.wikimedia.org/wikipedia/commons/thumb/f/f6/Fungi_of_Saskatchewan.JPG/250px-Fungi_of_Saskatchewan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752600"/>
            <a:ext cx="2133600" cy="28680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6" descr="mhtml:file://D:\M.Tech.%20Course\Biodiversity\Biodiversity%20-%20M.Tech\Biodiversity%20-%20Wikipedia,%20the%20free%20encyclopedia.mht!http://upload.wikimedia.org/wikipedia/commons/thumb/b/b5/Forest_fruits_from_Barro_Colorado.png/200px-Forest_fruits_from_Barro_Colorado.png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00600" y="3429000"/>
            <a:ext cx="2057400" cy="30240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2" descr="mhtml:file://D:\M.Tech.%20Course\Biodiversity\Biodiversity%20-%20M.Tech\Biodiversity%20-%20Wikipedia,%20the%20free%20encyclopedia.mht!http://upload.wikimedia.org/wikipedia/commons/thumb/7/76/Blue_Linckia_Starfish.JPG/275px-Blue_Linckia_Starfish.JPG">
            <a:hlinkClick r:id="rId7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45371" y="3276600"/>
            <a:ext cx="2298629" cy="31924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60526" y="722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endParaRPr lang="zh-CN" altLang="en-US">
              <a:latin typeface="Century Schoolbook" pitchFamily="18" charset="0"/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 rot="5400000" flipH="1">
            <a:off x="-2016918" y="2248695"/>
            <a:ext cx="4032250" cy="3224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/>
          <a:lstStyle/>
          <a:p>
            <a:endParaRPr lang="en-US"/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2133600" y="2743200"/>
            <a:ext cx="5645150" cy="10387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sz="2400" dirty="0" smtClean="0"/>
              <a:t>Values of Biodiversity</a:t>
            </a:r>
          </a:p>
          <a:p>
            <a:pPr lvl="0" algn="just">
              <a:buClr>
                <a:srgbClr val="000000"/>
              </a:buClr>
              <a:buSzPct val="100000"/>
            </a:pPr>
            <a:endParaRPr lang="en-US" b="1" dirty="0" smtClean="0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1447800" y="1066800"/>
            <a:ext cx="6019800" cy="1514773"/>
          </a:xfrm>
          <a:prstGeom prst="roundRect">
            <a:avLst>
              <a:gd name="adj" fmla="val 36116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sz="2800" dirty="0" smtClean="0"/>
              <a:t>What is Biodiversity</a:t>
            </a:r>
          </a:p>
          <a:p>
            <a:pPr algn="just">
              <a:buClr>
                <a:srgbClr val="000000"/>
              </a:buClr>
              <a:buSzPct val="100000"/>
            </a:pPr>
            <a:endParaRPr lang="en-US" b="1" dirty="0" smtClean="0">
              <a:solidFill>
                <a:srgbClr val="D32BE5"/>
              </a:solidFill>
            </a:endParaRPr>
          </a:p>
          <a:p>
            <a:pPr algn="just">
              <a:buClr>
                <a:srgbClr val="000000"/>
              </a:buClr>
              <a:buSzPct val="100000"/>
            </a:pPr>
            <a:endParaRPr lang="en-US" altLang="zh-CN" b="1" dirty="0">
              <a:solidFill>
                <a:srgbClr val="D32BE5"/>
              </a:solidFill>
              <a:latin typeface="Century Schoolbook" pitchFamily="18" charset="0"/>
              <a:ea typeface="SimHei" pitchFamily="49" charset="-122"/>
            </a:endParaRP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 rot="5400000">
            <a:off x="-2590800" y="1362076"/>
            <a:ext cx="5181600" cy="4600576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62000" y="1219200"/>
            <a:ext cx="366713" cy="381000"/>
            <a:chOff x="785" y="1175"/>
            <a:chExt cx="231" cy="240"/>
          </a:xfrm>
        </p:grpSpPr>
        <p:sp>
          <p:nvSpPr>
            <p:cNvPr id="15418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19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21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23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905000" y="3048000"/>
            <a:ext cx="366713" cy="381000"/>
            <a:chOff x="567" y="3612"/>
            <a:chExt cx="231" cy="240"/>
          </a:xfrm>
        </p:grpSpPr>
        <p:sp>
          <p:nvSpPr>
            <p:cNvPr id="15406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07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9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11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sp>
        <p:nvSpPr>
          <p:cNvPr id="15373" name="AutoShape 8"/>
          <p:cNvSpPr>
            <a:spLocks noChangeArrowheads="1"/>
          </p:cNvSpPr>
          <p:nvPr/>
        </p:nvSpPr>
        <p:spPr bwMode="auto">
          <a:xfrm>
            <a:off x="2286000" y="3733801"/>
            <a:ext cx="5643562" cy="129837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algn="just">
              <a:buClr>
                <a:srgbClr val="000000"/>
              </a:buClr>
              <a:buSzPct val="100000"/>
            </a:pPr>
            <a:r>
              <a:rPr lang="en-US" b="1" dirty="0" smtClean="0">
                <a:solidFill>
                  <a:srgbClr val="D32BE5"/>
                </a:solidFill>
              </a:rPr>
              <a:t> </a:t>
            </a:r>
            <a:endParaRPr lang="en-US" b="1" dirty="0" smtClean="0"/>
          </a:p>
          <a:p>
            <a:pPr lvl="0" algn="just">
              <a:buClr>
                <a:srgbClr val="000000"/>
              </a:buClr>
              <a:buSzPct val="100000"/>
            </a:pPr>
            <a:endParaRPr lang="en-US" b="1" dirty="0" smtClean="0"/>
          </a:p>
          <a:p>
            <a:pPr algn="just">
              <a:buClr>
                <a:srgbClr val="000000"/>
              </a:buClr>
              <a:buSzPct val="100000"/>
            </a:pPr>
            <a:endParaRPr lang="en-US" b="1" dirty="0" smtClean="0">
              <a:solidFill>
                <a:srgbClr val="7030A0"/>
              </a:solidFill>
            </a:endParaRPr>
          </a:p>
        </p:txBody>
      </p:sp>
      <p:sp>
        <p:nvSpPr>
          <p:cNvPr id="10257" name="Footer Placeholder 4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89045" y="1081883"/>
            <a:ext cx="2011362" cy="38417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/>
              <a:t> 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524000" y="2057400"/>
            <a:ext cx="366713" cy="381000"/>
            <a:chOff x="1202" y="2024"/>
            <a:chExt cx="231" cy="240"/>
          </a:xfrm>
        </p:grpSpPr>
        <p:sp>
          <p:nvSpPr>
            <p:cNvPr id="15400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401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1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3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63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405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1828800" y="4114800"/>
            <a:ext cx="366713" cy="381000"/>
            <a:chOff x="785" y="1175"/>
            <a:chExt cx="231" cy="240"/>
          </a:xfrm>
        </p:grpSpPr>
        <p:sp>
          <p:nvSpPr>
            <p:cNvPr id="15388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389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77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91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79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93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1524000" y="4876800"/>
            <a:ext cx="366713" cy="381000"/>
            <a:chOff x="567" y="3612"/>
            <a:chExt cx="231" cy="240"/>
          </a:xfrm>
        </p:grpSpPr>
        <p:sp>
          <p:nvSpPr>
            <p:cNvPr id="15382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15383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4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85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6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5387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</p:grpSp>
      <p:sp>
        <p:nvSpPr>
          <p:cNvPr id="73" name="AutoShape 8"/>
          <p:cNvSpPr>
            <a:spLocks noChangeArrowheads="1"/>
          </p:cNvSpPr>
          <p:nvPr/>
        </p:nvSpPr>
        <p:spPr bwMode="auto">
          <a:xfrm>
            <a:off x="1447800" y="5400854"/>
            <a:ext cx="5970588" cy="1457146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r>
              <a:rPr lang="en-US" sz="2800" dirty="0" smtClean="0"/>
              <a:t>Hot spot Biodiversity   </a:t>
            </a:r>
          </a:p>
          <a:p>
            <a:pPr lvl="0"/>
            <a:r>
              <a:rPr lang="en-US" sz="2800" b="1" dirty="0" smtClean="0">
                <a:solidFill>
                  <a:srgbClr val="D32BE5"/>
                </a:solidFill>
              </a:rPr>
              <a:t> </a:t>
            </a:r>
          </a:p>
          <a:p>
            <a:endParaRPr lang="en-US" altLang="zh-CN" sz="2000" b="1" dirty="0">
              <a:solidFill>
                <a:srgbClr val="D32BE5"/>
              </a:solidFill>
              <a:latin typeface="Century Schoolbook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057400" y="1905000"/>
            <a:ext cx="34814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Types of Biodiversity</a:t>
            </a:r>
          </a:p>
          <a:p>
            <a:endParaRPr lang="en-US" b="1" dirty="0" smtClean="0"/>
          </a:p>
        </p:txBody>
      </p:sp>
      <p:sp>
        <p:nvSpPr>
          <p:cNvPr id="78" name="Rectangle 77"/>
          <p:cNvSpPr/>
          <p:nvPr/>
        </p:nvSpPr>
        <p:spPr>
          <a:xfrm>
            <a:off x="2514600" y="3962400"/>
            <a:ext cx="316304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Global Biodiversity</a:t>
            </a:r>
          </a:p>
          <a:p>
            <a:pPr lvl="0"/>
            <a:r>
              <a:rPr lang="en-US" b="1" dirty="0" smtClean="0">
                <a:solidFill>
                  <a:srgbClr val="D32BE5"/>
                </a:solidFill>
              </a:rPr>
              <a:t> </a:t>
            </a:r>
            <a:endParaRPr lang="en-US" b="1" dirty="0"/>
          </a:p>
        </p:txBody>
      </p:sp>
      <p:sp>
        <p:nvSpPr>
          <p:cNvPr id="75" name="Rectangle 74"/>
          <p:cNvSpPr/>
          <p:nvPr/>
        </p:nvSpPr>
        <p:spPr>
          <a:xfrm>
            <a:off x="2895600" y="152400"/>
            <a:ext cx="260103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 smtClean="0">
                <a:solidFill>
                  <a:srgbClr val="D32B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Arial" pitchFamily="34" charset="0"/>
              </a:rPr>
              <a:t>Contents</a:t>
            </a:r>
            <a:endParaRPr lang="en-US" sz="4400" dirty="0"/>
          </a:p>
        </p:txBody>
      </p:sp>
      <p:sp>
        <p:nvSpPr>
          <p:cNvPr id="82" name="AutoShape 8"/>
          <p:cNvSpPr>
            <a:spLocks noChangeArrowheads="1"/>
          </p:cNvSpPr>
          <p:nvPr/>
        </p:nvSpPr>
        <p:spPr bwMode="auto">
          <a:xfrm>
            <a:off x="2057400" y="4724400"/>
            <a:ext cx="5970588" cy="604183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lIns="0" rIns="0" anchor="ctr">
            <a:spAutoFit/>
          </a:bodyPr>
          <a:lstStyle/>
          <a:p>
            <a:r>
              <a:rPr lang="en-US" sz="2800" dirty="0" smtClean="0"/>
              <a:t>Biodiversity in India</a:t>
            </a: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1066800" y="5486400"/>
            <a:ext cx="366713" cy="381000"/>
            <a:chOff x="785" y="1175"/>
            <a:chExt cx="231" cy="240"/>
          </a:xfrm>
        </p:grpSpPr>
        <p:sp>
          <p:nvSpPr>
            <p:cNvPr id="85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7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88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89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latin typeface="Century Schoolbook" pitchFamily="18" charset="0"/>
              </a:endParaRPr>
            </a:p>
          </p:txBody>
        </p:sp>
        <p:sp>
          <p:nvSpPr>
            <p:cNvPr id="90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Clr>
                  <a:srgbClr val="000000"/>
                </a:buClr>
                <a:buSzPct val="100000"/>
              </a:pPr>
              <a:endParaRPr lang="zh-CN" altLang="en-US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NARESH\Desktop\Environmental study part 2 AKV\BIODIVERSITY PPT\biodiversity-3-638.jpg"/>
          <p:cNvPicPr>
            <a:picLocks noChangeAspect="1" noChangeArrowheads="1"/>
          </p:cNvPicPr>
          <p:nvPr/>
        </p:nvPicPr>
        <p:blipFill>
          <a:blip r:embed="rId2"/>
          <a:srcRect t="30063" b="10021"/>
          <a:stretch>
            <a:fillRect/>
          </a:stretch>
        </p:blipFill>
        <p:spPr bwMode="auto">
          <a:xfrm>
            <a:off x="-1" y="2057400"/>
            <a:ext cx="7623019" cy="2971800"/>
          </a:xfrm>
          <a:prstGeom prst="rect">
            <a:avLst/>
          </a:prstGeom>
          <a:noFill/>
        </p:spPr>
      </p:pic>
      <p:pic>
        <p:nvPicPr>
          <p:cNvPr id="3075" name="Picture 3" descr="C:\Users\NARESH\Desktop\Environmental study part 2 AKV\BIODIVERSITY PPT\ppt-of-biodiversity-1-63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1"/>
            <a:ext cx="3352800" cy="19812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5181600"/>
            <a:ext cx="91440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Biodiversity: It is concerned with the </a:t>
            </a:r>
            <a:r>
              <a:rPr lang="en-IN" b="1" dirty="0" smtClean="0">
                <a:solidFill>
                  <a:srgbClr val="CC3300"/>
                </a:solidFill>
              </a:rPr>
              <a:t>variety of individuals within populations</a:t>
            </a:r>
            <a:r>
              <a:rPr lang="en-IN" b="1" dirty="0" smtClean="0"/>
              <a:t>, the </a:t>
            </a:r>
            <a:r>
              <a:rPr lang="en-IN" b="1" dirty="0" smtClean="0">
                <a:solidFill>
                  <a:srgbClr val="0070C0"/>
                </a:solidFill>
              </a:rPr>
              <a:t>diversity of species within communities</a:t>
            </a:r>
            <a:r>
              <a:rPr lang="en-IN" b="1" dirty="0" smtClean="0"/>
              <a:t>, and the </a:t>
            </a:r>
            <a:r>
              <a:rPr lang="en-IN" b="1" dirty="0" smtClean="0">
                <a:solidFill>
                  <a:srgbClr val="7030A0"/>
                </a:solidFill>
              </a:rPr>
              <a:t>range of ecological roles within ecosystems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9200" y="45720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What is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838200"/>
            <a:ext cx="89154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0070C0"/>
                </a:solidFill>
                <a:latin typeface="Bookman Old Style" pitchFamily="18" charset="0"/>
              </a:rPr>
              <a:t>1) Species biodiversity, 2) Genetic biodiversity, 3) Ecosystem biodiversity </a:t>
            </a:r>
          </a:p>
          <a:p>
            <a:r>
              <a:rPr lang="en-US" sz="2000" b="1" i="1" dirty="0" smtClean="0">
                <a:solidFill>
                  <a:srgbClr val="0070C0"/>
                </a:solidFill>
                <a:latin typeface="Bookman Old Style" pitchFamily="18" charset="0"/>
              </a:rPr>
              <a:t>1. Species Biodiversity: </a:t>
            </a:r>
          </a:p>
          <a:p>
            <a:r>
              <a:rPr lang="en-US" sz="2000" dirty="0" err="1" smtClean="0">
                <a:latin typeface="Bookman Old Style" pitchFamily="18" charset="0"/>
              </a:rPr>
              <a:t>i</a:t>
            </a:r>
            <a:r>
              <a:rPr lang="en-US" sz="2000" dirty="0" smtClean="0">
                <a:latin typeface="Bookman Old Style" pitchFamily="18" charset="0"/>
              </a:rPr>
              <a:t>) Refers to the variety of species within a </a:t>
            </a:r>
            <a:r>
              <a:rPr lang="en-US" sz="2000" dirty="0" smtClean="0">
                <a:solidFill>
                  <a:srgbClr val="CC3300"/>
                </a:solidFill>
                <a:latin typeface="Bookman Old Style" pitchFamily="18" charset="0"/>
              </a:rPr>
              <a:t>community</a:t>
            </a:r>
            <a:r>
              <a:rPr lang="en-US" sz="2000" dirty="0" smtClean="0">
                <a:latin typeface="Bookman Old Style" pitchFamily="18" charset="0"/>
              </a:rPr>
              <a:t> in a region.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ii) It an</a:t>
            </a:r>
            <a:r>
              <a:rPr lang="en-US" sz="2000" dirty="0" smtClean="0">
                <a:solidFill>
                  <a:srgbClr val="FF0000"/>
                </a:solidFill>
              </a:rPr>
              <a:t> index </a:t>
            </a:r>
            <a:r>
              <a:rPr lang="en-US" sz="2000" dirty="0" smtClean="0"/>
              <a:t>represents species richness and their abundance in a community</a:t>
            </a:r>
            <a:r>
              <a:rPr lang="en-US" sz="2000" dirty="0" smtClean="0">
                <a:latin typeface="Bookman Old Style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ii) At present, about 1.8 million species on Earth. 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Bookman Old Style" pitchFamily="18" charset="0"/>
              </a:rPr>
              <a:t>iii) India is among the world’s 15 Nations that are exceptionally rich in species diversity.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4800600"/>
            <a:ext cx="2895600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b="1" dirty="0" smtClean="0"/>
              <a:t>It is the variety of different species in a given area/Communities</a:t>
            </a:r>
            <a:endParaRPr lang="en-US" dirty="0"/>
          </a:p>
        </p:txBody>
      </p:sp>
      <p:pic>
        <p:nvPicPr>
          <p:cNvPr id="4098" name="Picture 2" descr="C:\Users\NARESH\Desktop\Environmental study part 2 AKV\BIODIVERSITY PPT\biodiversity-6-638.jpg"/>
          <p:cNvPicPr>
            <a:picLocks noChangeAspect="1" noChangeArrowheads="1"/>
          </p:cNvPicPr>
          <p:nvPr/>
        </p:nvPicPr>
        <p:blipFill>
          <a:blip r:embed="rId2"/>
          <a:srcRect l="15047" t="52610" r="18809" b="5010"/>
          <a:stretch>
            <a:fillRect/>
          </a:stretch>
        </p:blipFill>
        <p:spPr bwMode="auto">
          <a:xfrm>
            <a:off x="3505200" y="3581400"/>
            <a:ext cx="5227566" cy="22098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981200" y="0"/>
            <a:ext cx="5031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FF00FF"/>
                </a:solidFill>
              </a:rPr>
              <a:t>Types of Biodiversity </a:t>
            </a:r>
            <a:endParaRPr lang="en-US" sz="40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01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200px-0260-76">
            <a:hlinkClick r:id="rId2" tooltip="&quot;0260 76.jpg&quot;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1828800"/>
            <a:ext cx="1371600" cy="93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143000" y="4572000"/>
            <a:ext cx="5904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All rice, dog, insect  varieties, on </a:t>
            </a:r>
            <a:r>
              <a:rPr lang="en-US" dirty="0" err="1" smtClean="0">
                <a:solidFill>
                  <a:srgbClr val="FF0000"/>
                </a:solidFill>
              </a:rPr>
              <a:t>colour</a:t>
            </a:r>
            <a:r>
              <a:rPr lang="en-US" dirty="0" smtClean="0">
                <a:solidFill>
                  <a:srgbClr val="FF0000"/>
                </a:solidFill>
              </a:rPr>
              <a:t>, size , shape etc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0"/>
            <a:ext cx="9372600" cy="6555641"/>
            <a:chOff x="0" y="0"/>
            <a:chExt cx="9372600" cy="6148931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372600" cy="6148931"/>
              <a:chOff x="0" y="0"/>
              <a:chExt cx="9372600" cy="6148931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0" y="0"/>
                <a:ext cx="9372600" cy="6148931"/>
                <a:chOff x="0" y="0"/>
                <a:chExt cx="9372600" cy="6148931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0"/>
                  <a:ext cx="9372600" cy="6148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endParaRPr lang="en-US" sz="2400" b="1" i="1" dirty="0" smtClean="0">
                    <a:solidFill>
                      <a:srgbClr val="FF0000"/>
                    </a:solidFill>
                    <a:latin typeface="Bookman Old Style" pitchFamily="18" charset="0"/>
                  </a:endParaRPr>
                </a:p>
                <a:p>
                  <a:pPr algn="just"/>
                  <a:r>
                    <a:rPr lang="en-US" sz="2400" b="1" i="1" dirty="0" smtClean="0">
                      <a:solidFill>
                        <a:srgbClr val="FF0000"/>
                      </a:solidFill>
                      <a:latin typeface="Bookman Old Style" pitchFamily="18" charset="0"/>
                    </a:rPr>
                    <a:t>2. </a:t>
                  </a:r>
                  <a:r>
                    <a:rPr lang="en-US" sz="2400" b="1" i="1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Bookman Old Style" pitchFamily="18" charset="0"/>
                    </a:rPr>
                    <a:t>Genetic Biodiversity</a:t>
                  </a:r>
                  <a:r>
                    <a:rPr lang="en-US" sz="2400" dirty="0" smtClean="0">
                      <a:latin typeface="Bookman Old Style" pitchFamily="18" charset="0"/>
                    </a:rPr>
                    <a:t>: </a:t>
                  </a:r>
                  <a:r>
                    <a:rPr lang="en-IN" sz="2000" b="1" dirty="0" smtClean="0">
                      <a:solidFill>
                        <a:srgbClr val="7030A0"/>
                      </a:solidFill>
                    </a:rPr>
                    <a:t>It may be defined as variability in genes </a:t>
                  </a:r>
                </a:p>
                <a:p>
                  <a:pPr algn="just"/>
                  <a:r>
                    <a:rPr lang="en-IN" sz="2000" b="1" dirty="0" smtClean="0">
                      <a:solidFill>
                        <a:srgbClr val="7030A0"/>
                      </a:solidFill>
                    </a:rPr>
                    <a:t> of a particular species in a population</a:t>
                  </a:r>
                </a:p>
                <a:p>
                  <a:r>
                    <a:rPr lang="en-US" sz="2000" dirty="0" smtClean="0"/>
                    <a:t>Recombination of gene (DNA) gives rise to some new variety </a:t>
                  </a:r>
                  <a:endParaRPr lang="en-IN" sz="2000" b="1" dirty="0" smtClean="0">
                    <a:solidFill>
                      <a:srgbClr val="7030A0"/>
                    </a:solidFill>
                  </a:endParaRPr>
                </a:p>
                <a:p>
                  <a:pPr marL="400050" indent="-400050" algn="just"/>
                  <a:r>
                    <a:rPr lang="en-US" sz="2000" dirty="0" smtClean="0">
                      <a:latin typeface="Bookman Old Style" pitchFamily="18" charset="0"/>
                    </a:rPr>
                    <a:t> </a:t>
                  </a:r>
                  <a:r>
                    <a:rPr lang="en-US" sz="2000" dirty="0" smtClean="0">
                      <a:solidFill>
                        <a:srgbClr val="CC3300"/>
                      </a:solidFill>
                      <a:latin typeface="Bookman Old Style" pitchFamily="18" charset="0"/>
                    </a:rPr>
                    <a:t>Each member of any plant and animals species differ from </a:t>
                  </a:r>
                </a:p>
                <a:p>
                  <a:pPr marL="400050" indent="-400050" algn="just"/>
                  <a:r>
                    <a:rPr lang="en-US" sz="2000" dirty="0" smtClean="0">
                      <a:solidFill>
                        <a:srgbClr val="CC3300"/>
                      </a:solidFill>
                      <a:latin typeface="Bookman Old Style" pitchFamily="18" charset="0"/>
                    </a:rPr>
                    <a:t>others due to genetic recombination.</a:t>
                  </a:r>
                </a:p>
                <a:p>
                  <a:pPr marL="400050" indent="-400050" algn="just">
                    <a:lnSpc>
                      <a:spcPct val="150000"/>
                    </a:lnSpc>
                    <a:buAutoNum type="romanLcParenBoth"/>
                  </a:pP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marL="400050" indent="-400050" algn="just">
                    <a:lnSpc>
                      <a:spcPct val="150000"/>
                    </a:lnSpc>
                    <a:buAutoNum type="romanLcParenBoth"/>
                  </a:pP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r>
                    <a:rPr lang="en-US" sz="2000" dirty="0" smtClean="0"/>
                    <a:t>all rice varieties</a:t>
                  </a:r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solidFill>
                      <a:srgbClr val="CC3300"/>
                    </a:solidFill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endParaRPr lang="en-US" sz="2000" dirty="0" smtClean="0">
                    <a:latin typeface="Bookman Old Style" pitchFamily="18" charset="0"/>
                  </a:endParaRP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Today the new varieties created By genetically </a:t>
                  </a:r>
                  <a:r>
                    <a:rPr lang="en-US" sz="2000" b="1" dirty="0" smtClean="0">
                      <a:latin typeface="Bookman Old Style" pitchFamily="18" charset="0"/>
                    </a:rPr>
                    <a:t>manipulation</a:t>
                  </a:r>
                  <a:r>
                    <a:rPr lang="en-US" sz="2000" dirty="0" smtClean="0">
                      <a:latin typeface="Bookman Old Style" pitchFamily="18" charset="0"/>
                    </a:rPr>
                    <a:t>  of DNA </a:t>
                  </a:r>
                </a:p>
                <a:p>
                  <a:pPr lvl="1" algn="just"/>
                  <a:r>
                    <a:rPr lang="en-US" sz="2000" dirty="0" err="1" smtClean="0">
                      <a:latin typeface="Bookman Old Style" pitchFamily="18" charset="0"/>
                    </a:rPr>
                    <a:t>i</a:t>
                  </a:r>
                  <a:r>
                    <a:rPr lang="en-US" sz="2000" dirty="0" smtClean="0">
                      <a:latin typeface="Bookman Old Style" pitchFamily="18" charset="0"/>
                    </a:rPr>
                    <a:t>) Disease resistant, Drought resistance  crops  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ii) Breed superior domestic animals (high yield Caws, plants) 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iii) Better medicines and a variety of industrial products are</a:t>
                  </a:r>
                </a:p>
                <a:p>
                  <a:pPr lvl="1" algn="just"/>
                  <a:r>
                    <a:rPr lang="en-US" sz="2000" dirty="0" smtClean="0">
                      <a:latin typeface="Bookman Old Style" pitchFamily="18" charset="0"/>
                    </a:rPr>
                    <a:t>     also developed.</a:t>
                  </a:r>
                </a:p>
              </p:txBody>
            </p:sp>
            <p:pic>
              <p:nvPicPr>
                <p:cNvPr id="3" name="Picture 3" descr="C:\Users\NARESH\Desktop\Environmental study part 2 AKV\BIODIVERSITY PPT\presentation-of-biodiversity-5-638 (1).jpg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 l="37618" t="30063" r="3762"/>
                <a:stretch>
                  <a:fillRect/>
                </a:stretch>
              </p:blipFill>
              <p:spPr bwMode="auto">
                <a:xfrm>
                  <a:off x="2209800" y="2358594"/>
                  <a:ext cx="2741216" cy="1858286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" name="Picture 4" descr="C:\Users\NARESH\Desktop\Environmental study part 2 AKV\BIODIVERSITY PPT\presentation-of-biodiversity-6-638CCC.jpg"/>
              <p:cNvPicPr>
                <a:picLocks noChangeAspect="1" noChangeArrowheads="1"/>
              </p:cNvPicPr>
              <p:nvPr/>
            </p:nvPicPr>
            <p:blipFill>
              <a:blip r:embed="rId5"/>
              <a:srcRect l="15047" t="20042" r="15047" b="45094"/>
              <a:stretch>
                <a:fillRect/>
              </a:stretch>
            </p:blipFill>
            <p:spPr bwMode="auto">
              <a:xfrm>
                <a:off x="4800600" y="2358594"/>
                <a:ext cx="3581400" cy="1828800"/>
              </a:xfrm>
              <a:prstGeom prst="rect">
                <a:avLst/>
              </a:prstGeom>
              <a:noFill/>
            </p:spPr>
          </p:pic>
        </p:grpSp>
        <p:pic>
          <p:nvPicPr>
            <p:cNvPr id="1026" name="Picture 2" descr="C:\Users\NARESH\Desktop\download.jp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0" y="2358594"/>
              <a:ext cx="2200464" cy="1762125"/>
            </a:xfrm>
            <a:prstGeom prst="rect">
              <a:avLst/>
            </a:prstGeom>
            <a:noFill/>
          </p:spPr>
        </p:pic>
      </p:grpSp>
      <p:sp>
        <p:nvSpPr>
          <p:cNvPr id="12" name="Rectangle 11"/>
          <p:cNvSpPr/>
          <p:nvPr/>
        </p:nvSpPr>
        <p:spPr>
          <a:xfrm>
            <a:off x="2133600" y="0"/>
            <a:ext cx="45450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Types of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72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6200" y="685800"/>
            <a:ext cx="94488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sz="2400" b="1" i="1" dirty="0" smtClean="0">
                <a:solidFill>
                  <a:srgbClr val="0070C0"/>
                </a:solidFill>
                <a:latin typeface="Bookman Old Style" pitchFamily="18" charset="0"/>
              </a:rPr>
              <a:t>(</a:t>
            </a:r>
            <a:r>
              <a:rPr lang="en-US" sz="2400" b="1" i="1" dirty="0" smtClean="0">
                <a:solidFill>
                  <a:srgbClr val="9933FF"/>
                </a:solidFill>
                <a:latin typeface="Bookman Old Style" pitchFamily="18" charset="0"/>
              </a:rPr>
              <a:t>3) Ecosystem Biodiversity:</a:t>
            </a:r>
            <a:r>
              <a:rPr lang="en-US" sz="2400" i="1" dirty="0" smtClean="0">
                <a:latin typeface="Bookman Old Style" pitchFamily="18" charset="0"/>
              </a:rPr>
              <a:t> </a:t>
            </a:r>
          </a:p>
          <a:p>
            <a:pPr marL="342900" indent="-342900">
              <a:buAutoNum type="romanLcParenR"/>
            </a:pPr>
            <a:endParaRPr lang="en-US" sz="2000" dirty="0" smtClean="0"/>
          </a:p>
          <a:p>
            <a:pPr marL="342900" indent="-342900">
              <a:buAutoNum type="romanLcParenR"/>
            </a:pPr>
            <a:endParaRPr lang="en-US" sz="2000" dirty="0" smtClean="0"/>
          </a:p>
          <a:p>
            <a:pPr marL="342900" indent="-342900">
              <a:buAutoNum type="romanLcParenR"/>
            </a:pPr>
            <a:r>
              <a:rPr lang="en-US" sz="2000" dirty="0" smtClean="0"/>
              <a:t>This is the diversity of ecological complexity showing variations in ecological tropic structure, food chain food-webs, nutrient cycling resulted different variety of Ecosystem. </a:t>
            </a:r>
          </a:p>
          <a:p>
            <a:pPr marL="342900" indent="-342900">
              <a:buAutoNum type="romanLcParenR"/>
            </a:pPr>
            <a:r>
              <a:rPr lang="en-US" sz="2000" dirty="0" smtClean="0"/>
              <a:t>variations is </a:t>
            </a:r>
            <a:r>
              <a:rPr lang="en-US" sz="2000" dirty="0" smtClean="0">
                <a:solidFill>
                  <a:srgbClr val="FF0000"/>
                </a:solidFill>
              </a:rPr>
              <a:t>caused by change in physical parameters</a:t>
            </a:r>
            <a:r>
              <a:rPr lang="en-US" sz="2000" dirty="0" smtClean="0"/>
              <a:t> like hydrosphere, atmosphere, and lithosphere, moisture, temperature, altitude, precipitation etc.</a:t>
            </a:r>
            <a:endParaRPr lang="en-US" sz="2000" i="1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E.g. Forest, Grassland, Desert, Pond ecosystems.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0" y="4038600"/>
            <a:ext cx="5562600" cy="2667000"/>
            <a:chOff x="152400" y="2667000"/>
            <a:chExt cx="6248400" cy="4218124"/>
          </a:xfrm>
        </p:grpSpPr>
        <p:pic>
          <p:nvPicPr>
            <p:cNvPr id="6" name="Picture 4" descr="200px-Thorn-Tree-Sossusvlei-Namib-6352">
              <a:hlinkClick r:id="rId2" tooltip="&quot;Thorn Tree Sossusvlei Namib 6352.jpg&quot;"/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76600" y="2743200"/>
              <a:ext cx="3097213" cy="2063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6" descr="200px-Nwhi---French-Frigate-Shoals-reef---857">
              <a:hlinkClick r:id="rId4" tooltip="&quot;Nwhi   French Frigate Shoals reef   857.jpg&quot;"/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79388" y="2708275"/>
              <a:ext cx="3132137" cy="2089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7" descr="200px-My-Spirit-Wolf-3334">
              <a:hlinkClick r:id="rId6" tooltip="&quot;My Spirit Wolf 3334.jpg&quot;"/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52400" y="4800599"/>
              <a:ext cx="3124200" cy="2084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9"/>
            <p:cNvSpPr txBox="1">
              <a:spLocks noChangeArrowheads="1"/>
            </p:cNvSpPr>
            <p:nvPr/>
          </p:nvSpPr>
          <p:spPr bwMode="auto">
            <a:xfrm>
              <a:off x="152400" y="2667000"/>
              <a:ext cx="2371266" cy="477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srgbClr val="CC3300"/>
                  </a:solidFill>
                  <a:latin typeface="Calibri" pitchFamily="34" charset="0"/>
                </a:rPr>
                <a:t>Marine Ecosystem</a:t>
              </a:r>
              <a:endParaRPr lang="en-IN" sz="2000" dirty="0">
                <a:solidFill>
                  <a:srgbClr val="CC3300"/>
                </a:solidFill>
                <a:latin typeface="Calibri" pitchFamily="34" charset="0"/>
              </a:endParaRPr>
            </a:p>
          </p:txBody>
        </p:sp>
        <p:sp>
          <p:nvSpPr>
            <p:cNvPr id="10" name="TextBox 10"/>
            <p:cNvSpPr txBox="1">
              <a:spLocks noChangeArrowheads="1"/>
            </p:cNvSpPr>
            <p:nvPr/>
          </p:nvSpPr>
          <p:spPr bwMode="auto">
            <a:xfrm>
              <a:off x="3352800" y="2971800"/>
              <a:ext cx="2298349" cy="477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Calibri" pitchFamily="34" charset="0"/>
                </a:rPr>
                <a:t>Desert Ecosystem</a:t>
              </a:r>
              <a:endParaRPr lang="en-IN" sz="2000" dirty="0">
                <a:latin typeface="Calibri" pitchFamily="34" charset="0"/>
              </a:endParaRPr>
            </a:p>
          </p:txBody>
        </p:sp>
        <p:sp>
          <p:nvSpPr>
            <p:cNvPr id="11" name="TextBox 12"/>
            <p:cNvSpPr txBox="1">
              <a:spLocks noChangeArrowheads="1"/>
            </p:cNvSpPr>
            <p:nvPr/>
          </p:nvSpPr>
          <p:spPr bwMode="auto">
            <a:xfrm>
              <a:off x="533400" y="5029200"/>
              <a:ext cx="242149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latin typeface="Calibri" pitchFamily="34" charset="0"/>
                </a:rPr>
                <a:t>Tundra Ecosystem</a:t>
              </a:r>
              <a:endParaRPr lang="en-IN" sz="2400" dirty="0">
                <a:latin typeface="Calibri" pitchFamily="34" charset="0"/>
              </a:endParaRPr>
            </a:p>
          </p:txBody>
        </p:sp>
        <p:pic>
          <p:nvPicPr>
            <p:cNvPr id="12" name="Picture 5" descr="C:\Users\NARESH\Desktop\Environmental study part 2 AKV\BIODIVERSITY PPT\presentation-of-biodiversity-7-638.jpg"/>
            <p:cNvPicPr>
              <a:picLocks noChangeAspect="1" noChangeArrowheads="1"/>
            </p:cNvPicPr>
            <p:nvPr/>
          </p:nvPicPr>
          <p:blipFill>
            <a:blip r:embed="rId8"/>
            <a:srcRect l="43260" t="30063" r="1881" b="12526"/>
            <a:stretch>
              <a:fillRect/>
            </a:stretch>
          </p:blipFill>
          <p:spPr bwMode="auto">
            <a:xfrm>
              <a:off x="3276600" y="4762546"/>
              <a:ext cx="3124200" cy="2095454"/>
            </a:xfrm>
            <a:prstGeom prst="rect">
              <a:avLst/>
            </a:prstGeom>
            <a:noFill/>
          </p:spPr>
        </p:pic>
        <p:sp>
          <p:nvSpPr>
            <p:cNvPr id="13" name="TextBox 14"/>
            <p:cNvSpPr txBox="1">
              <a:spLocks noChangeArrowheads="1"/>
            </p:cNvSpPr>
            <p:nvPr/>
          </p:nvSpPr>
          <p:spPr bwMode="auto">
            <a:xfrm>
              <a:off x="3271957" y="5578815"/>
              <a:ext cx="2650758" cy="551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rgbClr val="CC3300"/>
                  </a:solidFill>
                  <a:latin typeface="Calibri" pitchFamily="34" charset="0"/>
                </a:rPr>
                <a:t>Forest Ecosystem</a:t>
              </a:r>
              <a:endParaRPr lang="en-IN" sz="2400" dirty="0">
                <a:solidFill>
                  <a:srgbClr val="CC3300"/>
                </a:solidFill>
                <a:latin typeface="Calibri" pitchFamily="3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2133600" y="152400"/>
            <a:ext cx="45450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FF00FF"/>
                </a:solidFill>
              </a:rPr>
              <a:t>Types of Biodiversity 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400" y="1219200"/>
            <a:ext cx="876300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n-IN" sz="2000" b="1" dirty="0" smtClean="0">
                <a:solidFill>
                  <a:srgbClr val="7030A0"/>
                </a:solidFill>
              </a:rPr>
              <a:t>Ecosystem: </a:t>
            </a:r>
            <a:r>
              <a:rPr lang="en-IN" sz="2000" dirty="0" smtClean="0">
                <a:solidFill>
                  <a:srgbClr val="7030A0"/>
                </a:solidFill>
              </a:rPr>
              <a:t> Integration of biotic and </a:t>
            </a:r>
            <a:r>
              <a:rPr lang="en-IN" sz="2000" dirty="0" err="1" smtClean="0">
                <a:solidFill>
                  <a:srgbClr val="7030A0"/>
                </a:solidFill>
              </a:rPr>
              <a:t>abiotic</a:t>
            </a:r>
            <a:r>
              <a:rPr lang="en-IN" sz="2000" dirty="0" smtClean="0">
                <a:solidFill>
                  <a:srgbClr val="7030A0"/>
                </a:solidFill>
              </a:rPr>
              <a:t> components of a particular environment and their interaction with each other</a:t>
            </a:r>
            <a:endParaRPr lang="en-US" sz="2000" dirty="0"/>
          </a:p>
        </p:txBody>
      </p:sp>
      <p:pic>
        <p:nvPicPr>
          <p:cNvPr id="19" name="Picture 2" descr="C:\Users\NARESH\Desktop\Environmental study part 2 AKV\BIODIVERSITY PPT\ppt-of-biodiversity-8-1024.jpg"/>
          <p:cNvPicPr>
            <a:picLocks noChangeAspect="1" noChangeArrowheads="1"/>
          </p:cNvPicPr>
          <p:nvPr/>
        </p:nvPicPr>
        <p:blipFill>
          <a:blip r:embed="rId9"/>
          <a:srcRect l="65625" t="42187" r="15234" b="31250"/>
          <a:stretch>
            <a:fillRect/>
          </a:stretch>
        </p:blipFill>
        <p:spPr bwMode="auto">
          <a:xfrm>
            <a:off x="5791200" y="4572000"/>
            <a:ext cx="2895600" cy="20387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 descr="C:\Users\NARESH\Desktop\Environmental study part 2 AKV\BIODIVERSITY PPT\presentation_biodiversity_1502288772_266921-17.jpg"/>
          <p:cNvPicPr>
            <a:picLocks noChangeAspect="1" noChangeArrowheads="1"/>
          </p:cNvPicPr>
          <p:nvPr/>
        </p:nvPicPr>
        <p:blipFill>
          <a:blip r:embed="rId2" cstate="print"/>
          <a:srcRect l="6000" t="20000" r="7000" b="5333"/>
          <a:stretch>
            <a:fillRect/>
          </a:stretch>
        </p:blipFill>
        <p:spPr bwMode="auto">
          <a:xfrm>
            <a:off x="4724399" y="2209800"/>
            <a:ext cx="4419601" cy="4231605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0" y="457200"/>
            <a:ext cx="4829175" cy="6315079"/>
            <a:chOff x="-28575" y="533400"/>
            <a:chExt cx="4829175" cy="631507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 l="1882"/>
            <a:stretch>
              <a:fillRect/>
            </a:stretch>
          </p:blipFill>
          <p:spPr bwMode="auto">
            <a:xfrm>
              <a:off x="34260" y="533400"/>
              <a:ext cx="4766340" cy="4819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/>
            <a:srcRect b="33520"/>
            <a:stretch>
              <a:fillRect/>
            </a:stretch>
          </p:blipFill>
          <p:spPr bwMode="auto">
            <a:xfrm>
              <a:off x="-28575" y="5715000"/>
              <a:ext cx="4829175" cy="1133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9" name="Rectangle 8"/>
          <p:cNvSpPr/>
          <p:nvPr/>
        </p:nvSpPr>
        <p:spPr>
          <a:xfrm>
            <a:off x="4876800" y="6334780"/>
            <a:ext cx="426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Source: .Conserving our Biological Wealth., WWF for Nature-India and Zoological Survey of India.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152400" y="-204776"/>
            <a:ext cx="7050328" cy="661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 smtClean="0">
                <a:solidFill>
                  <a:srgbClr val="FF0000"/>
                </a:solidFill>
                <a:latin typeface="Bookman Old Style" pitchFamily="18" charset="0"/>
              </a:rPr>
              <a:t>Biogeographic</a:t>
            </a:r>
            <a:r>
              <a:rPr lang="en-US" sz="2800" b="1" dirty="0" smtClean="0">
                <a:solidFill>
                  <a:srgbClr val="FF0000"/>
                </a:solidFill>
                <a:latin typeface="Bookman Old Style" pitchFamily="18" charset="0"/>
              </a:rPr>
              <a:t> Classification of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81000"/>
            <a:ext cx="411480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Bookman Old Style" pitchFamily="18" charset="0"/>
              </a:rPr>
              <a:t>India is divided in to 10 major regions based on geography, climate, vegetation pattern, mammals, birds, reptiles, amphibians, insects and other invertebrates present in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" y="64008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2400" y="57150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98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2400" y="52578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6200" y="5257800"/>
          <a:ext cx="4724400" cy="426720"/>
        </p:xfrm>
        <a:graphic>
          <a:graphicData uri="http://schemas.openxmlformats.org/drawingml/2006/table">
            <a:tbl>
              <a:tblPr/>
              <a:tblGrid>
                <a:gridCol w="381000"/>
                <a:gridCol w="1371600"/>
                <a:gridCol w="1905000"/>
                <a:gridCol w="10668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Coast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East coast and waste coast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6500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alibri"/>
                          <a:ea typeface="Calibri"/>
                          <a:cs typeface="Times New Roman"/>
                        </a:rPr>
                        <a:t>6500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152400" y="62484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624542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76200" y="57120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990600"/>
            <a:ext cx="8784976" cy="5367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Direct values (Consumptive uses)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 </a:t>
            </a: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Food, fuel, medicines </a:t>
            </a:r>
            <a:r>
              <a:rPr lang="en-US" dirty="0" smtClean="0">
                <a:latin typeface="Bookman Old Style" pitchFamily="18" charset="0"/>
              </a:rPr>
              <a:t>for local community –forest ecosystem.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Food: </a:t>
            </a:r>
            <a:r>
              <a:rPr lang="en-US" dirty="0" smtClean="0">
                <a:latin typeface="Bookman Old Style" pitchFamily="18" charset="0"/>
              </a:rPr>
              <a:t>Fish, other edible aquatic plants and animals – Marine resources</a:t>
            </a: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Medicines</a:t>
            </a: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  <a:buFont typeface="Wingdings" pitchFamily="2" charset="2"/>
              <a:buChar char="§"/>
            </a:pP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35000"/>
              </a:lnSpc>
            </a:pPr>
            <a:endParaRPr lang="en-US" dirty="0" smtClean="0">
              <a:latin typeface="Bookman Old Style" pitchFamily="18" charset="0"/>
            </a:endParaRPr>
          </a:p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2. Productive use value: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the commercially usable values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where the product is marketed and sold.</a:t>
            </a:r>
          </a:p>
          <a:p>
            <a:r>
              <a:rPr lang="en-US" sz="2000" dirty="0" smtClean="0">
                <a:solidFill>
                  <a:srgbClr val="9933FF"/>
                </a:solidFill>
                <a:latin typeface="Times New Roman" pitchFamily="18" charset="0"/>
                <a:cs typeface="Times New Roman" pitchFamily="18" charset="0"/>
              </a:rPr>
              <a:t>Animal products: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like tusks of elephants, musk from musk deer, silk from silk-worm, wool from sheep, fir of many animals,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insects etc</a:t>
            </a: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Pharmacist – New and better drugs/medicines</a:t>
            </a: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9933FF"/>
                </a:solidFill>
                <a:latin typeface="Bookman Old Style" pitchFamily="18" charset="0"/>
              </a:rPr>
              <a:t>Raw material for Industry </a:t>
            </a:r>
            <a:r>
              <a:rPr lang="en-US" dirty="0" smtClean="0">
                <a:latin typeface="Bookman Old Style" pitchFamily="18" charset="0"/>
              </a:rPr>
              <a:t>– </a:t>
            </a:r>
            <a:r>
              <a:rPr lang="en-US" dirty="0" smtClean="0"/>
              <a:t>the paper and pulp industry, Plywood industry, Railway sleeper industry, Silk industry, textile industry, leather industry</a:t>
            </a:r>
            <a:endParaRPr lang="en-US" dirty="0" smtClean="0">
              <a:latin typeface="Bookman Old Style" pitchFamily="18" charset="0"/>
            </a:endParaRPr>
          </a:p>
          <a:p>
            <a:pPr marL="285750" indent="-285750" algn="just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 smtClean="0">
                <a:solidFill>
                  <a:srgbClr val="9933FF"/>
                </a:solidFill>
                <a:latin typeface="Bookman Old Style" pitchFamily="18" charset="0"/>
              </a:rPr>
              <a:t>Agricultural – </a:t>
            </a:r>
            <a:r>
              <a:rPr lang="en-US" dirty="0" smtClean="0">
                <a:latin typeface="Bookman Old Style" pitchFamily="18" charset="0"/>
              </a:rPr>
              <a:t>Developing new crops Better crops with plant breeding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52400"/>
            <a:ext cx="4857420" cy="743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Values of Biodiversity</a:t>
            </a:r>
          </a:p>
        </p:txBody>
      </p:sp>
      <p:pic>
        <p:nvPicPr>
          <p:cNvPr id="3075" name="Picture 3" descr="C:\Users\NARESH\Desktop\download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286000"/>
            <a:ext cx="1452594" cy="1295400"/>
          </a:xfrm>
          <a:prstGeom prst="rect">
            <a:avLst/>
          </a:prstGeom>
          <a:noFill/>
        </p:spPr>
      </p:pic>
      <p:pic>
        <p:nvPicPr>
          <p:cNvPr id="3077" name="Picture 5" descr="C:\Users\NARESH\Desktop\Catharanthus_roseus24_08_2012_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2362200"/>
            <a:ext cx="1828800" cy="126637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52400" y="2743200"/>
            <a:ext cx="22098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Quinine for malaria from the bark of Cinchona tree, 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3962400" y="2438400"/>
            <a:ext cx="28194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600" dirty="0" err="1" smtClean="0"/>
              <a:t>Vinblastin</a:t>
            </a:r>
            <a:r>
              <a:rPr lang="en-US" sz="1600" dirty="0" smtClean="0"/>
              <a:t> and </a:t>
            </a:r>
            <a:r>
              <a:rPr lang="en-US" sz="1600" dirty="0" err="1" smtClean="0"/>
              <a:t>vincristine</a:t>
            </a:r>
            <a:r>
              <a:rPr lang="en-US" sz="1600" dirty="0" smtClean="0"/>
              <a:t>, two anticancer drugs, from </a:t>
            </a:r>
            <a:r>
              <a:rPr lang="en-US" sz="1600" dirty="0" err="1" smtClean="0"/>
              <a:t>Catharanthus</a:t>
            </a:r>
            <a:r>
              <a:rPr lang="en-US" sz="1600" dirty="0" smtClean="0"/>
              <a:t> roses plant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095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260648"/>
            <a:ext cx="8712968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3. Social Values: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	</a:t>
            </a:r>
            <a:r>
              <a:rPr lang="en-US" dirty="0" smtClean="0">
                <a:latin typeface="Bookman Old Style" pitchFamily="18" charset="0"/>
              </a:rPr>
              <a:t>Preserved as valuable resource many sacred and holy plants like-  based on religion worship:  </a:t>
            </a:r>
            <a:r>
              <a:rPr lang="en-US" dirty="0" err="1" smtClean="0">
                <a:latin typeface="Bookman Old Style" pitchFamily="18" charset="0"/>
              </a:rPr>
              <a:t>Tulsi</a:t>
            </a:r>
            <a:r>
              <a:rPr lang="en-US" dirty="0" smtClean="0">
                <a:latin typeface="Bookman Old Style" pitchFamily="18" charset="0"/>
              </a:rPr>
              <a:t>, </a:t>
            </a:r>
            <a:r>
              <a:rPr lang="en-US" dirty="0" err="1" smtClean="0">
                <a:latin typeface="Bookman Old Style" pitchFamily="18" charset="0"/>
              </a:rPr>
              <a:t>Peepal</a:t>
            </a:r>
            <a:r>
              <a:rPr lang="en-US" dirty="0" smtClean="0">
                <a:latin typeface="Bookman Old Style" pitchFamily="18" charset="0"/>
              </a:rPr>
              <a:t>, and animals like Cow.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4. Ethical and Moral values:</a:t>
            </a:r>
            <a:r>
              <a:rPr lang="en-US" dirty="0" smtClean="0">
                <a:latin typeface="Bookman Old Style" pitchFamily="18" charset="0"/>
              </a:rPr>
              <a:t> Ethical responsibility to protect all life forms.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Preservation of nature through local traditions.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Conservation of biodiversity &amp; economic importance.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5. Aesthetic Values:  </a:t>
            </a:r>
            <a:r>
              <a:rPr lang="en-US" dirty="0" smtClean="0">
                <a:latin typeface="Bookman Old Style" pitchFamily="18" charset="0"/>
              </a:rPr>
              <a:t>Preservation of its inherent value, beauty, aesthetics and creativity for tourist attraction. 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Indian mythology eulogies animals like elephant, snake and cow.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>
                <a:latin typeface="Bookman Old Style" pitchFamily="18" charset="0"/>
              </a:rPr>
              <a:t>No visit to barren land but to enriched biodiversity promote eco- </a:t>
            </a:r>
            <a:r>
              <a:rPr lang="en-US" dirty="0" err="1" smtClean="0">
                <a:latin typeface="Bookman Old Style" pitchFamily="18" charset="0"/>
              </a:rPr>
              <a:t>turism</a:t>
            </a:r>
            <a:r>
              <a:rPr lang="en-US" dirty="0" smtClean="0">
                <a:latin typeface="Bookman Old Style" pitchFamily="18" charset="0"/>
              </a:rPr>
              <a:t> Industry.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Bookman Old Style" pitchFamily="18" charset="0"/>
              </a:rPr>
              <a:t>6. Option Value: </a:t>
            </a:r>
            <a:r>
              <a:rPr lang="en-US" dirty="0" smtClean="0">
                <a:latin typeface="Bookman Old Style" pitchFamily="18" charset="0"/>
              </a:rPr>
              <a:t>Keeping future possibilities open for their use is called the option value. In </a:t>
            </a:r>
            <a:r>
              <a:rPr lang="en-US" dirty="0" smtClean="0">
                <a:solidFill>
                  <a:srgbClr val="FF00FF"/>
                </a:solidFill>
                <a:latin typeface="Bookman Old Style" pitchFamily="18" charset="0"/>
              </a:rPr>
              <a:t>nature many thing yet to explore, plant , microorganism.</a:t>
            </a:r>
          </a:p>
          <a:p>
            <a:pPr marL="285750" indent="-28575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>
                <a:latin typeface="Bookman Old Style" pitchFamily="18" charset="0"/>
              </a:rPr>
              <a:t>The preservation of biodiversity must also include traditionally used strains already in existence in crops and domestic animals.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38400" y="0"/>
            <a:ext cx="53908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Values of Biodiversity</a:t>
            </a:r>
          </a:p>
        </p:txBody>
      </p:sp>
    </p:spTree>
    <p:extLst>
      <p:ext uri="{BB962C8B-B14F-4D97-AF65-F5344CB8AC3E}">
        <p14:creationId xmlns:p14="http://schemas.microsoft.com/office/powerpoint/2010/main" val="320036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FF"/>
                </a:solidFill>
              </a:rPr>
              <a:t>Indian Biodiversity</a:t>
            </a:r>
            <a:endParaRPr lang="en-US" dirty="0">
              <a:solidFill>
                <a:srgbClr val="FF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438912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 smtClean="0"/>
              <a:t>India has a rich biological diversity of flora and fauna.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Overall  6% of the global species are found in India.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India ranks </a:t>
            </a:r>
            <a:r>
              <a:rPr lang="en-US" sz="2000" dirty="0" smtClean="0">
                <a:solidFill>
                  <a:srgbClr val="FF00FF"/>
                </a:solidFill>
              </a:rPr>
              <a:t>10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among the plant rich countries </a:t>
            </a:r>
            <a:r>
              <a:rPr lang="en-US" sz="2000" dirty="0" smtClean="0"/>
              <a:t>of the world,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FF"/>
                </a:solidFill>
              </a:rPr>
              <a:t>11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in terms of number of endemic species </a:t>
            </a:r>
            <a:r>
              <a:rPr lang="en-US" sz="2000" dirty="0" smtClean="0"/>
              <a:t>of higher vertebrates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FF"/>
                </a:solidFill>
              </a:rPr>
              <a:t>6</a:t>
            </a:r>
            <a:r>
              <a:rPr lang="en-US" sz="2000" baseline="30000" dirty="0" smtClean="0">
                <a:solidFill>
                  <a:srgbClr val="FF00FF"/>
                </a:solidFill>
              </a:rPr>
              <a:t>th</a:t>
            </a:r>
            <a:r>
              <a:rPr lang="en-US" sz="2000" dirty="0" smtClean="0">
                <a:solidFill>
                  <a:srgbClr val="FF00FF"/>
                </a:solidFill>
              </a:rPr>
              <a:t> among the centers of diversity and origin of agricultural crops.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The total number of living species identified in our country is 150,000.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Out of a total of 25 biodiversity hot-spots in the world, India possesses 02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) Eastern Himalayas (North east </a:t>
            </a:r>
            <a:r>
              <a:rPr lang="en-US" sz="2000" dirty="0" err="1" smtClean="0"/>
              <a:t>Sikim</a:t>
            </a:r>
            <a:r>
              <a:rPr lang="en-US" sz="2000" dirty="0" smtClean="0"/>
              <a:t> Region)  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/>
              <a:t>Ii) western </a:t>
            </a:r>
            <a:r>
              <a:rPr lang="en-US" sz="2000" dirty="0" err="1" smtClean="0"/>
              <a:t>ghats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FF00FF"/>
                </a:solidFill>
              </a:rPr>
              <a:t>INDIA AS A MEGA-DIVERSITY NATION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839200" cy="4389120"/>
          </a:xfrm>
        </p:spPr>
        <p:txBody>
          <a:bodyPr/>
          <a:lstStyle/>
          <a:p>
            <a:r>
              <a:rPr lang="en-US" dirty="0" smtClean="0"/>
              <a:t>India is one of the 12 mega-diversity countries in the world. </a:t>
            </a:r>
          </a:p>
          <a:p>
            <a:r>
              <a:rPr lang="en-US" dirty="0" smtClean="0"/>
              <a:t>The Ministry of Environment and Forests, Govt. of India (2000) records</a:t>
            </a:r>
          </a:p>
          <a:p>
            <a:r>
              <a:rPr lang="en-US" dirty="0" smtClean="0"/>
              <a:t> 47,000 species of plants  (7% of world )and 4</a:t>
            </a:r>
            <a:r>
              <a:rPr lang="en-US" baseline="30000" dirty="0" smtClean="0"/>
              <a:t>th</a:t>
            </a:r>
            <a:r>
              <a:rPr lang="en-US" dirty="0" smtClean="0"/>
              <a:t> in Asia </a:t>
            </a:r>
          </a:p>
          <a:p>
            <a:r>
              <a:rPr lang="en-US" dirty="0" smtClean="0"/>
              <a:t>81,000 species of animals (6.5% of world ).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906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Endemism: </a:t>
            </a:r>
            <a:r>
              <a:rPr lang="en-US" sz="2000" dirty="0" smtClean="0"/>
              <a:t>Species which are restricted only to a particular area are known as endemic.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352800"/>
            <a:ext cx="6858000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350 mammal species – 8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1200 bird species – 8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453 reptile species -5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dirty="0" smtClean="0">
                <a:latin typeface="Bookman Old Style" pitchFamily="18" charset="0"/>
              </a:rPr>
              <a:t>	45,000 plant species – 15</a:t>
            </a:r>
            <a:r>
              <a:rPr lang="en-US" baseline="30000" dirty="0" smtClean="0">
                <a:latin typeface="Bookman Old Style" pitchFamily="18" charset="0"/>
              </a:rPr>
              <a:t>th</a:t>
            </a:r>
            <a:r>
              <a:rPr lang="en-US" dirty="0" smtClean="0">
                <a:latin typeface="Bookman Old Style" pitchFamily="18" charset="0"/>
              </a:rPr>
              <a:t> in the world</a:t>
            </a:r>
            <a:endParaRPr lang="en-US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762000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18% Indian plants are endemic to the country and found nowhere in the world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62% amphibians are endemic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50% of the lizards are endemic 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Gene banks have collected	- 34,000 cereals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- 22,000 pulses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- 27 breeds of cattle 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- 40 breeds of sheep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- 22 breeds of goat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smtClean="0">
                <a:latin typeface="Bookman Old Style" pitchFamily="18" charset="0"/>
              </a:rPr>
              <a:t>			- 8 breeds of buffalos</a:t>
            </a:r>
          </a:p>
          <a:p>
            <a:pPr algn="just">
              <a:spcBef>
                <a:spcPts val="600"/>
              </a:spcBef>
              <a:buClr>
                <a:srgbClr val="FF0000"/>
              </a:buClr>
            </a:pPr>
            <a:r>
              <a:rPr lang="en-US" sz="2000" dirty="0" smtClean="0">
                <a:latin typeface="Bookman Old Style" pitchFamily="18" charset="0"/>
              </a:rPr>
              <a:t>Many of these are dying out due to misguided adoption of all foreign things.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</a:pPr>
            <a:endParaRPr lang="en-US" sz="2000" dirty="0">
              <a:latin typeface="Bookman Old Style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52400"/>
            <a:ext cx="8563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</a:rPr>
              <a:t>INDIA AS A MEGA-DIVERSITY NATION</a:t>
            </a:r>
            <a:endParaRPr lang="en-US" sz="3600" dirty="0">
              <a:solidFill>
                <a:srgbClr val="FF00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5943600"/>
            <a:ext cx="929640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Bookman Old Style" pitchFamily="18" charset="0"/>
              </a:rPr>
              <a:t>MOEF is the nodal agency for implementation of CBD in India.</a:t>
            </a:r>
          </a:p>
          <a:p>
            <a:pPr marL="285750" indent="-285750" algn="just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Bookman Old Style" pitchFamily="18" charset="0"/>
              </a:rPr>
              <a:t>National Biodiversity Action Plan (NBAP) was formulated in 2007</a:t>
            </a:r>
          </a:p>
        </p:txBody>
      </p:sp>
    </p:spTree>
    <p:extLst>
      <p:ext uri="{BB962C8B-B14F-4D97-AF65-F5344CB8AC3E}">
        <p14:creationId xmlns:p14="http://schemas.microsoft.com/office/powerpoint/2010/main" val="246175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INDIA AS A MEGA-DIVERSITY NATION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4958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Center of origin:</a:t>
            </a:r>
            <a:r>
              <a:rPr lang="en-US" sz="2400" dirty="0" smtClean="0"/>
              <a:t>. Nearly 5000 species of flowering plants had their origin in India. </a:t>
            </a:r>
          </a:p>
          <a:p>
            <a:r>
              <a:rPr lang="en-US" sz="2400" dirty="0" smtClean="0"/>
              <a:t>center of origin of 166 species of crop plants and 320 species of wild relatives of cultivated crops, </a:t>
            </a:r>
          </a:p>
          <a:p>
            <a:r>
              <a:rPr lang="en-US" sz="2400" b="1" dirty="0" smtClean="0"/>
              <a:t>Marine diversity: </a:t>
            </a:r>
            <a:r>
              <a:rPr lang="en-US" sz="2400" dirty="0" smtClean="0">
                <a:solidFill>
                  <a:srgbClr val="FF00FF"/>
                </a:solidFill>
              </a:rPr>
              <a:t>Along 7500 km long coastline</a:t>
            </a:r>
          </a:p>
          <a:p>
            <a:r>
              <a:rPr lang="en-US" sz="2400" dirty="0" smtClean="0"/>
              <a:t>More than </a:t>
            </a:r>
            <a:r>
              <a:rPr lang="en-US" sz="2400" dirty="0" smtClean="0">
                <a:solidFill>
                  <a:srgbClr val="FF00FF"/>
                </a:solidFill>
              </a:rPr>
              <a:t>340 species of corals</a:t>
            </a:r>
            <a:r>
              <a:rPr lang="en-US" sz="2400" dirty="0" smtClean="0"/>
              <a:t>. rich in mollusks, crustaceans (crabs etc.),</a:t>
            </a:r>
          </a:p>
          <a:p>
            <a:r>
              <a:rPr lang="en-US" sz="2400" dirty="0" smtClean="0"/>
              <a:t>Several species of Mangrove plants and sea grasses (Marine algae).</a:t>
            </a:r>
          </a:p>
          <a:p>
            <a:r>
              <a:rPr lang="en-US" sz="2400" dirty="0" smtClean="0">
                <a:solidFill>
                  <a:srgbClr val="FF00FF"/>
                </a:solidFill>
              </a:rPr>
              <a:t>93 major wet lands</a:t>
            </a:r>
            <a:r>
              <a:rPr lang="en-US" sz="2400" dirty="0" smtClean="0"/>
              <a:t>, coral reefs and mangroves need to be studied</a:t>
            </a:r>
          </a:p>
          <a:p>
            <a:pPr algn="just"/>
            <a:r>
              <a:rPr lang="en-US" sz="2400" dirty="0" smtClean="0">
                <a:solidFill>
                  <a:srgbClr val="FF00FF"/>
                </a:solidFill>
              </a:rPr>
              <a:t>Indian forests cover 64.01 million hectares </a:t>
            </a:r>
            <a:r>
              <a:rPr lang="en-US" sz="2400" dirty="0" smtClean="0"/>
              <a:t>having a rich biodiversity of plants in the Trans-Himalayan, north-west, west, central and eastern Himalayan forests, western </a:t>
            </a:r>
            <a:r>
              <a:rPr lang="en-US" sz="2400" dirty="0" err="1" smtClean="0"/>
              <a:t>ghats</a:t>
            </a:r>
            <a:r>
              <a:rPr lang="en-US" sz="2400" dirty="0" smtClean="0"/>
              <a:t>, coasts, deserts, </a:t>
            </a:r>
            <a:r>
              <a:rPr lang="en-US" sz="2400" dirty="0" err="1" smtClean="0"/>
              <a:t>Gangetic</a:t>
            </a:r>
            <a:r>
              <a:rPr lang="en-US" sz="2400" dirty="0" smtClean="0"/>
              <a:t> plains, </a:t>
            </a:r>
            <a:r>
              <a:rPr lang="en-US" sz="2400" dirty="0" err="1" smtClean="0"/>
              <a:t>deccan</a:t>
            </a:r>
            <a:r>
              <a:rPr lang="en-US" sz="2400" dirty="0" smtClean="0"/>
              <a:t> plateau and the Andaman, Nicobar and Lakshadweep islands.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571500"/>
            <a:ext cx="81534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HOT SPOTS OF BIODIVERSITY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438912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000" dirty="0" smtClean="0"/>
              <a:t>Areas which exhibit high species richness &amp;  high species endemism are termed as hot spots of biodiversity.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25 hot spots in world and 2 in India 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Eastern Himalayas, &amp; Western Ghats</a:t>
            </a:r>
          </a:p>
          <a:p>
            <a:pPr>
              <a:lnSpc>
                <a:spcPct val="170000"/>
              </a:lnSpc>
            </a:pPr>
            <a:r>
              <a:rPr lang="en-US" sz="2000" dirty="0" smtClean="0"/>
              <a:t>. </a:t>
            </a:r>
          </a:p>
          <a:p>
            <a:pPr>
              <a:lnSpc>
                <a:spcPct val="170000"/>
              </a:lnSpc>
              <a:buNone/>
            </a:pPr>
            <a:endParaRPr lang="en-US" sz="2000" dirty="0" smtClean="0"/>
          </a:p>
          <a:p>
            <a:pPr>
              <a:lnSpc>
                <a:spcPct val="170000"/>
              </a:lnSpc>
              <a:buNone/>
            </a:pPr>
            <a:endParaRPr lang="en-US" sz="2000" dirty="0" smtClean="0"/>
          </a:p>
          <a:p>
            <a:pPr>
              <a:lnSpc>
                <a:spcPct val="170000"/>
              </a:lnSpc>
            </a:pPr>
            <a:r>
              <a:rPr lang="en-US" sz="2000" dirty="0" smtClean="0"/>
              <a:t>About 40% of terrestrial plants and 25% of vertebrate species are endemic and found in these hotspots.</a:t>
            </a:r>
          </a:p>
          <a:p>
            <a:pPr algn="just"/>
            <a:r>
              <a:rPr lang="en-US" sz="2000" b="1" dirty="0" smtClean="0">
                <a:solidFill>
                  <a:srgbClr val="00B050"/>
                </a:solidFill>
              </a:rPr>
              <a:t>Major hot spot in world </a:t>
            </a:r>
            <a:r>
              <a:rPr lang="en-US" sz="2000" dirty="0" err="1" smtClean="0"/>
              <a:t>i</a:t>
            </a:r>
            <a:r>
              <a:rPr lang="en-US" sz="2000" dirty="0" smtClean="0"/>
              <a:t>) Tropical rain forests ii)Western Amazon, iii) Madagascar, iv)North and East Borneo, v) North Eastern Australia,</a:t>
            </a:r>
          </a:p>
          <a:p>
            <a:pPr algn="just">
              <a:buNone/>
            </a:pPr>
            <a:r>
              <a:rPr lang="en-US" sz="2000" dirty="0" smtClean="0"/>
              <a:t>     vi) West Africa vii) Brazilian Atlantic forests.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4419600" y="990600"/>
            <a:ext cx="4724400" cy="2977100"/>
            <a:chOff x="4876800" y="375700"/>
            <a:chExt cx="4267200" cy="2443700"/>
          </a:xfrm>
        </p:grpSpPr>
        <p:pic>
          <p:nvPicPr>
            <p:cNvPr id="5" name="Picture 2" descr="C:\Users\NARESH\Desktop\Environmental study part 2 AKV\BIODIVERSITY PPT\ppt-of-biodiversity-9-1024.jpg"/>
            <p:cNvPicPr>
              <a:picLocks noChangeAspect="1" noChangeArrowheads="1"/>
            </p:cNvPicPr>
            <p:nvPr/>
          </p:nvPicPr>
          <p:blipFill>
            <a:blip r:embed="rId2"/>
            <a:srcRect l="48047" t="54688" r="1172" b="1563"/>
            <a:stretch>
              <a:fillRect/>
            </a:stretch>
          </p:blipFill>
          <p:spPr bwMode="auto">
            <a:xfrm>
              <a:off x="4876800" y="375700"/>
              <a:ext cx="4267200" cy="2443700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4953000" y="2438400"/>
              <a:ext cx="4191000" cy="369332"/>
            </a:xfrm>
            <a:prstGeom prst="rect">
              <a:avLst/>
            </a:prstGeom>
            <a:solidFill>
              <a:srgbClr val="CC33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Centre of Global biodiversity  (Red )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57200" y="2658070"/>
            <a:ext cx="36576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Hotspots covering less than 2% of the worlds land area contain 50% of the terrestrial biodiversity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5715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FF"/>
                </a:solidFill>
              </a:rPr>
              <a:t>HOT SOPT BIODIVERSITY IN INDIA</a:t>
            </a:r>
            <a:endParaRPr lang="en-US" sz="4000" dirty="0">
              <a:solidFill>
                <a:srgbClr val="FF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105400"/>
          </a:xfrm>
        </p:spPr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1. Indo-Burma region (covering Sikkim Eastern Himalayas)</a:t>
            </a:r>
          </a:p>
          <a:p>
            <a:r>
              <a:rPr lang="en-US" dirty="0" smtClean="0"/>
              <a:t>Sikkim rich in endemic plant species. Area of 7298 Km</a:t>
            </a:r>
            <a:r>
              <a:rPr lang="en-US" baseline="30000" dirty="0" smtClean="0"/>
              <a:t>2</a:t>
            </a:r>
            <a:r>
              <a:rPr lang="en-US" dirty="0" smtClean="0"/>
              <a:t> of about 4250 plant species are found of which 60% are endemic. </a:t>
            </a:r>
          </a:p>
          <a:p>
            <a:r>
              <a:rPr lang="en-US" dirty="0" err="1" smtClean="0">
                <a:solidFill>
                  <a:srgbClr val="00B0F0"/>
                </a:solidFill>
              </a:rPr>
              <a:t>Sapria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F0"/>
                </a:solidFill>
              </a:rPr>
              <a:t>himalayana</a:t>
            </a:r>
            <a:r>
              <a:rPr lang="en-US" dirty="0" smtClean="0"/>
              <a:t>, </a:t>
            </a:r>
            <a:r>
              <a:rPr lang="en-US" dirty="0" err="1" smtClean="0"/>
              <a:t>aparasitic</a:t>
            </a:r>
            <a:r>
              <a:rPr lang="en-US" dirty="0" smtClean="0"/>
              <a:t> angiosperm was sighted only twice in this region in the last 70 years.</a:t>
            </a:r>
          </a:p>
          <a:p>
            <a:r>
              <a:rPr lang="en-US" dirty="0" smtClean="0">
                <a:solidFill>
                  <a:srgbClr val="9933FF"/>
                </a:solidFill>
              </a:rPr>
              <a:t>Cradle of flowering </a:t>
            </a:r>
            <a:r>
              <a:rPr lang="en-US" dirty="0" smtClean="0"/>
              <a:t>plants. </a:t>
            </a:r>
          </a:p>
          <a:p>
            <a:r>
              <a:rPr lang="en-US" dirty="0" smtClean="0"/>
              <a:t>Out of the world's recorded flora 30% are endemic to India of which 35,000 are in the Himalayas.</a:t>
            </a:r>
            <a:endParaRPr lang="en-US" dirty="0"/>
          </a:p>
        </p:txBody>
      </p:sp>
      <p:pic>
        <p:nvPicPr>
          <p:cNvPr id="4" name="Picture 2" descr="C:\Users\NARESH\Desktop\Environmental study part 2 AKV\BIODIVERSITY PPT\presentation-of-biodiversity-30-638.jpg"/>
          <p:cNvPicPr>
            <a:picLocks noChangeAspect="1" noChangeArrowheads="1"/>
          </p:cNvPicPr>
          <p:nvPr/>
        </p:nvPicPr>
        <p:blipFill>
          <a:blip r:embed="rId2"/>
          <a:srcRect l="9404" t="22547" r="9404" b="47599"/>
          <a:stretch>
            <a:fillRect/>
          </a:stretch>
        </p:blipFill>
        <p:spPr bwMode="auto">
          <a:xfrm>
            <a:off x="0" y="4610100"/>
            <a:ext cx="8991600" cy="2247900"/>
          </a:xfrm>
          <a:prstGeom prst="rect">
            <a:avLst/>
          </a:prstGeom>
          <a:noFill/>
        </p:spPr>
      </p:pic>
      <p:pic>
        <p:nvPicPr>
          <p:cNvPr id="3073" name="Picture 1" descr="C:\Users\NARESH\Desktop\330px-Sapria_(34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2819400"/>
            <a:ext cx="1473712" cy="1108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38912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(2) </a:t>
            </a:r>
            <a:r>
              <a:rPr lang="en-US" sz="2400" dirty="0" smtClean="0">
                <a:solidFill>
                  <a:srgbClr val="00B050"/>
                </a:solidFill>
              </a:rPr>
              <a:t>Western Ghats</a:t>
            </a:r>
            <a:r>
              <a:rPr lang="en-US" sz="2400" dirty="0" smtClean="0">
                <a:solidFill>
                  <a:srgbClr val="FF00FF"/>
                </a:solidFill>
              </a:rPr>
              <a:t>: </a:t>
            </a:r>
            <a:r>
              <a:rPr lang="en-US" sz="2400" dirty="0" smtClean="0"/>
              <a:t>It extends along a 17,000 Km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strip of forests in Maharashtra, Karnataka, TN &amp; Kerala </a:t>
            </a:r>
          </a:p>
          <a:p>
            <a:r>
              <a:rPr lang="en-US" sz="2400" dirty="0" smtClean="0"/>
              <a:t>40% of the total endemic plant species.</a:t>
            </a:r>
          </a:p>
          <a:p>
            <a:r>
              <a:rPr lang="en-US" sz="2400" dirty="0" smtClean="0"/>
              <a:t> 62% amphibians and 50% lizards are endemic</a:t>
            </a:r>
          </a:p>
          <a:p>
            <a:r>
              <a:rPr lang="en-US" sz="2400" dirty="0" smtClean="0"/>
              <a:t>500 m elevation covering 20% of evergreen forest while those in 500-1500 m range are </a:t>
            </a:r>
            <a:r>
              <a:rPr lang="en-US" sz="2400" dirty="0" err="1" smtClean="0"/>
              <a:t>semievergreen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Major centers of diversity are </a:t>
            </a:r>
            <a:r>
              <a:rPr lang="en-US" sz="2400" dirty="0" err="1" smtClean="0">
                <a:solidFill>
                  <a:srgbClr val="9933FF"/>
                </a:solidFill>
              </a:rPr>
              <a:t>Agastyamalai</a:t>
            </a:r>
            <a:r>
              <a:rPr lang="en-US" sz="2400" dirty="0" smtClean="0">
                <a:solidFill>
                  <a:srgbClr val="9933FF"/>
                </a:solidFill>
              </a:rPr>
              <a:t> Hills </a:t>
            </a:r>
            <a:r>
              <a:rPr lang="en-US" sz="2400" dirty="0" smtClean="0"/>
              <a:t>and</a:t>
            </a:r>
          </a:p>
          <a:p>
            <a:r>
              <a:rPr lang="en-US" sz="2400" dirty="0" smtClean="0">
                <a:solidFill>
                  <a:srgbClr val="9933FF"/>
                </a:solidFill>
              </a:rPr>
              <a:t>Silent Valley</a:t>
            </a:r>
            <a:r>
              <a:rPr lang="en-US" sz="2400" dirty="0" smtClean="0"/>
              <a:t>. the New </a:t>
            </a:r>
            <a:r>
              <a:rPr lang="en-US" sz="2400" dirty="0" err="1" smtClean="0"/>
              <a:t>Amambalam</a:t>
            </a:r>
            <a:r>
              <a:rPr lang="en-US" sz="2400" dirty="0" smtClean="0"/>
              <a:t> Reserve Basin</a:t>
            </a:r>
          </a:p>
          <a:p>
            <a:endParaRPr lang="en-US" dirty="0"/>
          </a:p>
        </p:txBody>
      </p:sp>
      <p:pic>
        <p:nvPicPr>
          <p:cNvPr id="4" name="Picture 2" descr="C:\Users\NARESH\Desktop\Environmental study part 2 AKV\BIODIVERSITY PPT\presentation-of-biodiversity-29-638.jpg"/>
          <p:cNvPicPr>
            <a:picLocks noChangeAspect="1" noChangeArrowheads="1"/>
          </p:cNvPicPr>
          <p:nvPr/>
        </p:nvPicPr>
        <p:blipFill>
          <a:blip r:embed="rId2"/>
          <a:srcRect l="3762" t="25052" r="61129" b="7516"/>
          <a:stretch>
            <a:fillRect/>
          </a:stretch>
        </p:blipFill>
        <p:spPr bwMode="auto">
          <a:xfrm>
            <a:off x="7315200" y="0"/>
            <a:ext cx="1828800" cy="263705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04800" y="60198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However, only 6.8% of the original forests are existing today while</a:t>
            </a:r>
          </a:p>
          <a:p>
            <a:r>
              <a:rPr lang="en-US" dirty="0" smtClean="0"/>
              <a:t> the rest has been deforested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4876800"/>
            <a:ext cx="7086600" cy="107721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US" sz="2400" b="1" dirty="0" smtClean="0"/>
              <a:t>Endemic plant and animals in western </a:t>
            </a:r>
            <a:r>
              <a:rPr lang="en-US" sz="2400" b="1" dirty="0" err="1" smtClean="0"/>
              <a:t>ghat</a:t>
            </a:r>
            <a:r>
              <a:rPr lang="en-US" sz="2400" b="1" dirty="0" smtClean="0"/>
              <a:t>: </a:t>
            </a:r>
          </a:p>
          <a:p>
            <a:r>
              <a:rPr lang="en-US" b="1" dirty="0" smtClean="0"/>
              <a:t> </a:t>
            </a:r>
            <a:r>
              <a:rPr lang="en-US" sz="2000" dirty="0" err="1" smtClean="0"/>
              <a:t>Ternstroemia</a:t>
            </a:r>
            <a:r>
              <a:rPr lang="en-US" sz="2000" dirty="0" smtClean="0"/>
              <a:t> japonica, Rhododendron and </a:t>
            </a:r>
            <a:r>
              <a:rPr lang="en-US" sz="2000" dirty="0" err="1" smtClean="0"/>
              <a:t>Hypericum</a:t>
            </a:r>
            <a:endParaRPr lang="en-US" sz="2000" dirty="0" smtClean="0"/>
          </a:p>
          <a:p>
            <a:r>
              <a:rPr lang="en-US" sz="2000" dirty="0" smtClean="0"/>
              <a:t> Fairy blue bird, lizard hawk </a:t>
            </a:r>
            <a:r>
              <a:rPr lang="en-US" dirty="0" smtClean="0"/>
              <a:t>etc.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304800"/>
            <a:ext cx="69799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FF"/>
                </a:solidFill>
              </a:rPr>
              <a:t>HOT SOPT BIODIVERSITY IN INDIA</a:t>
            </a:r>
            <a:endParaRPr lang="en-US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7391400" y="3810000"/>
            <a:ext cx="1684051" cy="1419999"/>
            <a:chOff x="7391400" y="3810000"/>
            <a:chExt cx="1684051" cy="1419999"/>
          </a:xfrm>
        </p:grpSpPr>
        <p:pic>
          <p:nvPicPr>
            <p:cNvPr id="2049" name="Picture 1" descr="C:\Users\NARESH\Desktop\download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91400" y="3810000"/>
              <a:ext cx="1524000" cy="1143000"/>
            </a:xfrm>
            <a:prstGeom prst="rect">
              <a:avLst/>
            </a:prstGeom>
            <a:noFill/>
          </p:spPr>
        </p:pic>
        <p:sp>
          <p:nvSpPr>
            <p:cNvPr id="9" name="Rectangle 8"/>
            <p:cNvSpPr/>
            <p:nvPr/>
          </p:nvSpPr>
          <p:spPr>
            <a:xfrm>
              <a:off x="7391400" y="4953000"/>
              <a:ext cx="168405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err="1" smtClean="0">
                  <a:solidFill>
                    <a:srgbClr val="9933FF"/>
                  </a:solidFill>
                </a:rPr>
                <a:t>Ternstroemia</a:t>
              </a:r>
              <a:r>
                <a:rPr lang="en-US" sz="1200" dirty="0" smtClean="0">
                  <a:solidFill>
                    <a:srgbClr val="9933FF"/>
                  </a:solidFill>
                </a:rPr>
                <a:t> japonica</a:t>
              </a:r>
              <a:endParaRPr lang="en-US" sz="1200" dirty="0">
                <a:solidFill>
                  <a:srgbClr val="9933FF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15200" y="5181600"/>
            <a:ext cx="1710725" cy="1676400"/>
            <a:chOff x="7315200" y="5181600"/>
            <a:chExt cx="1710725" cy="1676400"/>
          </a:xfrm>
        </p:grpSpPr>
        <p:pic>
          <p:nvPicPr>
            <p:cNvPr id="2050" name="Picture 2" descr="C:\Users\NARESH\Desktop\Fairy_bluebird_female.jpg"/>
            <p:cNvPicPr>
              <a:picLocks noChangeAspect="1" noChangeArrowheads="1"/>
            </p:cNvPicPr>
            <p:nvPr/>
          </p:nvPicPr>
          <p:blipFill>
            <a:blip r:embed="rId4"/>
            <a:srcRect l="15273" t="22718" r="19636" b="34951"/>
            <a:stretch>
              <a:fillRect/>
            </a:stretch>
          </p:blipFill>
          <p:spPr bwMode="auto">
            <a:xfrm>
              <a:off x="7391400" y="5181600"/>
              <a:ext cx="1595522" cy="1295400"/>
            </a:xfrm>
            <a:prstGeom prst="rect">
              <a:avLst/>
            </a:prstGeom>
            <a:noFill/>
          </p:spPr>
        </p:pic>
        <p:sp>
          <p:nvSpPr>
            <p:cNvPr id="11" name="Rectangle 10"/>
            <p:cNvSpPr/>
            <p:nvPr/>
          </p:nvSpPr>
          <p:spPr>
            <a:xfrm>
              <a:off x="7315200" y="6488668"/>
              <a:ext cx="17107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 Fairy blue bird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6780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endParaRPr lang="en-US" sz="4800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Yu Gothic UI Semibold" panose="020B0700000000000000" charset="-128"/>
              <a:ea typeface="Yu Gothic UI Semibold" panose="020B0700000000000000" charset="-128"/>
            </a:endParaRPr>
          </a:p>
          <a:p>
            <a:pPr marL="0" indent="0" algn="ctr">
              <a:buNone/>
            </a:pPr>
            <a:r>
              <a:rPr lang="en-US" sz="8800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Yu Gothic UI Semibold" panose="020B0700000000000000" charset="-128"/>
                <a:ea typeface="Yu Gothic UI Semibold" panose="020B0700000000000000" charset="-128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1349</TotalTime>
  <Words>1334</Words>
  <Application>Microsoft Office PowerPoint</Application>
  <PresentationFormat>On-screen Show (4:3)</PresentationFormat>
  <Paragraphs>180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Indian Biodiversity</vt:lpstr>
      <vt:lpstr>INDIA AS A MEGA-DIVERSITY NATION </vt:lpstr>
      <vt:lpstr>PowerPoint Presentation</vt:lpstr>
      <vt:lpstr>INDIA AS A MEGA-DIVERSITY NATION</vt:lpstr>
      <vt:lpstr>HOT SPOTS OF BIODIVERSITY</vt:lpstr>
      <vt:lpstr>HOT SOPT BIODIVERSITY IN INDIA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II Statistical Thermodynamics II Lecture II Partition Function</dc:title>
  <dc:creator>DELL</dc:creator>
  <cp:lastModifiedBy>user</cp:lastModifiedBy>
  <cp:revision>272</cp:revision>
  <dcterms:created xsi:type="dcterms:W3CDTF">2020-03-25T06:52:00Z</dcterms:created>
  <dcterms:modified xsi:type="dcterms:W3CDTF">2025-08-30T09:17:03Z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
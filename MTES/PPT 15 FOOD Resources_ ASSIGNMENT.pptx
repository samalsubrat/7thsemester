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60" r:id="rId1"/>
  </p:sldMasterIdLst>
  <p:notesMasterIdLst>
    <p:notesMasterId r:id="rId2"/>
  </p:notesMasterIdLst>
  <p:sldIdLst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</p:sldIdLst>
  <p:sldSz type="screen4x3" cy="6858000" cx="9144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CC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tableStyles" Target="tableStyle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3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F977E27B-8CF5-403C-8E59-E0CEFF7E4B6A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1048736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73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3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3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DD0B6DA4-E5C6-42BE-ACA0-F40EC54F50D5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Rectangle 7"/>
          <p:cNvSpPr txBox="1">
            <a:spLocks noGrp="1" noChangeArrowheads="1"/>
          </p:cNvSpPr>
          <p:nvPr/>
        </p:nvSpPr>
        <p:spPr bwMode="auto">
          <a:xfrm>
            <a:off x="3894138" y="9558338"/>
            <a:ext cx="2978150" cy="503237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anchor="b" bIns="48390" lIns="96780" rIns="96780" tIns="48390"/>
          <a:p>
            <a:pPr algn="r" defTabSz="965200" eaLnBrk="1" hangingPunct="1">
              <a:buClr>
                <a:srgbClr val="000000"/>
              </a:buClr>
            </a:pPr>
            <a:fld id="{80858C5B-47FB-42E5-BCA8-25173A393ACE}" type="slidenum">
              <a:rPr altLang="zh-CN" sz="1300" lang="zh-CN">
                <a:latin typeface="Calibri" pitchFamily="34" charset="0"/>
              </a:rPr>
              <a:pPr algn="r" defTabSz="965200" eaLnBrk="1" hangingPunct="1">
                <a:buClr>
                  <a:srgbClr val="000000"/>
                </a:buClr>
              </a:pPr>
              <a:t>2</a:t>
            </a:fld>
            <a:endParaRPr altLang="zh-CN" sz="1300" lang="en-US">
              <a:latin typeface="Calibri" pitchFamily="34" charset="0"/>
            </a:endParaRPr>
          </a:p>
        </p:txBody>
      </p:sp>
      <p:sp>
        <p:nvSpPr>
          <p:cNvPr id="1048645" name="Rectangle 2"/>
          <p:cNvSpPr>
            <a:spLocks noChangeAspect="1" noRot="1" noGrp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4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altLang="en-US" lang="zh-CN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bg>
      <p:bgRef idx="1002">
        <a:schemeClr val="bg2"/>
      </p:bgRef>
    </p:bg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anchor="b" bIns="0" rIns="18288" tIns="0" vert="horz">
            <a:normAutofit/>
            <a:scene3d>
              <a:camera prst="orthographicFront"/>
              <a:lightRig dir="t" rig="freezing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b="1" sz="5600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algn="tl" blurRad="38100" dir="5400000" dist="25400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68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algn="r" indent="0" marL="0" marR="45720">
              <a:buNone/>
              <a:defRPr>
                <a:solidFill>
                  <a:schemeClr val="tx1"/>
                </a:solidFill>
              </a:defRPr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4868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273DCBF-2737-4234-AD5C-52F4CF822A8A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104868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0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93E3B3C-17B0-4AC8-97EE-4BC247842B3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accent1="accent1" accent2="accent2" accent3="accent3" accent4="accent4" accent5="accent5" accent6="accent6" bg1="dk1" bg2="dk2" tx1="lt1" tx2="lt2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58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5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273DCBF-2737-4234-AD5C-52F4CF822A8A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10485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93E3B3C-17B0-4AC8-97EE-4BC247842B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bg>
      <p:bgRef idx="1002">
        <a:schemeClr val="bg2"/>
      </p:bgRef>
    </p:bg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anchor="b" bIns="0" tIns="0" vert="horz">
            <a:noAutofit/>
            <a:scene3d>
              <a:camera prst="orthographicFront"/>
              <a:lightRig dir="t" rig="freezing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baseline="0" b="1" cap="none" dirty="0" sz="5600" lang="en-US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algn="tl" blurRad="38100" dir="5400000" dist="25400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16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anchor="t" lIns="45720" rIns="45720"/>
          <a:lstStyle>
            <a:lvl1pPr indent="0" marL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7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273DCBF-2737-4234-AD5C-52F4CF822A8A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10487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93E3B3C-17B0-4AC8-97EE-4BC247842B3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accent1="accent1" accent2="accent2" accent3="accent3" accent4="accent4" accent5="accent5" accent6="accent6" bg1="dk1" bg2="dk2" tx1="lt1" tx2="lt2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675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676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67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273DCBF-2737-4234-AD5C-52F4CF822A8A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104867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93E3B3C-17B0-4AC8-97EE-4BC247842B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anchor="b" tIns="45720"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2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anchor="ctr" bIns="0" lIns="45720" rIns="45720" tIns="0">
            <a:noAutofit/>
          </a:bodyPr>
          <a:lstStyle>
            <a:lvl1pPr indent="0" marL="0">
              <a:buNone/>
              <a:defRPr baseline="0" b="1" cap="none" sz="2400">
                <a:solidFill>
                  <a:schemeClr val="tx2"/>
                </a:solidFill>
                <a:effectLst/>
              </a:defRPr>
            </a:lvl1pPr>
            <a:lvl2pPr>
              <a:buNone/>
              <a:defRPr b="1" sz="2000"/>
            </a:lvl2pPr>
            <a:lvl3pPr>
              <a:buNone/>
              <a:defRPr b="1" sz="1800"/>
            </a:lvl3pPr>
            <a:lvl4pPr>
              <a:buNone/>
              <a:defRPr b="1" sz="1600"/>
            </a:lvl4pPr>
            <a:lvl5pPr>
              <a:buNone/>
              <a:defRPr b="1" sz="16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722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8" y="1859763"/>
            <a:ext cx="4041775" cy="654843"/>
          </a:xfrm>
        </p:spPr>
        <p:txBody>
          <a:bodyPr anchor="ctr" bIns="0" lIns="45720" rIns="45720" tIns="0"/>
          <a:lstStyle>
            <a:lvl1pPr indent="0" marL="0">
              <a:buNone/>
              <a:defRPr baseline="0" b="1" cap="none" sz="2400">
                <a:solidFill>
                  <a:schemeClr val="tx2"/>
                </a:solidFill>
                <a:effectLst/>
              </a:defRPr>
            </a:lvl1pPr>
            <a:lvl2pPr>
              <a:buNone/>
              <a:defRPr b="1" sz="2000"/>
            </a:lvl2pPr>
            <a:lvl3pPr>
              <a:buNone/>
              <a:defRPr b="1" sz="1800"/>
            </a:lvl3pPr>
            <a:lvl4pPr>
              <a:buNone/>
              <a:defRPr b="1" sz="1600"/>
            </a:lvl4pPr>
            <a:lvl5pPr>
              <a:buNone/>
              <a:defRPr b="1" sz="16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723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724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72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273DCBF-2737-4234-AD5C-52F4CF822A8A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104872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2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93E3B3C-17B0-4AC8-97EE-4BC247842B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anchor="b" bIns="0" tIns="45720" vert="horz">
            <a:normAutofit/>
            <a:scene3d>
              <a:camera prst="orthographicFront"/>
              <a:lightRig dir="t" rig="freezing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b="0" sz="50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69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273DCBF-2737-4234-AD5C-52F4CF822A8A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104869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93E3B3C-17B0-4AC8-97EE-4BC247842B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273DCBF-2737-4234-AD5C-52F4CF822A8A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104859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93E3B3C-17B0-4AC8-97EE-4BC247842B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anchor="b" lIns="0">
            <a:noAutofit/>
          </a:bodyPr>
          <a:lstStyle>
            <a:lvl1pPr algn="l" rtl="0">
              <a:spcBef>
                <a:spcPct val="0"/>
              </a:spcBef>
              <a:buNone/>
              <a:defRPr b="0" sz="26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29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algn="l" indent="0" marL="0">
              <a:buNone/>
              <a:defRPr sz="1400"/>
            </a:lvl1pPr>
            <a:lvl2pPr algn="l" indent="0">
              <a:buNone/>
              <a:defRPr sz="1200"/>
            </a:lvl2pPr>
            <a:lvl3pPr algn="l" indent="0">
              <a:buNone/>
              <a:defRPr sz="1000"/>
            </a:lvl3pPr>
            <a:lvl4pPr algn="l" indent="0">
              <a:buNone/>
              <a:defRPr sz="900"/>
            </a:lvl4pPr>
            <a:lvl5pPr algn="l" indent="0">
              <a:buNone/>
              <a:defRPr sz="9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730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73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273DCBF-2737-4234-AD5C-52F4CF822A8A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104873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3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93E3B3C-17B0-4AC8-97EE-4BC247842B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picTx">
  <p:cSld name="Picture with Caption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algn="tl" blurRad="63500" dir="7500000" dist="38500" kx="100000" rotWithShape="0" sx="98500" sy="10008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eaLnBrk="1" hangingPunct="1" latinLnBrk="0"/>
            <a:endParaRPr kumimoji="0" lang="en-US"/>
          </a:p>
        </p:txBody>
      </p:sp>
      <p:sp>
        <p:nvSpPr>
          <p:cNvPr id="1048701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/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algn="tl" blurRad="19685" dir="12900000" dist="6350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eaLnBrk="1" hangingPunct="1" latinLnBrk="0"/>
            <a:endParaRPr kumimoji="0" lang="en-US"/>
          </a:p>
        </p:txBody>
      </p:sp>
      <p:sp>
        <p:nvSpPr>
          <p:cNvPr id="1048702" name="Title 1"/>
          <p:cNvSpPr>
            <a:spLocks noGrp="1"/>
          </p:cNvSpPr>
          <p:nvPr>
            <p:ph type="title"/>
          </p:nvPr>
        </p:nvSpPr>
        <p:spPr>
          <a:xfrm>
            <a:off x="609600" y="1176999"/>
            <a:ext cx="2212848" cy="1582621"/>
          </a:xfrm>
        </p:spPr>
        <p:txBody>
          <a:bodyPr anchor="b" bIns="45720" lIns="45720" rIns="45720" tIns="45720" vert="horz"/>
          <a:lstStyle>
            <a:lvl1pPr algn="l">
              <a:buNone/>
              <a:defRPr b="1" sz="2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03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anchor="t" bIns="45720" lIns="64008" rIns="45720"/>
          <a:lstStyle>
            <a:lvl1pPr algn="l" indent="0" marL="0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eaLnBrk="1" hangingPunct="1" latinLnBrk="0" lvl="0"/>
            <a:r>
              <a:rPr kumimoji="0" lang="en-US" smtClean="0"/>
              <a:t>Click to edit Master text styles</a:t>
            </a:r>
          </a:p>
        </p:txBody>
      </p:sp>
      <p:sp>
        <p:nvSpPr>
          <p:cNvPr id="104870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273DCBF-2737-4234-AD5C-52F4CF822A8A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104870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0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6"/>
            <a:ext cx="609600" cy="365125"/>
          </a:xfrm>
        </p:spPr>
        <p:txBody>
          <a:bodyPr/>
          <a:p>
            <a:fld id="{E93E3B3C-17B0-4AC8-97EE-4BC247842B3F}" type="slidenum">
              <a:rPr lang="en-US" smtClean="0"/>
              <a:t>‹#›</a:t>
            </a:fld>
            <a:endParaRPr lang="en-US"/>
          </a:p>
        </p:txBody>
      </p:sp>
      <p:sp>
        <p:nvSpPr>
          <p:cNvPr id="1048707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/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indent="0" marL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dirty="0" kumimoji="0" lang="en-US"/>
          </a:p>
        </p:txBody>
      </p:sp>
      <p:sp>
        <p:nvSpPr>
          <p:cNvPr id="1048708" name="Freeform 9"/>
          <p:cNvSpPr/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pPr algn="l" eaLnBrk="1" hangingPunct="1" latinLnBrk="0" marL="0" rtl="0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48709" name="Freeform 10"/>
          <p:cNvSpPr/>
          <p:nvPr/>
        </p:nvSpPr>
        <p:spPr bwMode="auto">
          <a:xfrm flipV="1">
            <a:off x="4381500" y="6219831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pPr algn="l" eaLnBrk="1" hangingPunct="1" latinLnBrk="0" marL="0" rtl="0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71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71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273DCBF-2737-4234-AD5C-52F4CF822A8A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104871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93E3B3C-17B0-4AC8-97EE-4BC247842B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2"/>
            <a:ext cx="2057400" cy="5211763"/>
          </a:xfrm>
        </p:spPr>
        <p:txBody>
          <a:bodyPr vert="eaVert"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69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2"/>
            <a:ext cx="6019800" cy="5211763"/>
          </a:xfrm>
        </p:spPr>
        <p:txBody>
          <a:bodyPr vert="eaVert"/>
          <a:p>
            <a:pPr eaLnBrk="1" hangingPunct="1" latinLnBrk="0" lvl="0"/>
            <a:r>
              <a:rPr lang="en-US" smtClean="0"/>
              <a:t>Click to edit Master text styles</a:t>
            </a:r>
          </a:p>
          <a:p>
            <a:pPr eaLnBrk="1" hangingPunct="1" latinLnBrk="0" lvl="1"/>
            <a:r>
              <a:rPr lang="en-US" smtClean="0"/>
              <a:t>Second level</a:t>
            </a:r>
          </a:p>
          <a:p>
            <a:pPr eaLnBrk="1" hangingPunct="1" latinLnBrk="0" lvl="2"/>
            <a:r>
              <a:rPr lang="en-US" smtClean="0"/>
              <a:t>Third level</a:t>
            </a:r>
          </a:p>
          <a:p>
            <a:pPr eaLnBrk="1" hangingPunct="1" latinLnBrk="0" lvl="3"/>
            <a:r>
              <a:rPr lang="en-US" smtClean="0"/>
              <a:t>Fourth level</a:t>
            </a:r>
          </a:p>
          <a:p>
            <a:pPr eaLnBrk="1" hangingPunct="1" latinLnBrk="0" lvl="4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4869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273DCBF-2737-4234-AD5C-52F4CF822A8A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104869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93E3B3C-17B0-4AC8-97EE-4BC247842B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Freeform 6"/>
          <p:cNvSpPr/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pPr algn="l" eaLnBrk="1" hangingPunct="1" latinLnBrk="0" marL="0" rtl="0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48577" name="Freeform 7"/>
          <p:cNvSpPr/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t" bIns="45720" compatLnSpc="1" lIns="91440" rIns="91440" tIns="45720" vert="horz" wrap="square"/>
          <a:p>
            <a:pPr algn="l" eaLnBrk="1" hangingPunct="1" latinLnBrk="0" marL="0" rtl="0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48578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/>
        </p:spPr>
        <p:txBody>
          <a:bodyPr anchor="b" bIns="0" lIns="0" rIns="0" vert="horz">
            <a:normAutofit/>
          </a:bodyPr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048579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/>
        </p:spPr>
        <p:txBody>
          <a:bodyPr vert="horz">
            <a:normAutofit/>
          </a:bodyPr>
          <a:p>
            <a:pPr eaLnBrk="1" hangingPunct="1" latinLnBrk="0" lvl="0"/>
            <a:r>
              <a:rPr kumimoji="0" lang="en-US" smtClean="0"/>
              <a:t>Click to edit Master text styles</a:t>
            </a:r>
          </a:p>
          <a:p>
            <a:pPr eaLnBrk="1" hangingPunct="1" latinLnBrk="0" lvl="1"/>
            <a:r>
              <a:rPr kumimoji="0" lang="en-US" smtClean="0"/>
              <a:t>Second level</a:t>
            </a:r>
          </a:p>
          <a:p>
            <a:pPr eaLnBrk="1" hangingPunct="1" latinLnBrk="0" lvl="2"/>
            <a:r>
              <a:rPr kumimoji="0" lang="en-US" smtClean="0"/>
              <a:t>Third level</a:t>
            </a:r>
          </a:p>
          <a:p>
            <a:pPr eaLnBrk="1" hangingPunct="1" latinLnBrk="0" lvl="3"/>
            <a:r>
              <a:rPr kumimoji="0" lang="en-US" smtClean="0"/>
              <a:t>Fourth level</a:t>
            </a:r>
          </a:p>
          <a:p>
            <a:pPr eaLnBrk="1" hangingPunct="1" latinLnBrk="0" lvl="4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4858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6"/>
            <a:ext cx="2133600" cy="365125"/>
          </a:xfrm>
          <a:prstGeom prst="rect"/>
        </p:spPr>
        <p:txBody>
          <a:bodyPr anchor="b" bIns="0" lIns="0" rIns="0" tIns="0" vert="horz"/>
          <a:lstStyle>
            <a:lvl1pPr algn="l" eaLnBrk="1" hangingPunct="1" latinLnBrk="0">
              <a:defRPr sz="1200" kumimoji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273DCBF-2737-4234-AD5C-52F4CF822A8A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1048581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6"/>
            <a:ext cx="3352800" cy="365125"/>
          </a:xfrm>
          <a:prstGeom prst="rect"/>
        </p:spPr>
        <p:txBody>
          <a:bodyPr anchor="b" bIns="0" lIns="0" rIns="0" tIns="0" vert="horz"/>
          <a:lstStyle>
            <a:lvl1pPr algn="l" eaLnBrk="1" hangingPunct="1" latinLnBrk="0">
              <a:defRPr sz="1200" kumimoji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2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6"/>
            <a:ext cx="762000" cy="365125"/>
          </a:xfrm>
          <a:prstGeom prst="rect"/>
        </p:spPr>
        <p:txBody>
          <a:bodyPr anchor="b" bIns="0" lIns="0" rIns="0" tIns="0" vert="horz"/>
          <a:lstStyle>
            <a:lvl1pPr algn="r" eaLnBrk="1" hangingPunct="1" latinLnBrk="0">
              <a:defRPr sz="1200" kumimoji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93E3B3C-17B0-4AC8-97EE-4BC247842B3F}" type="slidenum">
              <a:rPr lang="en-US" smtClean="0"/>
              <a:t>‹#›</a:t>
            </a:fld>
            <a:endParaRPr lang="en-US"/>
          </a:p>
        </p:txBody>
      </p:sp>
      <p:grpSp>
        <p:nvGrpSpPr>
          <p:cNvPr id="13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048583" name="Freeform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16000">
                    <a:schemeClr val="accent2">
                      <a:shade val="75000"/>
                      <a:alpha val="56000"/>
                    </a:schemeClr>
                  </a:gs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t" bIns="45720" compatLnSpc="1" lIns="91440" rIns="91440" tIns="45720" vert="horz" wrap="square"/>
            <a:p>
              <a:endParaRPr kumimoji="0" lang="en-US"/>
            </a:p>
          </p:txBody>
        </p:sp>
        <p:sp>
          <p:nvSpPr>
            <p:cNvPr id="1048584" name="Freeform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33000">
                    <a:schemeClr val="accent2">
                      <a:alpha val="56000"/>
                    </a:schemeClr>
                  </a:gs>
                  <a:gs pos="44000">
                    <a:schemeClr val="accent1"/>
                  </a:gs>
                  <a:gs pos="74000">
                    <a:schemeClr val="accent4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t" bIns="45720" compatLnSpc="1" lIns="91440" rIns="91440" tIns="45720" vert="horz" wrap="square"/>
            <a:p>
              <a:endParaRPr kumimoji="0" lang="en-US"/>
            </a:p>
          </p:txBody>
        </p:sp>
      </p:grp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eaLnBrk="1" hangingPunct="1" latinLnBrk="0" rtl="0">
        <a:spcBef>
          <a:spcPct val="0"/>
        </a:spcBef>
        <a:buNone/>
        <a:defRPr b="0" sz="5000" kern="1200" kumimoji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algn="l" eaLnBrk="1" hangingPunct="1" indent="-274320" latinLnBrk="0" marL="274320" rtl="0">
        <a:spcBef>
          <a:spcPct val="20000"/>
        </a:spcBef>
        <a:buClr>
          <a:schemeClr val="accent3"/>
        </a:buClr>
        <a:buSzPct val="95000"/>
        <a:buFont typeface="Wingdings 2"/>
        <a:buChar char=""/>
        <a:defRPr sz="2600" kern="1200" kumimoji="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indent="-246888" latinLnBrk="0" marL="640080" rtl="0">
        <a:spcBef>
          <a:spcPct val="20000"/>
        </a:spcBef>
        <a:buClr>
          <a:schemeClr val="accent1"/>
        </a:buClr>
        <a:buSzPct val="85000"/>
        <a:buFont typeface="Wingdings 2"/>
        <a:buChar char=""/>
        <a:defRPr sz="2400" kern="1200" kumimoji="0">
          <a:solidFill>
            <a:schemeClr val="tx1"/>
          </a:solidFill>
          <a:latin typeface="+mn-lt"/>
          <a:ea typeface="+mn-ea"/>
          <a:cs typeface="+mn-cs"/>
        </a:defRPr>
      </a:lvl2pPr>
      <a:lvl3pPr algn="l" eaLnBrk="1" hangingPunct="1" indent="-246888" latinLnBrk="0" marL="914400" rtl="0">
        <a:spcBef>
          <a:spcPct val="20000"/>
        </a:spcBef>
        <a:buClr>
          <a:schemeClr val="accent2"/>
        </a:buClr>
        <a:buSzPct val="70000"/>
        <a:buFont typeface="Wingdings 2"/>
        <a:buChar char=""/>
        <a:defRPr sz="2100" kern="1200" kumimoji="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indent="-210312" latinLnBrk="0" marL="1188720" rtl="0">
        <a:spcBef>
          <a:spcPct val="20000"/>
        </a:spcBef>
        <a:buClr>
          <a:schemeClr val="accent3"/>
        </a:buClr>
        <a:buSzPct val="65000"/>
        <a:buFont typeface="Wingdings 2"/>
        <a:buChar char=""/>
        <a:defRPr sz="2000" kern="1200" kumimoji="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indent="-210312" latinLnBrk="0" marL="1463040" rtl="0">
        <a:spcBef>
          <a:spcPct val="20000"/>
        </a:spcBef>
        <a:buClr>
          <a:schemeClr val="accent4"/>
        </a:buClr>
        <a:buSzPct val="65000"/>
        <a:buFont typeface="Wingdings 2"/>
        <a:buChar char=""/>
        <a:defRPr sz="2000" kern="1200" kumimoji="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indent="-210312" latinLnBrk="0" marL="1737360" rtl="0">
        <a:spcBef>
          <a:spcPct val="20000"/>
        </a:spcBef>
        <a:buClr>
          <a:schemeClr val="accent5"/>
        </a:buClr>
        <a:buSzPct val="80000"/>
        <a:buFont typeface="Wingdings 2"/>
        <a:buChar char=""/>
        <a:defRPr sz="1800" kern="1200" kumimoji="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indent="-182880" latinLnBrk="0" marL="1920240" rtl="0">
        <a:spcBef>
          <a:spcPct val="20000"/>
        </a:spcBef>
        <a:buClr>
          <a:schemeClr val="accent6"/>
        </a:buClr>
        <a:buSzPct val="80000"/>
        <a:buFont typeface="Wingdings 2"/>
        <a:buChar char=""/>
        <a:defRPr baseline="0" sz="1600" kern="1200" kumimoji="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indent="-182880" latinLnBrk="0" marL="2194560" rtl="0">
        <a:spcBef>
          <a:spcPct val="20000"/>
        </a:spcBef>
        <a:buClr>
          <a:schemeClr val="tx2"/>
        </a:buClr>
        <a:buChar char="•"/>
        <a:defRPr sz="1600" kern="1200" kumimoji="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indent="-182880" latinLnBrk="0" marL="2468880" rtl="0">
        <a:spcBef>
          <a:spcPct val="20000"/>
        </a:spcBef>
        <a:buClr>
          <a:schemeClr val="tx2"/>
        </a:buClr>
        <a:buFontTx/>
        <a:buChar char="•"/>
        <a:defRPr baseline="0" sz="1400" kern="1200" kumimoji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algn="l" eaLnBrk="1" hangingPunct="1" latinLnBrk="0" marL="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latinLnBrk="0" marL="457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2pPr>
      <a:lvl3pPr algn="l" eaLnBrk="1" hangingPunct="1" latinLnBrk="0" marL="914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latinLnBrk="0" marL="1371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latinLnBrk="0" marL="18288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latinLnBrk="0" marL="22860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latinLnBrk="0" marL="2743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latinLnBrk="0" marL="3200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latinLnBrk="0" marL="3657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image" Target="../media/image14.jpeg"/><Relationship Id="rId5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Rectangle 3"/>
          <p:cNvSpPr/>
          <p:nvPr/>
        </p:nvSpPr>
        <p:spPr>
          <a:xfrm>
            <a:off x="228600" y="1905006"/>
            <a:ext cx="8077200" cy="1805940"/>
          </a:xfrm>
          <a:prstGeom prst="rect"/>
        </p:spPr>
        <p:txBody>
          <a:bodyPr wrap="square">
            <a:spAutoFit/>
          </a:bodyPr>
          <a:p>
            <a:pPr algn="ctr"/>
            <a:r>
              <a:rPr b="1" dirty="0" sz="3200" lang="en-US" smtClean="0">
                <a:solidFill>
                  <a:srgbClr val="FF0000"/>
                </a:solidFill>
                <a:latin typeface="Cooper Black" pitchFamily="18" charset="0"/>
              </a:rPr>
              <a:t>Food Resources </a:t>
            </a:r>
          </a:p>
          <a:p>
            <a:pPr algn="ctr"/>
            <a:r>
              <a:rPr b="1" dirty="0" sz="3200" lang="en-US" smtClean="0"/>
              <a:t>Unit 2 </a:t>
            </a:r>
            <a:endParaRPr dirty="0" sz="3200" lang="en-US"/>
          </a:p>
          <a:p>
            <a:r>
              <a:rPr dirty="0" sz="3200" lang="en-US"/>
              <a:t> </a:t>
            </a:r>
            <a:r>
              <a:rPr dirty="0" sz="3200" lang="en-US" smtClean="0"/>
              <a:t>                     </a:t>
            </a:r>
            <a:r>
              <a:rPr b="1" dirty="0" sz="3200" lang="en-US" smtClean="0"/>
              <a:t>Natural </a:t>
            </a:r>
            <a:r>
              <a:rPr b="1" dirty="0" sz="3200" lang="en-US"/>
              <a:t>Resources 	</a:t>
            </a:r>
          </a:p>
          <a:p>
            <a:pPr algn="ctr"/>
            <a:r>
              <a:rPr dirty="0" lang="en-US"/>
              <a:t>	</a:t>
            </a:r>
          </a:p>
        </p:txBody>
      </p:sp>
      <p:sp>
        <p:nvSpPr>
          <p:cNvPr id="1048591" name="Rectangle 4"/>
          <p:cNvSpPr/>
          <p:nvPr/>
        </p:nvSpPr>
        <p:spPr>
          <a:xfrm>
            <a:off x="152400" y="5257806"/>
            <a:ext cx="4572000" cy="624840"/>
          </a:xfrm>
          <a:prstGeom prst="rect"/>
        </p:spPr>
        <p:txBody>
          <a:bodyPr>
            <a:spAutoFit/>
          </a:bodyPr>
          <a:p>
            <a:pPr algn="just"/>
            <a:r>
              <a:rPr altLang="en-US" b="1" dirty="0" lang="en-US" smtClean="0">
                <a:latin typeface="Comic Sans MS" pitchFamily="66" charset="0"/>
              </a:rPr>
              <a:t>Department</a:t>
            </a:r>
            <a:r>
              <a:rPr altLang="en-US" b="1" dirty="0" lang="en-US" smtClean="0">
                <a:latin typeface="Comic Sans MS" pitchFamily="66" charset="0"/>
              </a:rPr>
              <a:t>: Chemistry</a:t>
            </a:r>
          </a:p>
          <a:p>
            <a:pPr algn="just"/>
            <a:r>
              <a:rPr altLang="en-US" b="1" dirty="0" lang="en-US" smtClean="0">
                <a:latin typeface="Comic Sans MS" pitchFamily="66" charset="0"/>
              </a:rPr>
              <a:t>Subject: Environmental Studies (</a:t>
            </a:r>
            <a:r>
              <a:rPr altLang="en-US" b="1" dirty="0" lang="en-US" smtClean="0">
                <a:latin typeface="Comic Sans MS" pitchFamily="66" charset="0"/>
              </a:rPr>
              <a:t>CHM2041)</a:t>
            </a:r>
            <a:endParaRPr altLang="en-US" b="1" dirty="0" lang="en-US" smtClean="0">
              <a:latin typeface="Comic Sans MS" pitchFamily="66" charset="0"/>
            </a:endParaRPr>
          </a:p>
        </p:txBody>
      </p:sp>
      <p:pic>
        <p:nvPicPr>
          <p:cNvPr id="2097152" name="image1.pn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6858002" y="76201"/>
            <a:ext cx="2286001" cy="2133600"/>
          </a:xfrm>
          <a:prstGeom prst="rect"/>
          <a:noFill/>
          <a:ln w="9525">
            <a:noFill/>
            <a:miter lim="800000"/>
            <a:headEnd/>
            <a:tailEnd/>
          </a:ln>
        </p:spPr>
      </p:pic>
      <p:sp>
        <p:nvSpPr>
          <p:cNvPr id="1048592" name="Rectangle 7"/>
          <p:cNvSpPr/>
          <p:nvPr/>
        </p:nvSpPr>
        <p:spPr>
          <a:xfrm>
            <a:off x="381000" y="762002"/>
            <a:ext cx="6019800" cy="2185214"/>
          </a:xfrm>
          <a:prstGeom prst="rect"/>
        </p:spPr>
        <p:txBody>
          <a:bodyPr wrap="square">
            <a:spAutoFit/>
          </a:bodyPr>
          <a:p>
            <a:pPr algn="ctr"/>
            <a:r>
              <a:rPr b="1" sz="2800" lang="en-US" smtClean="0">
                <a:solidFill>
                  <a:srgbClr val="D32BE5"/>
                </a:solidFill>
              </a:rPr>
              <a:t>(Introduction </a:t>
            </a:r>
            <a:r>
              <a:rPr b="1" dirty="0" sz="2800" lang="en-US">
                <a:solidFill>
                  <a:srgbClr val="D32BE5"/>
                </a:solidFill>
              </a:rPr>
              <a:t>to Environmental </a:t>
            </a:r>
            <a:r>
              <a:rPr b="1" sz="2800" lang="en-US">
                <a:solidFill>
                  <a:srgbClr val="D32BE5"/>
                </a:solidFill>
              </a:rPr>
              <a:t>Studies</a:t>
            </a:r>
            <a:r>
              <a:rPr b="1" sz="2800" lang="en-US" smtClean="0">
                <a:solidFill>
                  <a:srgbClr val="D32BE5"/>
                </a:solidFill>
              </a:rPr>
              <a:t>)</a:t>
            </a:r>
          </a:p>
          <a:p>
            <a:pPr algn="ctr"/>
            <a:r>
              <a:rPr b="1" sz="2800" lang="en-US" smtClean="0">
                <a:solidFill>
                  <a:srgbClr val="D32BE5"/>
                </a:solidFill>
              </a:rPr>
              <a:t> </a:t>
            </a:r>
            <a:r>
              <a:rPr b="1" dirty="0" sz="2800" lang="en-US">
                <a:solidFill>
                  <a:srgbClr val="D32BE5"/>
                </a:solidFill>
              </a:rPr>
              <a:t>B. Tech  3</a:t>
            </a:r>
            <a:r>
              <a:rPr baseline="30000" b="1" dirty="0" sz="2800" lang="en-US">
                <a:solidFill>
                  <a:srgbClr val="D32BE5"/>
                </a:solidFill>
              </a:rPr>
              <a:t>rd</a:t>
            </a:r>
            <a:r>
              <a:rPr b="1" dirty="0" sz="2800" lang="en-US">
                <a:solidFill>
                  <a:srgbClr val="D32BE5"/>
                </a:solidFill>
              </a:rPr>
              <a:t> Semester</a:t>
            </a:r>
            <a:endParaRPr dirty="0" sz="2800" lang="en-US"/>
          </a:p>
          <a:p>
            <a:pPr algn="ctr"/>
            <a:r>
              <a:rPr dirty="0" sz="2800" lang="en-US">
                <a:solidFill>
                  <a:srgbClr val="FF0000"/>
                </a:solidFill>
              </a:rPr>
              <a:t/>
            </a:r>
            <a:br>
              <a:rPr dirty="0" sz="2800" lang="en-US">
                <a:solidFill>
                  <a:srgbClr val="FF0000"/>
                </a:solidFill>
              </a:rPr>
            </a:br>
            <a:endParaRPr dirty="0" sz="2400" lang="en-US"/>
          </a:p>
        </p:txBody>
      </p:sp>
      <p:pic>
        <p:nvPicPr>
          <p:cNvPr id="2097153" name="Picture 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 bwMode="auto">
          <a:xfrm>
            <a:off x="5029200" y="3505200"/>
            <a:ext cx="3733800" cy="3104388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ext Box 3"/>
          <p:cNvSpPr txBox="1">
            <a:spLocks noChangeArrowheads="1"/>
          </p:cNvSpPr>
          <p:nvPr/>
        </p:nvSpPr>
        <p:spPr bwMode="auto">
          <a:xfrm>
            <a:off x="1660528" y="722314"/>
            <a:ext cx="184731" cy="369332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p>
            <a:pPr eaLnBrk="1" hangingPunct="1">
              <a:buClr>
                <a:srgbClr val="000000"/>
              </a:buClr>
              <a:buSzPct val="100000"/>
            </a:pPr>
            <a:endParaRPr altLang="en-US" lang="zh-CN">
              <a:latin typeface="Century Schoolbook" pitchFamily="18" charset="0"/>
            </a:endParaRPr>
          </a:p>
        </p:txBody>
      </p:sp>
      <p:sp>
        <p:nvSpPr>
          <p:cNvPr id="1048597" name="AutoShape 4"/>
          <p:cNvSpPr>
            <a:spLocks noChangeArrowheads="1"/>
          </p:cNvSpPr>
          <p:nvPr/>
        </p:nvSpPr>
        <p:spPr bwMode="auto">
          <a:xfrm rot="5400000" flipH="1">
            <a:off x="-2016918" y="2248699"/>
            <a:ext cx="4032250" cy="322421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gradFill rotWithShape="1">
            <a:gsLst>
              <a:gs pos="0">
                <a:schemeClr val="hlink">
                  <a:alpha val="56000"/>
                </a:schemeClr>
              </a:gs>
              <a:gs pos="100000">
                <a:srgbClr val="FFFFFF">
                  <a:alpha val="4800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rot="10800000" vert="eaVert"/>
          <a:p>
            <a:endParaRPr lang="en-US"/>
          </a:p>
        </p:txBody>
      </p:sp>
      <p:sp>
        <p:nvSpPr>
          <p:cNvPr id="1048598" name="AutoShape 5"/>
          <p:cNvSpPr>
            <a:spLocks noChangeArrowheads="1"/>
          </p:cNvSpPr>
          <p:nvPr/>
        </p:nvSpPr>
        <p:spPr bwMode="auto">
          <a:xfrm>
            <a:off x="2057400" y="2391699"/>
            <a:ext cx="5645150" cy="2104963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anchor="ctr" lIns="0" rIns="0">
            <a:spAutoFit/>
          </a:bodyPr>
          <a:p>
            <a:pPr algn="just">
              <a:buClr>
                <a:srgbClr val="000000"/>
              </a:buClr>
              <a:buSzPct val="100000"/>
            </a:pPr>
            <a:r>
              <a:rPr b="1" dirty="0" sz="2800" lang="en-US" smtClean="0">
                <a:solidFill>
                  <a:srgbClr val="CC00FF"/>
                </a:solidFill>
              </a:rPr>
              <a:t>World Food Problems</a:t>
            </a:r>
            <a:endParaRPr dirty="0" sz="2800" lang="en-US" smtClean="0"/>
          </a:p>
          <a:p>
            <a:pPr algn="just">
              <a:buClr>
                <a:srgbClr val="000000"/>
              </a:buClr>
              <a:buSzPct val="100000"/>
            </a:pPr>
            <a:r>
              <a:rPr b="1" dirty="0" sz="2400" lang="en-US" smtClean="0"/>
              <a:t/>
            </a:r>
            <a:br>
              <a:rPr b="1" dirty="0" sz="2400" lang="en-US" smtClean="0"/>
            </a:br>
            <a:endParaRPr dirty="0" sz="2400" lang="en-US" smtClean="0"/>
          </a:p>
          <a:p>
            <a:pPr algn="just" lvl="0">
              <a:buClr>
                <a:srgbClr val="000000"/>
              </a:buClr>
              <a:buSzPct val="100000"/>
            </a:pPr>
            <a:endParaRPr b="1" dirty="0" lang="en-US" smtClean="0"/>
          </a:p>
        </p:txBody>
      </p:sp>
      <p:sp>
        <p:nvSpPr>
          <p:cNvPr id="1048599" name="AutoShape 8"/>
          <p:cNvSpPr>
            <a:spLocks noChangeArrowheads="1"/>
          </p:cNvSpPr>
          <p:nvPr/>
        </p:nvSpPr>
        <p:spPr bwMode="auto">
          <a:xfrm>
            <a:off x="1447800" y="1084022"/>
            <a:ext cx="6019800" cy="1324059"/>
          </a:xfrm>
          <a:prstGeom prst="roundRect">
            <a:avLst>
              <a:gd name="adj" fmla="val 36116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anchor="ctr" lIns="0" rIns="0" wrap="square">
            <a:spAutoFit/>
          </a:bodyPr>
          <a:p>
            <a:pPr algn="just">
              <a:buClr>
                <a:srgbClr val="000000"/>
              </a:buClr>
              <a:buSzPct val="100000"/>
            </a:pPr>
            <a:r>
              <a:rPr b="1" dirty="0" sz="2800" lang="en-US" smtClean="0">
                <a:solidFill>
                  <a:srgbClr val="CC00FF"/>
                </a:solidFill>
              </a:rPr>
              <a:t>Introduction to Food</a:t>
            </a:r>
          </a:p>
          <a:p>
            <a:pPr algn="just">
              <a:buClr>
                <a:srgbClr val="000000"/>
              </a:buClr>
              <a:buSzPct val="100000"/>
            </a:pPr>
            <a:endParaRPr b="1" dirty="0" lang="en-US" smtClean="0">
              <a:solidFill>
                <a:srgbClr val="D32BE5"/>
              </a:solidFill>
            </a:endParaRPr>
          </a:p>
          <a:p>
            <a:pPr algn="just">
              <a:buClr>
                <a:srgbClr val="000000"/>
              </a:buClr>
              <a:buSzPct val="100000"/>
            </a:pPr>
            <a:endParaRPr altLang="zh-CN" b="1" dirty="0" lang="en-US">
              <a:solidFill>
                <a:srgbClr val="D32BE5"/>
              </a:solidFill>
              <a:latin typeface="Century Schoolbook" pitchFamily="18" charset="0"/>
              <a:ea typeface="SimHei" pitchFamily="49" charset="-122"/>
            </a:endParaRPr>
          </a:p>
        </p:txBody>
      </p:sp>
      <p:sp>
        <p:nvSpPr>
          <p:cNvPr id="1048600" name="AutoShape 9"/>
          <p:cNvSpPr>
            <a:spLocks noChangeArrowheads="1"/>
          </p:cNvSpPr>
          <p:nvPr/>
        </p:nvSpPr>
        <p:spPr bwMode="auto">
          <a:xfrm rot="5400000">
            <a:off x="-2590800" y="1362077"/>
            <a:ext cx="5181600" cy="4600576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</a:pPr>
            <a:endParaRPr altLang="en-US" lang="zh-CN">
              <a:latin typeface="+mn-lt"/>
            </a:endParaRPr>
          </a:p>
        </p:txBody>
      </p:sp>
      <p:grpSp>
        <p:nvGrpSpPr>
          <p:cNvPr id="38" name="Group 10"/>
          <p:cNvGrpSpPr/>
          <p:nvPr/>
        </p:nvGrpSpPr>
        <p:grpSpPr bwMode="auto">
          <a:xfrm>
            <a:off x="762002" y="1219200"/>
            <a:ext cx="366713" cy="381000"/>
            <a:chOff x="785" y="1175"/>
            <a:chExt cx="231" cy="240"/>
          </a:xfrm>
        </p:grpSpPr>
        <p:sp>
          <p:nvSpPr>
            <p:cNvPr id="1048601" name="Oval 11"/>
            <p:cNvSpPr>
              <a:spLocks noChangeArrowheads="1"/>
            </p:cNvSpPr>
            <p:nvPr/>
          </p:nvSpPr>
          <p:spPr bwMode="auto">
            <a:xfrm>
              <a:off x="785" y="1175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02" name="Oval 12"/>
            <p:cNvSpPr>
              <a:spLocks noChangeArrowheads="1"/>
            </p:cNvSpPr>
            <p:nvPr/>
          </p:nvSpPr>
          <p:spPr bwMode="auto">
            <a:xfrm>
              <a:off x="798" y="1189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03" name="Oval 13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04" name="Oval 14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05" name="Oval 15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06" name="Oval 16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/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>
              <a:solidFill>
                <a:srgbClr val="99FF33"/>
              </a:solidFill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solidFill>
                  <a:srgbClr val="00B0F0"/>
                </a:solidFill>
                <a:latin typeface="Century Schoolbook" pitchFamily="18" charset="0"/>
              </a:endParaRPr>
            </a:p>
          </p:txBody>
        </p:sp>
      </p:grpSp>
      <p:grpSp>
        <p:nvGrpSpPr>
          <p:cNvPr id="39" name="Group 31"/>
          <p:cNvGrpSpPr/>
          <p:nvPr/>
        </p:nvGrpSpPr>
        <p:grpSpPr bwMode="auto">
          <a:xfrm>
            <a:off x="1752600" y="2819400"/>
            <a:ext cx="366713" cy="381000"/>
            <a:chOff x="567" y="3612"/>
            <a:chExt cx="231" cy="240"/>
          </a:xfrm>
        </p:grpSpPr>
        <p:sp>
          <p:nvSpPr>
            <p:cNvPr id="1048607" name="Oval 32"/>
            <p:cNvSpPr>
              <a:spLocks noChangeArrowheads="1"/>
            </p:cNvSpPr>
            <p:nvPr/>
          </p:nvSpPr>
          <p:spPr bwMode="auto">
            <a:xfrm>
              <a:off x="567" y="3612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08" name="Oval 33"/>
            <p:cNvSpPr>
              <a:spLocks noChangeArrowheads="1"/>
            </p:cNvSpPr>
            <p:nvPr/>
          </p:nvSpPr>
          <p:spPr bwMode="auto">
            <a:xfrm>
              <a:off x="580" y="3626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09" name="Oval 34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10" name="Oval 35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11" name="Oval 36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12" name="Oval 37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/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</p:grpSp>
      <p:sp>
        <p:nvSpPr>
          <p:cNvPr id="1048613" name="AutoShape 8"/>
          <p:cNvSpPr>
            <a:spLocks noChangeArrowheads="1"/>
          </p:cNvSpPr>
          <p:nvPr/>
        </p:nvSpPr>
        <p:spPr bwMode="auto">
          <a:xfrm>
            <a:off x="2286000" y="3752582"/>
            <a:ext cx="5643562" cy="1260823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anchor="ctr" lIns="0" rIns="0" wrap="square">
            <a:spAutoFit/>
          </a:bodyPr>
          <a:p>
            <a:pPr algn="just">
              <a:buClr>
                <a:srgbClr val="000000"/>
              </a:buClr>
              <a:buSzPct val="100000"/>
            </a:pPr>
            <a:r>
              <a:rPr b="1" dirty="0" lang="en-US" smtClean="0">
                <a:solidFill>
                  <a:srgbClr val="D32BE5"/>
                </a:solidFill>
              </a:rPr>
              <a:t> </a:t>
            </a:r>
            <a:endParaRPr b="1" dirty="0" lang="en-US" smtClean="0"/>
          </a:p>
          <a:p>
            <a:pPr algn="just" lvl="0">
              <a:buClr>
                <a:srgbClr val="000000"/>
              </a:buClr>
              <a:buSzPct val="100000"/>
            </a:pPr>
            <a:endParaRPr b="1" dirty="0" lang="en-US" smtClean="0"/>
          </a:p>
          <a:p>
            <a:pPr algn="just">
              <a:buClr>
                <a:srgbClr val="000000"/>
              </a:buClr>
              <a:buSzPct val="100000"/>
            </a:pPr>
            <a:endParaRPr b="1" dirty="0" lang="en-US" smtClean="0">
              <a:solidFill>
                <a:srgbClr val="7030A0"/>
              </a:solidFill>
            </a:endParaRPr>
          </a:p>
        </p:txBody>
      </p:sp>
      <p:sp>
        <p:nvSpPr>
          <p:cNvPr id="1048614" name="Footer Placeholder 4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589045" y="1081887"/>
            <a:ext cx="2011362" cy="384175"/>
          </a:xfrm>
          <a:ln>
            <a:miter lim="800000"/>
            <a:headEnd/>
            <a:tailEnd/>
          </a:ln>
        </p:spPr>
        <p:txBody>
          <a:bodyPr bIns="45720" compatLnSpc="1" lIns="91440" numCol="1" rIns="91440" tIns="45720" wrap="square">
            <a:prstTxWarp prst="textNoShape"/>
          </a:bodyPr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altLang="en-US" lang="en-US"/>
              <a:t> </a:t>
            </a:r>
          </a:p>
        </p:txBody>
      </p:sp>
      <p:grpSp>
        <p:nvGrpSpPr>
          <p:cNvPr id="40" name="Group 17"/>
          <p:cNvGrpSpPr/>
          <p:nvPr/>
        </p:nvGrpSpPr>
        <p:grpSpPr bwMode="auto">
          <a:xfrm>
            <a:off x="1524002" y="2057400"/>
            <a:ext cx="366713" cy="381000"/>
            <a:chOff x="1202" y="2024"/>
            <a:chExt cx="231" cy="240"/>
          </a:xfrm>
        </p:grpSpPr>
        <p:sp>
          <p:nvSpPr>
            <p:cNvPr id="1048615" name="Oval 18"/>
            <p:cNvSpPr>
              <a:spLocks noChangeArrowheads="1"/>
            </p:cNvSpPr>
            <p:nvPr/>
          </p:nvSpPr>
          <p:spPr bwMode="auto">
            <a:xfrm>
              <a:off x="1202" y="2024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16" name="Oval 19"/>
            <p:cNvSpPr>
              <a:spLocks noChangeArrowheads="1"/>
            </p:cNvSpPr>
            <p:nvPr/>
          </p:nvSpPr>
          <p:spPr bwMode="auto">
            <a:xfrm>
              <a:off x="1215" y="2038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17" name="Oval 20"/>
            <p:cNvSpPr>
              <a:spLocks noChangeArrowheads="1"/>
            </p:cNvSpPr>
            <p:nvPr/>
          </p:nvSpPr>
          <p:spPr bwMode="auto">
            <a:xfrm>
              <a:off x="1227" y="2050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18" name="Oval 21"/>
            <p:cNvSpPr>
              <a:spLocks noChangeArrowheads="1"/>
            </p:cNvSpPr>
            <p:nvPr/>
          </p:nvSpPr>
          <p:spPr bwMode="auto">
            <a:xfrm>
              <a:off x="1227" y="2050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19" name="Oval 22"/>
            <p:cNvSpPr>
              <a:spLocks noChangeArrowheads="1"/>
            </p:cNvSpPr>
            <p:nvPr/>
          </p:nvSpPr>
          <p:spPr bwMode="auto">
            <a:xfrm>
              <a:off x="1239" y="2062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20" name="Oval 23"/>
            <p:cNvSpPr>
              <a:spLocks noChangeArrowheads="1"/>
            </p:cNvSpPr>
            <p:nvPr/>
          </p:nvSpPr>
          <p:spPr bwMode="auto">
            <a:xfrm>
              <a:off x="1239" y="2062"/>
              <a:ext cx="157" cy="164"/>
            </a:xfrm>
            <a:prstGeom prst="ellipse"/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</p:grpSp>
      <p:grpSp>
        <p:nvGrpSpPr>
          <p:cNvPr id="41" name="Group 10"/>
          <p:cNvGrpSpPr/>
          <p:nvPr/>
        </p:nvGrpSpPr>
        <p:grpSpPr bwMode="auto">
          <a:xfrm>
            <a:off x="1905000" y="3429000"/>
            <a:ext cx="366713" cy="381000"/>
            <a:chOff x="785" y="1175"/>
            <a:chExt cx="231" cy="240"/>
          </a:xfrm>
        </p:grpSpPr>
        <p:sp>
          <p:nvSpPr>
            <p:cNvPr id="1048621" name="Oval 11"/>
            <p:cNvSpPr>
              <a:spLocks noChangeArrowheads="1"/>
            </p:cNvSpPr>
            <p:nvPr/>
          </p:nvSpPr>
          <p:spPr bwMode="auto">
            <a:xfrm>
              <a:off x="785" y="1175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22" name="Oval 12"/>
            <p:cNvSpPr>
              <a:spLocks noChangeArrowheads="1"/>
            </p:cNvSpPr>
            <p:nvPr/>
          </p:nvSpPr>
          <p:spPr bwMode="auto">
            <a:xfrm>
              <a:off x="798" y="1189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23" name="Oval 13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24" name="Oval 14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25" name="Oval 15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26" name="Oval 16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/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>
              <a:solidFill>
                <a:srgbClr val="99FF33"/>
              </a:solidFill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solidFill>
                  <a:srgbClr val="00B0F0"/>
                </a:solidFill>
                <a:latin typeface="Century Schoolbook" pitchFamily="18" charset="0"/>
              </a:endParaRPr>
            </a:p>
          </p:txBody>
        </p:sp>
      </p:grpSp>
      <p:grpSp>
        <p:nvGrpSpPr>
          <p:cNvPr id="42" name="Group 31"/>
          <p:cNvGrpSpPr/>
          <p:nvPr/>
        </p:nvGrpSpPr>
        <p:grpSpPr bwMode="auto">
          <a:xfrm>
            <a:off x="1752600" y="4114800"/>
            <a:ext cx="366713" cy="381000"/>
            <a:chOff x="567" y="3612"/>
            <a:chExt cx="231" cy="240"/>
          </a:xfrm>
        </p:grpSpPr>
        <p:sp>
          <p:nvSpPr>
            <p:cNvPr id="1048627" name="Oval 32"/>
            <p:cNvSpPr>
              <a:spLocks noChangeArrowheads="1"/>
            </p:cNvSpPr>
            <p:nvPr/>
          </p:nvSpPr>
          <p:spPr bwMode="auto">
            <a:xfrm>
              <a:off x="567" y="3612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28" name="Oval 33"/>
            <p:cNvSpPr>
              <a:spLocks noChangeArrowheads="1"/>
            </p:cNvSpPr>
            <p:nvPr/>
          </p:nvSpPr>
          <p:spPr bwMode="auto">
            <a:xfrm>
              <a:off x="580" y="3626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29" name="Oval 34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30" name="Oval 35"/>
            <p:cNvSpPr>
              <a:spLocks noChangeArrowheads="1"/>
            </p:cNvSpPr>
            <p:nvPr/>
          </p:nvSpPr>
          <p:spPr bwMode="auto">
            <a:xfrm>
              <a:off x="592" y="3638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31" name="Oval 36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32" name="Oval 37"/>
            <p:cNvSpPr>
              <a:spLocks noChangeArrowheads="1"/>
            </p:cNvSpPr>
            <p:nvPr/>
          </p:nvSpPr>
          <p:spPr bwMode="auto">
            <a:xfrm>
              <a:off x="604" y="3650"/>
              <a:ext cx="157" cy="164"/>
            </a:xfrm>
            <a:prstGeom prst="ellipse"/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</p:grpSp>
      <p:sp>
        <p:nvSpPr>
          <p:cNvPr id="1048633" name="Rectangle 75"/>
          <p:cNvSpPr/>
          <p:nvPr/>
        </p:nvSpPr>
        <p:spPr>
          <a:xfrm>
            <a:off x="2057401" y="1905004"/>
            <a:ext cx="2804885" cy="777240"/>
          </a:xfrm>
          <a:prstGeom prst="rect"/>
        </p:spPr>
        <p:txBody>
          <a:bodyPr wrap="none">
            <a:spAutoFit/>
          </a:bodyPr>
          <a:p>
            <a:r>
              <a:rPr dirty="0" sz="2800" lang="en-US" smtClean="0"/>
              <a:t> </a:t>
            </a:r>
            <a:r>
              <a:rPr b="1" dirty="0" sz="2800" lang="en-US" smtClean="0">
                <a:solidFill>
                  <a:srgbClr val="CC00FF"/>
                </a:solidFill>
              </a:rPr>
              <a:t>Food Resources</a:t>
            </a:r>
          </a:p>
          <a:p>
            <a:endParaRPr b="1" dirty="0" lang="en-US" smtClean="0"/>
          </a:p>
        </p:txBody>
      </p:sp>
      <p:sp>
        <p:nvSpPr>
          <p:cNvPr id="1048634" name="Rectangle 77"/>
          <p:cNvSpPr/>
          <p:nvPr/>
        </p:nvSpPr>
        <p:spPr>
          <a:xfrm>
            <a:off x="2514600" y="3352800"/>
            <a:ext cx="2329180" cy="777240"/>
          </a:xfrm>
          <a:prstGeom prst="rect"/>
        </p:spPr>
        <p:txBody>
          <a:bodyPr wrap="none">
            <a:spAutoFit/>
          </a:bodyPr>
          <a:p>
            <a:r>
              <a:rPr b="1" dirty="0" sz="2800" lang="en-US" smtClean="0">
                <a:solidFill>
                  <a:srgbClr val="CC00FF"/>
                </a:solidFill>
                <a:latin typeface="Andalus"/>
              </a:rPr>
              <a:t>Balanced diet</a:t>
            </a:r>
          </a:p>
          <a:p>
            <a:pPr lvl="0"/>
            <a:r>
              <a:rPr b="1" dirty="0" lang="en-US" smtClean="0">
                <a:solidFill>
                  <a:srgbClr val="D32BE5"/>
                </a:solidFill>
              </a:rPr>
              <a:t> </a:t>
            </a:r>
            <a:endParaRPr b="1" dirty="0" lang="en-US"/>
          </a:p>
        </p:txBody>
      </p:sp>
      <p:sp>
        <p:nvSpPr>
          <p:cNvPr id="1048635" name="Rectangle 74"/>
          <p:cNvSpPr/>
          <p:nvPr/>
        </p:nvSpPr>
        <p:spPr>
          <a:xfrm>
            <a:off x="2895602" y="152404"/>
            <a:ext cx="2418080" cy="751840"/>
          </a:xfrm>
          <a:prstGeom prst="rect"/>
        </p:spPr>
        <p:txBody>
          <a:bodyPr wrap="none">
            <a:spAutoFit/>
          </a:bodyPr>
          <a:p>
            <a:r>
              <a:rPr altLang="zh-CN" b="1" dirty="0" sz="4400" lang="en-US" smtClean="0">
                <a:solidFill>
                  <a:srgbClr val="D32BE5"/>
                </a:solidFill>
                <a:effectLst>
                  <a:outerShdw algn="tl" blurRad="38100" dir="2700000" dist="38100">
                    <a:srgbClr val="000000">
                      <a:alpha val="43137"/>
                    </a:srgbClr>
                  </a:outerShdw>
                </a:effectLst>
                <a:ea typeface="黑体" pitchFamily="49" charset="-122"/>
                <a:cs typeface="Arial" pitchFamily="34" charset="0"/>
              </a:rPr>
              <a:t>Contents</a:t>
            </a:r>
            <a:endParaRPr dirty="0" sz="4400" lang="en-US"/>
          </a:p>
        </p:txBody>
      </p:sp>
      <p:sp>
        <p:nvSpPr>
          <p:cNvPr id="1048636" name="AutoShape 8"/>
          <p:cNvSpPr>
            <a:spLocks noChangeArrowheads="1"/>
          </p:cNvSpPr>
          <p:nvPr/>
        </p:nvSpPr>
        <p:spPr bwMode="auto">
          <a:xfrm>
            <a:off x="2209800" y="3962400"/>
            <a:ext cx="6934200" cy="604183"/>
          </a:xfrm>
          <a:prstGeom prst="roundRect">
            <a:avLst>
              <a:gd name="adj" fmla="val 24282"/>
            </a:avLst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 anchor="ctr" lIns="0" rIns="0" wrap="square">
            <a:spAutoFit/>
          </a:bodyPr>
          <a:p>
            <a:r>
              <a:rPr b="1" dirty="0" sz="2800" lang="en-US" smtClean="0">
                <a:solidFill>
                  <a:srgbClr val="CC00FF"/>
                </a:solidFill>
              </a:rPr>
              <a:t>Impacts of overgrazing on agriculture</a:t>
            </a:r>
            <a:endParaRPr dirty="0" sz="2800" lang="en-US" smtClean="0"/>
          </a:p>
        </p:txBody>
      </p:sp>
      <p:grpSp>
        <p:nvGrpSpPr>
          <p:cNvPr id="43" name="Group 10"/>
          <p:cNvGrpSpPr/>
          <p:nvPr/>
        </p:nvGrpSpPr>
        <p:grpSpPr bwMode="auto">
          <a:xfrm>
            <a:off x="1371600" y="5105400"/>
            <a:ext cx="366713" cy="381000"/>
            <a:chOff x="785" y="1175"/>
            <a:chExt cx="231" cy="240"/>
          </a:xfrm>
        </p:grpSpPr>
        <p:sp>
          <p:nvSpPr>
            <p:cNvPr id="1048637" name="Oval 11"/>
            <p:cNvSpPr>
              <a:spLocks noChangeArrowheads="1"/>
            </p:cNvSpPr>
            <p:nvPr/>
          </p:nvSpPr>
          <p:spPr bwMode="auto">
            <a:xfrm>
              <a:off x="785" y="1175"/>
              <a:ext cx="231" cy="240"/>
            </a:xfrm>
            <a:prstGeom prst="ellipse"/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38" name="Oval 12"/>
            <p:cNvSpPr>
              <a:spLocks noChangeArrowheads="1"/>
            </p:cNvSpPr>
            <p:nvPr/>
          </p:nvSpPr>
          <p:spPr bwMode="auto">
            <a:xfrm>
              <a:off x="798" y="1189"/>
              <a:ext cx="205" cy="212"/>
            </a:xfrm>
            <a:prstGeom prst="ellipse"/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39" name="Oval 13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/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40" name="Oval 14"/>
            <p:cNvSpPr>
              <a:spLocks noChangeArrowheads="1"/>
            </p:cNvSpPr>
            <p:nvPr/>
          </p:nvSpPr>
          <p:spPr bwMode="auto">
            <a:xfrm>
              <a:off x="810" y="1201"/>
              <a:ext cx="181" cy="188"/>
            </a:xfrm>
            <a:prstGeom prst="ellipse"/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>
              <a:noFill/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latin typeface="Century Schoolbook" pitchFamily="18" charset="0"/>
              </a:endParaRPr>
            </a:p>
          </p:txBody>
        </p:sp>
        <p:sp>
          <p:nvSpPr>
            <p:cNvPr id="1048641" name="Oval 15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/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>
              <a:noFill/>
              <a:round/>
              <a:headEnd/>
              <a:tailEnd/>
            </a:ln>
            <a:effectLst/>
          </p:spPr>
          <p:txBody>
            <a:bodyPr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</a:pPr>
              <a:endParaRPr altLang="en-US" lang="zh-CN">
                <a:latin typeface="+mn-lt"/>
              </a:endParaRPr>
            </a:p>
          </p:txBody>
        </p:sp>
        <p:sp>
          <p:nvSpPr>
            <p:cNvPr id="1048642" name="Oval 16"/>
            <p:cNvSpPr>
              <a:spLocks noChangeArrowheads="1"/>
            </p:cNvSpPr>
            <p:nvPr/>
          </p:nvSpPr>
          <p:spPr bwMode="auto">
            <a:xfrm>
              <a:off x="822" y="1213"/>
              <a:ext cx="157" cy="164"/>
            </a:xfrm>
            <a:prstGeom prst="ellipse"/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>
              <a:solidFill>
                <a:srgbClr val="99FF33"/>
              </a:solidFill>
              <a:round/>
              <a:headEnd/>
              <a:tailEnd/>
            </a:ln>
          </p:spPr>
          <p:txBody>
            <a:bodyPr/>
            <a:p>
              <a:pPr eaLnBrk="1" hangingPunct="1">
                <a:buClr>
                  <a:srgbClr val="000000"/>
                </a:buClr>
                <a:buSzPct val="100000"/>
              </a:pPr>
              <a:endParaRPr altLang="en-US" lang="zh-CN">
                <a:solidFill>
                  <a:srgbClr val="00B0F0"/>
                </a:solidFill>
                <a:latin typeface="Century Schoolbook" pitchFamily="18" charset="0"/>
              </a:endParaRPr>
            </a:p>
          </p:txBody>
        </p:sp>
      </p:grpSp>
      <p:sp>
        <p:nvSpPr>
          <p:cNvPr id="1048643" name="Rectangle 55"/>
          <p:cNvSpPr/>
          <p:nvPr/>
        </p:nvSpPr>
        <p:spPr>
          <a:xfrm>
            <a:off x="1828800" y="4953000"/>
            <a:ext cx="5704106" cy="510540"/>
          </a:xfrm>
          <a:prstGeom prst="rect"/>
        </p:spPr>
        <p:txBody>
          <a:bodyPr wrap="none">
            <a:spAutoFit/>
          </a:bodyPr>
          <a:p>
            <a:r>
              <a:rPr b="1" dirty="0" sz="2800" lang="en-US" smtClean="0">
                <a:solidFill>
                  <a:srgbClr val="CC00FF"/>
                </a:solidFill>
              </a:rPr>
              <a:t>Modern Agriculture and its impacts</a:t>
            </a:r>
            <a:endParaRPr dirty="0" sz="2800" lang="en-US" smtClean="0">
              <a:solidFill>
                <a:srgbClr val="CC00FF"/>
              </a:solidFill>
            </a:endParaRPr>
          </a:p>
        </p:txBody>
      </p: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2" descr="from-the-farm-treats.JPG (800×533)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77227" y="0"/>
            <a:ext cx="9221227" cy="6858000"/>
          </a:xfrm>
          <a:prstGeom prst="rect"/>
          <a:noFill/>
        </p:spPr>
      </p:pic>
      <p:sp>
        <p:nvSpPr>
          <p:cNvPr id="1048647" name="Title 3"/>
          <p:cNvSpPr>
            <a:spLocks noGrp="1"/>
          </p:cNvSpPr>
          <p:nvPr>
            <p:ph type="title"/>
          </p:nvPr>
        </p:nvSpPr>
        <p:spPr>
          <a:xfrm>
            <a:off x="2514600" y="0"/>
            <a:ext cx="2971800" cy="868362"/>
          </a:xfrm>
        </p:spPr>
        <p:txBody>
          <a:bodyPr/>
          <a:p>
            <a:r>
              <a:rPr b="1" dirty="0" lang="en-US" smtClean="0">
                <a:solidFill>
                  <a:srgbClr val="CC00FF"/>
                </a:solidFill>
                <a:cs typeface="Andalus"/>
              </a:rPr>
              <a:t>Food</a:t>
            </a:r>
            <a:endParaRPr b="1" dirty="0" lang="en-US">
              <a:solidFill>
                <a:srgbClr val="CC00FF"/>
              </a:solidFill>
              <a:cs typeface="Andalus"/>
            </a:endParaRPr>
          </a:p>
        </p:txBody>
      </p:sp>
      <p:sp>
        <p:nvSpPr>
          <p:cNvPr id="1048648" name="Content Placeholder 4"/>
          <p:cNvSpPr>
            <a:spLocks noGrp="1"/>
          </p:cNvSpPr>
          <p:nvPr>
            <p:ph idx="1"/>
          </p:nvPr>
        </p:nvSpPr>
        <p:spPr>
          <a:xfrm>
            <a:off x="609600" y="914400"/>
            <a:ext cx="8229600" cy="5181600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p>
            <a:pPr algn="just"/>
            <a:r>
              <a:rPr dirty="0" lang="en-IN" smtClean="0"/>
              <a:t>Materials, usually of plant or animal origin, that contain </a:t>
            </a:r>
            <a:r>
              <a:rPr dirty="0" lang="en-IN" smtClean="0">
                <a:solidFill>
                  <a:srgbClr val="7030A0"/>
                </a:solidFill>
              </a:rPr>
              <a:t>essential body nutrients</a:t>
            </a:r>
            <a:r>
              <a:rPr dirty="0" lang="en-IN" smtClean="0"/>
              <a:t>. </a:t>
            </a:r>
          </a:p>
          <a:p>
            <a:pPr algn="just"/>
            <a:r>
              <a:rPr dirty="0" lang="en-US" smtClean="0"/>
              <a:t>Food is the basic material which the body need for its survival and well being.</a:t>
            </a:r>
          </a:p>
          <a:p>
            <a:pPr algn="just"/>
            <a:r>
              <a:rPr dirty="0" lang="en-US" smtClean="0"/>
              <a:t>Good food is indispensable for health at all stages of life and for </a:t>
            </a:r>
            <a:r>
              <a:rPr dirty="0" lang="en-US" smtClean="0">
                <a:solidFill>
                  <a:srgbClr val="7030A0"/>
                </a:solidFill>
              </a:rPr>
              <a:t>proper growth </a:t>
            </a:r>
            <a:r>
              <a:rPr dirty="0" lang="en-US" smtClean="0"/>
              <a:t>during infancy, childhood, adolescence and adulthood.</a:t>
            </a:r>
            <a:endParaRPr dirty="0" lang="en-US"/>
          </a:p>
          <a:p>
            <a:pPr algn="just"/>
            <a:r>
              <a:rPr dirty="0" lang="en-US" smtClean="0"/>
              <a:t>Man eats a variety of foods of plant and animal origin</a:t>
            </a:r>
          </a:p>
          <a:p>
            <a:pPr algn="just"/>
            <a:r>
              <a:rPr dirty="0" lang="en-US" smtClean="0"/>
              <a:t> No single food provides us with all the nutrients that we need.</a:t>
            </a:r>
            <a:endParaRPr dirty="0" lang="en-US"/>
          </a:p>
        </p:txBody>
      </p:sp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 2" descr="dairyfarm.jpg (400×343)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/>
          <a:noFill/>
        </p:spPr>
      </p:pic>
      <p:sp>
        <p:nvSpPr>
          <p:cNvPr id="1048649" name="Title 1"/>
          <p:cNvSpPr>
            <a:spLocks noGrp="1"/>
          </p:cNvSpPr>
          <p:nvPr>
            <p:ph type="title"/>
          </p:nvPr>
        </p:nvSpPr>
        <p:spPr>
          <a:xfrm>
            <a:off x="2209800" y="228600"/>
            <a:ext cx="4191000" cy="762000"/>
          </a:xfrm>
        </p:spPr>
        <p:txBody>
          <a:bodyPr>
            <a:normAutofit/>
          </a:bodyPr>
          <a:p>
            <a:r>
              <a:rPr b="1" dirty="0" sz="4000" lang="en-US" u="sng" smtClean="0">
                <a:solidFill>
                  <a:srgbClr val="CC00FF"/>
                </a:solidFill>
                <a:latin typeface="Andalus" pitchFamily="18" charset="-78"/>
                <a:cs typeface="Andalus" pitchFamily="18" charset="-78"/>
              </a:rPr>
              <a:t>Food resources</a:t>
            </a:r>
            <a:endParaRPr dirty="0" sz="4000" lang="en-US">
              <a:solidFill>
                <a:srgbClr val="CC00FF"/>
              </a:solidFill>
            </a:endParaRPr>
          </a:p>
        </p:txBody>
      </p:sp>
      <p:sp>
        <p:nvSpPr>
          <p:cNvPr id="1048650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3505200"/>
          </a:xfrm>
          <a:solidFill>
            <a:schemeClr val="bg2"/>
          </a:solidFill>
        </p:spPr>
        <p:txBody>
          <a:bodyPr>
            <a:normAutofit/>
          </a:bodyPr>
          <a:p>
            <a:r>
              <a:rPr dirty="0" lang="en-US"/>
              <a:t>Resources that are used as food, or provide food for organisms are called food resources</a:t>
            </a:r>
            <a:r>
              <a:rPr dirty="0" lang="en-US" smtClean="0"/>
              <a:t>.</a:t>
            </a:r>
          </a:p>
          <a:p>
            <a:pPr algn="just">
              <a:buNone/>
            </a:pPr>
            <a:r>
              <a:rPr b="1" dirty="0" lang="en-US" smtClean="0"/>
              <a:t>	</a:t>
            </a:r>
            <a:r>
              <a:rPr b="1" dirty="0" sz="3600" lang="en-US" smtClean="0"/>
              <a:t>Sources of food:</a:t>
            </a:r>
          </a:p>
          <a:p>
            <a:pPr algn="just">
              <a:buNone/>
            </a:pPr>
            <a:r>
              <a:rPr b="1" dirty="0" lang="en-US" smtClean="0"/>
              <a:t>	</a:t>
            </a:r>
            <a:r>
              <a:rPr dirty="0" lang="en-US" smtClean="0"/>
              <a:t>We obtain food from mainly two types of natural sources :</a:t>
            </a:r>
          </a:p>
          <a:p>
            <a:pPr algn="just"/>
            <a:r>
              <a:rPr dirty="0" lang="en-US" smtClean="0"/>
              <a:t>Plants</a:t>
            </a:r>
          </a:p>
          <a:p>
            <a:pPr algn="just"/>
            <a:r>
              <a:rPr dirty="0" lang="en-US" smtClean="0"/>
              <a:t>Animals</a:t>
            </a:r>
          </a:p>
          <a:p>
            <a:pPr algn="just"/>
            <a:r>
              <a:rPr dirty="0" lang="en-US" smtClean="0"/>
              <a:t>Microorganism</a:t>
            </a:r>
            <a:endParaRPr dirty="0" lang="en-IN" smtClean="0"/>
          </a:p>
          <a:p>
            <a:endParaRPr b="1" dirty="0" lang="en-US"/>
          </a:p>
        </p:txBody>
      </p:sp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 4" descr="Max_Yasgurs_Farm_2.JPG (640×480)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>
            <a:duotone>
              <a:schemeClr val="accent1">
                <a:shade val="45000"/>
                <a:satMod val="135000"/>
              </a:schemeClr>
              <a:prstClr val="white"/>
            </a:duotone>
            <a:lum bright="4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/>
          <a:noFill/>
        </p:spPr>
      </p:pic>
      <p:sp>
        <p:nvSpPr>
          <p:cNvPr id="1048651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8001000" cy="838200"/>
          </a:xfrm>
        </p:spPr>
        <p:txBody>
          <a:bodyPr/>
          <a:p>
            <a:r>
              <a:rPr b="1" dirty="0" lang="en-US" u="sng" smtClean="0">
                <a:solidFill>
                  <a:srgbClr val="CC00FF"/>
                </a:solidFill>
              </a:rPr>
              <a:t>Plants as food sources</a:t>
            </a:r>
            <a:endParaRPr dirty="0" lang="en-US">
              <a:solidFill>
                <a:srgbClr val="CC00FF"/>
              </a:solidFill>
            </a:endParaRPr>
          </a:p>
        </p:txBody>
      </p:sp>
      <p:sp>
        <p:nvSpPr>
          <p:cNvPr id="1048652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p>
            <a:r>
              <a:rPr dirty="0" lang="en-US" smtClean="0"/>
              <a:t>Plants serve as food resources for herbivores and omnivores.</a:t>
            </a:r>
          </a:p>
          <a:p>
            <a:r>
              <a:rPr dirty="0" lang="en-US" smtClean="0"/>
              <a:t>In India, the main source of food is agriculture.</a:t>
            </a:r>
          </a:p>
          <a:p>
            <a:r>
              <a:rPr dirty="0" lang="en-US" smtClean="0">
                <a:solidFill>
                  <a:srgbClr val="7030A0"/>
                </a:solidFill>
              </a:rPr>
              <a:t>Main kinds of agricultural product</a:t>
            </a:r>
            <a:r>
              <a:rPr dirty="0" lang="en-US" smtClean="0"/>
              <a:t>s :</a:t>
            </a:r>
            <a:endParaRPr dirty="0" lang="en-IN" smtClean="0"/>
          </a:p>
          <a:p>
            <a:pPr lvl="1"/>
            <a:r>
              <a:rPr dirty="0" lang="en-US" smtClean="0"/>
              <a:t>Cereals</a:t>
            </a:r>
          </a:p>
          <a:p>
            <a:pPr lvl="1"/>
            <a:r>
              <a:rPr dirty="0" lang="en-US" smtClean="0"/>
              <a:t>Pulses</a:t>
            </a:r>
          </a:p>
          <a:p>
            <a:pPr lvl="1"/>
            <a:r>
              <a:rPr dirty="0" lang="en-US" smtClean="0"/>
              <a:t>Spices</a:t>
            </a:r>
          </a:p>
          <a:p>
            <a:pPr lvl="1"/>
            <a:r>
              <a:rPr dirty="0" lang="en-US" smtClean="0"/>
              <a:t>Beverages</a:t>
            </a:r>
          </a:p>
          <a:p>
            <a:pPr lvl="1"/>
            <a:r>
              <a:rPr dirty="0" lang="en-US" smtClean="0"/>
              <a:t>Vegetables</a:t>
            </a:r>
          </a:p>
          <a:p>
            <a:pPr lvl="1"/>
            <a:r>
              <a:rPr dirty="0" lang="en-US" smtClean="0"/>
              <a:t>Fruits</a:t>
            </a:r>
          </a:p>
        </p:txBody>
      </p:sp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>
          <a:xfrm>
            <a:off x="838200" y="381000"/>
            <a:ext cx="7086600" cy="856488"/>
          </a:xfrm>
        </p:spPr>
        <p:txBody>
          <a:bodyPr/>
          <a:p>
            <a:r>
              <a:rPr b="1" dirty="0" lang="en-US" u="sng" smtClean="0">
                <a:solidFill>
                  <a:srgbClr val="CC00FF"/>
                </a:solidFill>
              </a:rPr>
              <a:t>Plants as food sources</a:t>
            </a:r>
            <a:endParaRPr dirty="0" lang="en-US"/>
          </a:p>
        </p:txBody>
      </p:sp>
      <p:sp>
        <p:nvSpPr>
          <p:cNvPr id="104865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dirty="0" lang="en-US" smtClean="0"/>
              <a:t> </a:t>
            </a:r>
            <a:r>
              <a:rPr dirty="0" sz="2800" lang="en-US" smtClean="0"/>
              <a:t>2,50,000 of plant identified</a:t>
            </a:r>
          </a:p>
          <a:p>
            <a:r>
              <a:rPr dirty="0" sz="2800" lang="en-US" smtClean="0"/>
              <a:t>3,000 species tried as agricultural crop</a:t>
            </a:r>
          </a:p>
          <a:p>
            <a:r>
              <a:rPr dirty="0" sz="2800" lang="en-US" smtClean="0"/>
              <a:t>300  species are grown for food</a:t>
            </a:r>
          </a:p>
          <a:p>
            <a:r>
              <a:rPr dirty="0" sz="2800" lang="en-US" smtClean="0"/>
              <a:t>100 species used on a large scale</a:t>
            </a:r>
          </a:p>
          <a:p>
            <a:r>
              <a:rPr dirty="0" sz="2800" lang="en-US" smtClean="0"/>
              <a:t>20 crops is provides world 60 % of calories requirement</a:t>
            </a:r>
          </a:p>
          <a:p>
            <a:pPr lvl="5"/>
            <a:endParaRPr dirty="0" sz="2800" lang="en-US" smtClean="0"/>
          </a:p>
          <a:p>
            <a:pPr lvl="5"/>
            <a:endParaRPr dirty="0" sz="2800" lang="en-US"/>
          </a:p>
        </p:txBody>
      </p:sp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Picture 2" descr="http://3.bp.blogspot.com/_vKEfTUbYIh4/SYfn_8G-3iI/AAAAAAAAAPY/SgQH6xoKouM/s400/Picture1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144000" cy="6841592"/>
          </a:xfrm>
          <a:prstGeom prst="rect"/>
          <a:noFill/>
        </p:spPr>
      </p:pic>
      <p:sp>
        <p:nvSpPr>
          <p:cNvPr id="1048655" name="Content Placeholder 2"/>
          <p:cNvSpPr>
            <a:spLocks noGrp="1"/>
          </p:cNvSpPr>
          <p:nvPr>
            <p:ph idx="1"/>
          </p:nvPr>
        </p:nvSpPr>
        <p:spPr>
          <a:xfrm>
            <a:off x="228600" y="533400"/>
            <a:ext cx="8686800" cy="6324600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p>
            <a:pPr algn="just"/>
            <a:r>
              <a:rPr b="1" dirty="0" lang="en-US" u="sng" smtClean="0">
                <a:solidFill>
                  <a:srgbClr val="FF0000"/>
                </a:solidFill>
                <a:cs typeface="Andalus"/>
              </a:rPr>
              <a:t>Cereals: </a:t>
            </a:r>
            <a:r>
              <a:rPr dirty="0" lang="en-US" smtClean="0">
                <a:cs typeface="Andalus"/>
              </a:rPr>
              <a:t>They are grasses  in nature which are cultivated for their </a:t>
            </a:r>
            <a:r>
              <a:rPr dirty="0" lang="en-US" smtClean="0">
                <a:solidFill>
                  <a:srgbClr val="7030A0"/>
                </a:solidFill>
                <a:cs typeface="Andalus"/>
              </a:rPr>
              <a:t>edible grains</a:t>
            </a:r>
            <a:r>
              <a:rPr dirty="0" lang="en-US" smtClean="0">
                <a:cs typeface="Andalus"/>
              </a:rPr>
              <a:t>.</a:t>
            </a:r>
          </a:p>
          <a:p>
            <a:pPr algn="just">
              <a:buNone/>
            </a:pPr>
            <a:r>
              <a:rPr dirty="0" lang="en-US">
                <a:cs typeface="Andalus"/>
              </a:rPr>
              <a:t>	</a:t>
            </a:r>
            <a:r>
              <a:rPr dirty="0" lang="en-US" smtClean="0">
                <a:cs typeface="Andalus"/>
              </a:rPr>
              <a:t> Provide more food energy than any other crop.</a:t>
            </a:r>
          </a:p>
          <a:p>
            <a:pPr algn="just">
              <a:buNone/>
            </a:pPr>
            <a:r>
              <a:rPr dirty="0" lang="en-US">
                <a:cs typeface="Andalus"/>
              </a:rPr>
              <a:t>	</a:t>
            </a:r>
            <a:endParaRPr dirty="0" lang="en-US" smtClean="0">
              <a:cs typeface="Andalus"/>
            </a:endParaRPr>
          </a:p>
          <a:p>
            <a:pPr algn="just"/>
            <a:r>
              <a:rPr b="1" dirty="0" lang="en-US" u="sng" smtClean="0">
                <a:solidFill>
                  <a:srgbClr val="FF0000"/>
                </a:solidFill>
                <a:cs typeface="Andalus"/>
              </a:rPr>
              <a:t>Pulses</a:t>
            </a:r>
            <a:r>
              <a:rPr b="1" dirty="0" lang="en-US" u="sng" smtClean="0">
                <a:cs typeface="Andalus"/>
              </a:rPr>
              <a:t>: </a:t>
            </a:r>
            <a:r>
              <a:rPr dirty="0" lang="en-US" smtClean="0">
                <a:cs typeface="Andalus"/>
              </a:rPr>
              <a:t>Pulses are edible seeds of </a:t>
            </a:r>
            <a:r>
              <a:rPr dirty="0" lang="en-US" smtClean="0">
                <a:solidFill>
                  <a:srgbClr val="7030A0"/>
                </a:solidFill>
                <a:cs typeface="Andalus"/>
              </a:rPr>
              <a:t>leguminous plants</a:t>
            </a:r>
            <a:r>
              <a:rPr dirty="0" lang="en-US" smtClean="0">
                <a:cs typeface="Andalus"/>
              </a:rPr>
              <a:t>.</a:t>
            </a:r>
          </a:p>
          <a:p>
            <a:pPr algn="just">
              <a:buNone/>
            </a:pPr>
            <a:r>
              <a:rPr dirty="0" lang="en-US" smtClean="0">
                <a:cs typeface="Andalus"/>
              </a:rPr>
              <a:t>	important food crops due to their nutritional/</a:t>
            </a:r>
            <a:r>
              <a:rPr dirty="0" lang="en-US" smtClean="0">
                <a:solidFill>
                  <a:srgbClr val="7030A0"/>
                </a:solidFill>
                <a:cs typeface="Andalus"/>
              </a:rPr>
              <a:t>protein </a:t>
            </a:r>
            <a:r>
              <a:rPr dirty="0" lang="en-US" smtClean="0">
                <a:cs typeface="Andalus"/>
              </a:rPr>
              <a:t>value.</a:t>
            </a:r>
          </a:p>
          <a:p>
            <a:pPr algn="just">
              <a:buNone/>
            </a:pPr>
            <a:r>
              <a:rPr dirty="0" lang="en-US" smtClean="0">
                <a:cs typeface="Andalus"/>
              </a:rPr>
              <a:t>	Examples : Grams, Peas, </a:t>
            </a:r>
            <a:r>
              <a:rPr dirty="0" lang="en-US" err="1">
                <a:cs typeface="Andalus"/>
              </a:rPr>
              <a:t>D</a:t>
            </a:r>
            <a:r>
              <a:rPr dirty="0" lang="en-US" err="1" smtClean="0">
                <a:cs typeface="Andalus"/>
              </a:rPr>
              <a:t>al</a:t>
            </a:r>
            <a:r>
              <a:rPr dirty="0" lang="en-US" smtClean="0">
                <a:cs typeface="Andalus"/>
              </a:rPr>
              <a:t>, etc. </a:t>
            </a:r>
          </a:p>
          <a:p>
            <a:pPr algn="just"/>
            <a:r>
              <a:rPr b="1" dirty="0" lang="en-US" u="sng" smtClean="0">
                <a:solidFill>
                  <a:srgbClr val="FF0000"/>
                </a:solidFill>
                <a:cs typeface="Andalus"/>
              </a:rPr>
              <a:t>Spices: </a:t>
            </a:r>
            <a:r>
              <a:rPr dirty="0" lang="en-IN" smtClean="0">
                <a:cs typeface="Andalus"/>
              </a:rPr>
              <a:t>A spice is a dried vegetative substance used as a food </a:t>
            </a:r>
            <a:r>
              <a:rPr dirty="0" lang="en-IN" smtClean="0">
                <a:solidFill>
                  <a:srgbClr val="7030A0"/>
                </a:solidFill>
                <a:cs typeface="Andalus"/>
              </a:rPr>
              <a:t>additive  for flavour</a:t>
            </a:r>
            <a:r>
              <a:rPr dirty="0" lang="en-IN" smtClean="0">
                <a:cs typeface="Andalus"/>
              </a:rPr>
              <a:t>, colour, or as a preservative.</a:t>
            </a:r>
          </a:p>
          <a:p>
            <a:pPr algn="just">
              <a:buNone/>
            </a:pPr>
            <a:r>
              <a:rPr dirty="0" lang="en-US">
                <a:cs typeface="Andalus"/>
              </a:rPr>
              <a:t>	</a:t>
            </a:r>
            <a:r>
              <a:rPr dirty="0" lang="en-US" smtClean="0">
                <a:cs typeface="Andalus"/>
              </a:rPr>
              <a:t>India is one of the greatest spice producers &amp; consumer of the world.</a:t>
            </a:r>
          </a:p>
          <a:p>
            <a:pPr algn="just">
              <a:buNone/>
            </a:pPr>
            <a:r>
              <a:rPr dirty="0" lang="en-US" smtClean="0">
                <a:cs typeface="Andalus"/>
              </a:rPr>
              <a:t>	 Examples : Cumin, cardamom, cinnamon, etc.</a:t>
            </a:r>
          </a:p>
          <a:p>
            <a:pPr algn="just"/>
            <a:r>
              <a:rPr b="1" dirty="0" lang="en-US" u="sng" smtClean="0">
                <a:solidFill>
                  <a:srgbClr val="FF0000"/>
                </a:solidFill>
                <a:cs typeface="Andalus"/>
              </a:rPr>
              <a:t>Beverages: </a:t>
            </a:r>
            <a:r>
              <a:rPr dirty="0" lang="en-US" smtClean="0">
                <a:cs typeface="Andalus"/>
              </a:rPr>
              <a:t>Beverages are drinks meant for human consumption. They are also cultivated as crops.</a:t>
            </a:r>
          </a:p>
          <a:p>
            <a:pPr algn="just">
              <a:buNone/>
            </a:pPr>
            <a:r>
              <a:rPr dirty="0" lang="en-US" smtClean="0">
                <a:cs typeface="Andalus"/>
              </a:rPr>
              <a:t>	Examples : Tea, coffee, etc.</a:t>
            </a:r>
            <a:endParaRPr dirty="0" lang="en-IN" smtClean="0">
              <a:cs typeface="Andalus"/>
            </a:endParaRPr>
          </a:p>
          <a:p>
            <a:pPr algn="just">
              <a:buNone/>
            </a:pPr>
            <a:endParaRPr dirty="0" lang="en-IN" smtClean="0">
              <a:cs typeface="Andalus"/>
            </a:endParaRPr>
          </a:p>
          <a:p>
            <a:pPr algn="just"/>
            <a:endParaRPr dirty="0" lang="en-IN" smtClean="0">
              <a:cs typeface="Andalus"/>
            </a:endParaRPr>
          </a:p>
          <a:p>
            <a:pPr algn="just"/>
            <a:endParaRPr dirty="0" lang="en-US">
              <a:cs typeface="Andalus"/>
            </a:endParaRPr>
          </a:p>
        </p:txBody>
      </p:sp>
      <p:sp>
        <p:nvSpPr>
          <p:cNvPr id="1048656" name="Rectangle 4"/>
          <p:cNvSpPr/>
          <p:nvPr/>
        </p:nvSpPr>
        <p:spPr>
          <a:xfrm>
            <a:off x="2514600" y="4"/>
            <a:ext cx="4427046" cy="584775"/>
          </a:xfrm>
          <a:prstGeom prst="rect"/>
        </p:spPr>
        <p:txBody>
          <a:bodyPr wrap="none">
            <a:spAutoFit/>
          </a:bodyPr>
          <a:p>
            <a:r>
              <a:rPr b="1" dirty="0" sz="3200" lang="en-US" u="sng" smtClean="0">
                <a:solidFill>
                  <a:srgbClr val="CC00FF"/>
                </a:solidFill>
              </a:rPr>
              <a:t>Plants as food sources</a:t>
            </a:r>
            <a:endParaRPr dirty="0" sz="3200" lang="en-US"/>
          </a:p>
        </p:txBody>
      </p:sp>
    </p:spTree>
  </p:cSld>
  <p:clrMapOvr>
    <a:masterClrMapping/>
  </p:clrMapOvr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xmlns:r="http://schemas.openxmlformats.org/officeDocument/2006/relationships" r:embed="rId1"/>
          <a:tile algn="tl" flip="none" sx="100000" sy="100000" tx="0" ty="0"/>
        </a:blipFill>
        <a:effectLst/>
      </p:bgPr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TextBox 3"/>
          <p:cNvSpPr txBox="1"/>
          <p:nvPr/>
        </p:nvSpPr>
        <p:spPr>
          <a:xfrm>
            <a:off x="0" y="762004"/>
            <a:ext cx="6781800" cy="5693866"/>
          </a:xfrm>
          <a:prstGeom prst="rect"/>
          <a:solidFill>
            <a:schemeClr val="accent4">
              <a:lumMod val="20000"/>
              <a:lumOff val="80000"/>
            </a:schemeClr>
          </a:solidFill>
        </p:spPr>
        <p:txBody>
          <a:bodyPr rtlCol="0" wrap="square">
            <a:spAutoFit/>
          </a:bodyPr>
          <a:p>
            <a:pPr algn="just"/>
            <a:r>
              <a:rPr b="1" dirty="0" sz="2800" lang="en-US" smtClean="0"/>
              <a:t>Animals and birds are a huge source of food for many organisms who are </a:t>
            </a:r>
            <a:r>
              <a:rPr b="1" dirty="0" sz="2800" lang="en-US" smtClean="0">
                <a:solidFill>
                  <a:srgbClr val="7030A0"/>
                </a:solidFill>
              </a:rPr>
              <a:t>carnivores and omnivores</a:t>
            </a:r>
            <a:r>
              <a:rPr b="1" dirty="0" sz="2800" lang="en-US" smtClean="0"/>
              <a:t>. </a:t>
            </a:r>
          </a:p>
          <a:p>
            <a:pPr algn="just"/>
            <a:r>
              <a:rPr b="1" dirty="0" sz="2800" lang="en-US" smtClean="0"/>
              <a:t>They are of the following origin : </a:t>
            </a:r>
          </a:p>
          <a:p>
            <a:pPr algn="just"/>
            <a:endParaRPr b="1" dirty="0" sz="2800" lang="en-US" smtClean="0"/>
          </a:p>
          <a:p>
            <a:pPr algn="just">
              <a:buFont typeface="Arial" pitchFamily="34" charset="0"/>
              <a:buChar char="•"/>
            </a:pPr>
            <a:r>
              <a:rPr b="1" dirty="0" sz="2800" lang="en-US" smtClean="0"/>
              <a:t> </a:t>
            </a:r>
            <a:r>
              <a:rPr b="1" dirty="0" sz="2800" lang="en-US" smtClean="0">
                <a:solidFill>
                  <a:srgbClr val="FF0000"/>
                </a:solidFill>
              </a:rPr>
              <a:t>Animal meat:</a:t>
            </a:r>
            <a:r>
              <a:rPr dirty="0" sz="2800" i="1" lang="en-US" smtClean="0"/>
              <a:t>(Sheep, </a:t>
            </a:r>
            <a:r>
              <a:rPr dirty="0" sz="2800" i="1" lang="en-US" err="1" smtClean="0"/>
              <a:t>Goats,Rabbit</a:t>
            </a:r>
            <a:r>
              <a:rPr dirty="0" sz="2800" i="1" lang="en-US" smtClean="0"/>
              <a:t> ,Deer</a:t>
            </a:r>
            <a:r>
              <a:rPr dirty="0" sz="2800" lang="en-US" smtClean="0"/>
              <a:t>)</a:t>
            </a:r>
          </a:p>
          <a:p>
            <a:pPr algn="just">
              <a:buFont typeface="Arial" pitchFamily="34" charset="0"/>
              <a:buChar char="•"/>
            </a:pPr>
            <a:r>
              <a:rPr b="1" dirty="0" sz="2800" lang="en-US" smtClean="0"/>
              <a:t> </a:t>
            </a:r>
            <a:r>
              <a:rPr b="1" dirty="0" sz="2800" lang="en-US" smtClean="0">
                <a:solidFill>
                  <a:srgbClr val="FF0000"/>
                </a:solidFill>
              </a:rPr>
              <a:t>Bird Meat</a:t>
            </a:r>
            <a:r>
              <a:rPr dirty="0" sz="2800" lang="en-US" smtClean="0">
                <a:solidFill>
                  <a:srgbClr val="7030A0"/>
                </a:solidFill>
              </a:rPr>
              <a:t>: Chicken, </a:t>
            </a:r>
          </a:p>
          <a:p>
            <a:pPr algn="just">
              <a:buFont typeface="Arial" pitchFamily="34" charset="0"/>
              <a:buChar char="•"/>
            </a:pPr>
            <a:r>
              <a:rPr b="1" dirty="0" sz="2800" lang="en-US" smtClean="0"/>
              <a:t> Aquatic </a:t>
            </a:r>
          </a:p>
          <a:p>
            <a:pPr algn="just"/>
            <a:r>
              <a:rPr b="1" dirty="0" sz="2800" lang="en-US"/>
              <a:t>(</a:t>
            </a:r>
            <a:r>
              <a:rPr dirty="0" sz="2800" i="1" lang="en-US" smtClean="0">
                <a:solidFill>
                  <a:srgbClr val="7030A0"/>
                </a:solidFill>
              </a:rPr>
              <a:t>Fish and sea food</a:t>
            </a:r>
            <a:r>
              <a:rPr dirty="0" sz="2800" i="1" lang="en-US" smtClean="0"/>
              <a:t> contribute about 70 MMT of high </a:t>
            </a:r>
            <a:r>
              <a:rPr dirty="0" sz="2800" i="1" lang="en-US" smtClean="0">
                <a:solidFill>
                  <a:srgbClr val="7030A0"/>
                </a:solidFill>
              </a:rPr>
              <a:t>quality protein </a:t>
            </a:r>
            <a:r>
              <a:rPr dirty="0" sz="2800" i="1" lang="en-US" smtClean="0"/>
              <a:t>to the world’s  diet. </a:t>
            </a:r>
            <a:endParaRPr b="1" dirty="0" sz="2800" lang="en-US" smtClean="0"/>
          </a:p>
          <a:p>
            <a:pPr algn="just">
              <a:buFont typeface="Arial" pitchFamily="34" charset="0"/>
              <a:buChar char="•"/>
            </a:pPr>
            <a:endParaRPr b="1" dirty="0" sz="2800" lang="en-IN"/>
          </a:p>
        </p:txBody>
      </p:sp>
      <p:pic>
        <p:nvPicPr>
          <p:cNvPr id="2097158" name="Picture 4" descr="images.jp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858002" y="762000"/>
            <a:ext cx="2103119" cy="1752600"/>
          </a:xfrm>
          <a:prstGeom prst="rect"/>
          <a:ln w="38100" cap="sq">
            <a:solidFill>
              <a:srgbClr val="000000"/>
            </a:solidFill>
            <a:prstDash val="solid"/>
            <a:miter lim="800000"/>
          </a:ln>
          <a:effectLst>
            <a:outerShdw algn="tl" blurRad="50800" dir="2700000" dist="38100" rotWithShape="0">
              <a:srgbClr val="000000">
                <a:alpha val="43000"/>
              </a:srgbClr>
            </a:outerShdw>
          </a:effectLst>
        </p:spPr>
      </p:pic>
      <p:pic>
        <p:nvPicPr>
          <p:cNvPr id="2097159" name="Picture 5" descr="fish-meat.jp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953250" y="3810000"/>
            <a:ext cx="2190750" cy="1752600"/>
          </a:xfrm>
          <a:prstGeom prst="rect"/>
          <a:ln w="38100" cap="sq">
            <a:solidFill>
              <a:srgbClr val="000000"/>
            </a:solidFill>
            <a:prstDash val="solid"/>
            <a:miter lim="800000"/>
          </a:ln>
          <a:effectLst>
            <a:outerShdw algn="tl" blurRad="50800" dir="2700000" dist="38100" rotWithShape="0">
              <a:srgbClr val="000000">
                <a:alpha val="43000"/>
              </a:srgbClr>
            </a:outerShdw>
          </a:effectLst>
        </p:spPr>
      </p:pic>
      <p:sp>
        <p:nvSpPr>
          <p:cNvPr id="1048658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458200" cy="487362"/>
          </a:xfr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Autofit/>
          </a:bodyPr>
          <a:p>
            <a:r>
              <a:rPr b="1" dirty="0" sz="4000" lang="en-US" u="sng" smtClean="0">
                <a:solidFill>
                  <a:srgbClr val="CC00FF"/>
                </a:solidFill>
                <a:latin typeface="+mn-lt"/>
              </a:rPr>
              <a:t>Animals &amp; birds as food resources</a:t>
            </a:r>
            <a:endParaRPr dirty="0" sz="4000" lang="en-US">
              <a:solidFill>
                <a:srgbClr val="CC00FF"/>
              </a:solidFill>
            </a:endParaRPr>
          </a:p>
        </p:txBody>
      </p:sp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/>
          <a:srcRect/>
          <a:tile algn="tl" flip="none" sx="100000" sy="100000" tx="0" ty="0"/>
        </a:blipFill>
        <a:effectLst/>
      </p:bgPr>
    </p:bg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Picture 4" descr="j0177947.jp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858000" y="838200"/>
            <a:ext cx="2143140" cy="1428760"/>
          </a:xfrm>
          <a:prstGeom prst="rect"/>
          <a:ln w="38100" cap="sq">
            <a:solidFill>
              <a:srgbClr val="000000"/>
            </a:solidFill>
            <a:prstDash val="solid"/>
            <a:miter lim="800000"/>
          </a:ln>
          <a:effectLst>
            <a:outerShdw algn="tl" blurRad="50800" dir="2700000" dist="38100" rotWithShape="0">
              <a:srgbClr val="000000">
                <a:alpha val="43000"/>
              </a:srgbClr>
            </a:outerShdw>
          </a:effectLst>
        </p:spPr>
      </p:pic>
      <p:pic>
        <p:nvPicPr>
          <p:cNvPr id="2097161" name="Picture 5" descr="honey_16x9.jp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858019" y="2714620"/>
            <a:ext cx="1960763" cy="1351874"/>
          </a:xfrm>
          <a:prstGeom prst="rect"/>
          <a:ln w="38100" cap="sq">
            <a:solidFill>
              <a:srgbClr val="000000"/>
            </a:solidFill>
            <a:prstDash val="solid"/>
            <a:miter lim="800000"/>
          </a:ln>
          <a:effectLst>
            <a:outerShdw algn="tl" blurRad="50800" dir="2700000" dist="38100" rotWithShape="0">
              <a:srgbClr val="000000">
                <a:alpha val="43000"/>
              </a:srgbClr>
            </a:outerShdw>
          </a:effectLst>
        </p:spPr>
      </p:pic>
      <p:pic>
        <p:nvPicPr>
          <p:cNvPr id="2097162" name="Picture 6" descr="All-about-Cod-Liver-Oil.jp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7000892" y="4786322"/>
            <a:ext cx="1857378" cy="1857378"/>
          </a:xfrm>
          <a:prstGeom prst="rect"/>
          <a:ln w="38100" cap="sq">
            <a:solidFill>
              <a:srgbClr val="000000"/>
            </a:solidFill>
            <a:prstDash val="solid"/>
            <a:miter lim="800000"/>
          </a:ln>
          <a:effectLst>
            <a:outerShdw algn="tl" blurRad="50800" dir="2700000" dist="38100" rotWithShape="0">
              <a:srgbClr val="000000">
                <a:alpha val="43000"/>
              </a:srgbClr>
            </a:outerShdw>
          </a:effectLst>
        </p:spPr>
      </p:pic>
      <p:sp>
        <p:nvSpPr>
          <p:cNvPr id="1048659" name="TextBox 3"/>
          <p:cNvSpPr txBox="1"/>
          <p:nvPr/>
        </p:nvSpPr>
        <p:spPr>
          <a:xfrm>
            <a:off x="0" y="914402"/>
            <a:ext cx="6705600" cy="4401205"/>
          </a:xfrm>
          <a:prstGeom prst="rect"/>
          <a:solidFill>
            <a:schemeClr val="accent6">
              <a:lumMod val="20000"/>
              <a:lumOff val="80000"/>
            </a:schemeClr>
          </a:solidFill>
        </p:spPr>
        <p:txBody>
          <a:bodyPr rtlCol="0" wrap="square">
            <a:spAutoFit/>
          </a:bodyPr>
          <a:p>
            <a:pPr algn="just">
              <a:buFont typeface="Wingdings" pitchFamily="2" charset="2"/>
              <a:buChar char="q"/>
            </a:pPr>
            <a:r>
              <a:rPr dirty="0" sz="2800" lang="en-US" smtClean="0">
                <a:solidFill>
                  <a:srgbClr val="FF0000"/>
                </a:solidFill>
              </a:rPr>
              <a:t>Eggs: </a:t>
            </a:r>
            <a:r>
              <a:rPr dirty="0" sz="2800" lang="en-US" smtClean="0"/>
              <a:t>are bird products &amp; are very nutritious and a very viable source of food.</a:t>
            </a:r>
          </a:p>
          <a:p>
            <a:pPr algn="just">
              <a:buFont typeface="Wingdings" pitchFamily="2" charset="2"/>
              <a:buChar char="q"/>
            </a:pPr>
            <a:r>
              <a:rPr dirty="0" sz="2800" lang="en-US" smtClean="0"/>
              <a:t> </a:t>
            </a:r>
            <a:r>
              <a:rPr dirty="0" sz="2800" lang="en-US" smtClean="0">
                <a:solidFill>
                  <a:srgbClr val="FF0000"/>
                </a:solidFill>
              </a:rPr>
              <a:t> Milk: </a:t>
            </a:r>
            <a:r>
              <a:rPr dirty="0" sz="2800" lang="en-US" smtClean="0"/>
              <a:t>is an animal product, </a:t>
            </a:r>
            <a:r>
              <a:rPr dirty="0" sz="2800" lang="en-US" smtClean="0">
                <a:solidFill>
                  <a:srgbClr val="7030A0"/>
                </a:solidFill>
              </a:rPr>
              <a:t>food for the offspring</a:t>
            </a:r>
            <a:r>
              <a:rPr dirty="0" sz="2800" lang="en-US" smtClean="0"/>
              <a:t>. Very </a:t>
            </a:r>
            <a:r>
              <a:rPr dirty="0" sz="2800" lang="en-US" smtClean="0">
                <a:solidFill>
                  <a:srgbClr val="7030A0"/>
                </a:solidFill>
              </a:rPr>
              <a:t>nutritious</a:t>
            </a:r>
            <a:r>
              <a:rPr dirty="0" sz="2800" lang="en-US" smtClean="0"/>
              <a:t> and widely accepted.</a:t>
            </a:r>
          </a:p>
          <a:p>
            <a:pPr algn="just">
              <a:buFont typeface="Wingdings" pitchFamily="2" charset="2"/>
              <a:buChar char="q"/>
            </a:pPr>
            <a:r>
              <a:rPr dirty="0" sz="2800" lang="en-US" smtClean="0"/>
              <a:t> </a:t>
            </a:r>
            <a:r>
              <a:rPr dirty="0" sz="2800" lang="en-US" smtClean="0">
                <a:solidFill>
                  <a:srgbClr val="FF0000"/>
                </a:solidFill>
              </a:rPr>
              <a:t>Honey: </a:t>
            </a:r>
            <a:r>
              <a:rPr dirty="0" sz="2800" lang="en-US" smtClean="0"/>
              <a:t>is the </a:t>
            </a:r>
            <a:r>
              <a:rPr dirty="0" sz="2800" lang="en-US" smtClean="0">
                <a:solidFill>
                  <a:srgbClr val="7030A0"/>
                </a:solidFill>
              </a:rPr>
              <a:t>product of nectar</a:t>
            </a:r>
            <a:r>
              <a:rPr dirty="0" sz="2800" lang="en-US" smtClean="0"/>
              <a:t> collected by </a:t>
            </a:r>
            <a:r>
              <a:rPr dirty="0" sz="2800" lang="en-US" smtClean="0">
                <a:solidFill>
                  <a:srgbClr val="7030A0"/>
                </a:solidFill>
              </a:rPr>
              <a:t>honey bees </a:t>
            </a:r>
            <a:r>
              <a:rPr dirty="0" sz="2800" lang="en-US" smtClean="0"/>
              <a:t>from flowers &amp; very rich in nutrients.</a:t>
            </a:r>
          </a:p>
          <a:p>
            <a:pPr algn="just">
              <a:buFont typeface="Wingdings" pitchFamily="2" charset="2"/>
              <a:buChar char="q"/>
            </a:pPr>
            <a:r>
              <a:rPr dirty="0" sz="2800" lang="en-US" smtClean="0"/>
              <a:t> </a:t>
            </a:r>
            <a:r>
              <a:rPr dirty="0" sz="2800" lang="en-US" smtClean="0">
                <a:solidFill>
                  <a:srgbClr val="FF0000"/>
                </a:solidFill>
              </a:rPr>
              <a:t>Animals oils, </a:t>
            </a:r>
            <a:r>
              <a:rPr dirty="0" sz="2800" lang="en-US" smtClean="0"/>
              <a:t>that has nutritional value. For instance, </a:t>
            </a:r>
            <a:r>
              <a:rPr dirty="0" sz="2800" lang="en-US" smtClean="0">
                <a:solidFill>
                  <a:srgbClr val="7030A0"/>
                </a:solidFill>
              </a:rPr>
              <a:t>cod liver oil from fishes</a:t>
            </a:r>
            <a:r>
              <a:rPr dirty="0" sz="2800" lang="en-US" smtClean="0"/>
              <a:t>.</a:t>
            </a:r>
            <a:endParaRPr dirty="0" sz="2800" lang="en-IN"/>
          </a:p>
        </p:txBody>
      </p:sp>
      <p:sp>
        <p:nvSpPr>
          <p:cNvPr id="1048660" name="TextBox 7"/>
          <p:cNvSpPr txBox="1"/>
          <p:nvPr/>
        </p:nvSpPr>
        <p:spPr>
          <a:xfrm>
            <a:off x="2" y="0"/>
            <a:ext cx="9053889" cy="707886"/>
          </a:xfrm>
          <a:prstGeom prst="rect"/>
          <a:solidFill>
            <a:schemeClr val="accent3">
              <a:lumMod val="20000"/>
              <a:lumOff val="80000"/>
            </a:schemeClr>
          </a:solidFill>
        </p:spPr>
        <p:txBody>
          <a:bodyPr rtlCol="0" wrap="none">
            <a:spAutoFit/>
          </a:bodyPr>
          <a:p>
            <a:pPr algn="just"/>
            <a:r>
              <a:rPr b="1" dirty="0" sz="4000" lang="en-US" u="sng" smtClean="0">
                <a:solidFill>
                  <a:srgbClr val="CC00FF"/>
                </a:solidFill>
              </a:rPr>
              <a:t>Eggs and other bird/animal products</a:t>
            </a:r>
          </a:p>
        </p:txBody>
      </p:sp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xmlns:r="http://schemas.openxmlformats.org/officeDocument/2006/relationships" r:embed="rId1"/>
          <a:tile algn="tl" flip="none" sx="100000" sy="100000" tx="0" ty="0"/>
        </a:blip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le 3"/>
          <p:cNvSpPr>
            <a:spLocks noGrp="1"/>
          </p:cNvSpPr>
          <p:nvPr>
            <p:ph type="title"/>
          </p:nvPr>
        </p:nvSpPr>
        <p:spPr>
          <a:xfrm>
            <a:off x="762000" y="152400"/>
            <a:ext cx="8229600" cy="868362"/>
          </a:xfrm>
        </p:spPr>
        <p:txBody>
          <a:bodyPr/>
          <a:p>
            <a:r>
              <a:rPr b="1" dirty="0" lang="en-US">
                <a:solidFill>
                  <a:srgbClr val="CC00FF"/>
                </a:solidFill>
              </a:rPr>
              <a:t>World Food Problems</a:t>
            </a:r>
            <a:endParaRPr dirty="0" lang="en-US">
              <a:solidFill>
                <a:srgbClr val="CC00FF"/>
              </a:solidFill>
            </a:endParaRPr>
          </a:p>
        </p:txBody>
      </p:sp>
      <p:sp>
        <p:nvSpPr>
          <p:cNvPr id="1048662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334000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p>
            <a:pPr algn="just" lvl="0">
              <a:buFont typeface="Wingdings" pitchFamily="2" charset="2"/>
              <a:buChar char="Ø"/>
            </a:pPr>
            <a:r>
              <a:rPr dirty="0" lang="en-US"/>
              <a:t>During the last 50 years world grain </a:t>
            </a:r>
            <a:r>
              <a:rPr dirty="0" lang="en-US">
                <a:solidFill>
                  <a:srgbClr val="7030A0"/>
                </a:solidFill>
              </a:rPr>
              <a:t>production has increased </a:t>
            </a:r>
            <a:r>
              <a:rPr dirty="0" lang="en-US"/>
              <a:t>almost </a:t>
            </a:r>
            <a:r>
              <a:rPr dirty="0" lang="en-US" smtClean="0">
                <a:solidFill>
                  <a:srgbClr val="7030A0"/>
                </a:solidFill>
              </a:rPr>
              <a:t>03 times</a:t>
            </a:r>
            <a:r>
              <a:rPr dirty="0" lang="en-US"/>
              <a:t>.</a:t>
            </a:r>
          </a:p>
          <a:p>
            <a:pPr algn="just" lvl="0">
              <a:buFont typeface="Wingdings" pitchFamily="2" charset="2"/>
              <a:buChar char="Ø"/>
            </a:pPr>
            <a:r>
              <a:rPr dirty="0" lang="en-US"/>
              <a:t>The </a:t>
            </a:r>
            <a:r>
              <a:rPr dirty="0" lang="en-US">
                <a:solidFill>
                  <a:srgbClr val="7030A0"/>
                </a:solidFill>
              </a:rPr>
              <a:t>per capita production </a:t>
            </a:r>
            <a:r>
              <a:rPr dirty="0" lang="en-US"/>
              <a:t>is increased by </a:t>
            </a:r>
            <a:r>
              <a:rPr dirty="0" lang="en-US">
                <a:solidFill>
                  <a:srgbClr val="7030A0"/>
                </a:solidFill>
              </a:rPr>
              <a:t>about 50%.</a:t>
            </a:r>
          </a:p>
          <a:p>
            <a:pPr algn="just" lvl="0">
              <a:buFont typeface="Wingdings" pitchFamily="2" charset="2"/>
              <a:buChar char="Ø"/>
            </a:pPr>
            <a:r>
              <a:rPr dirty="0" lang="en-US"/>
              <a:t>At the same time population growth increased at such a rate in less developed countries.</a:t>
            </a:r>
          </a:p>
          <a:p>
            <a:pPr algn="just" lvl="0">
              <a:buFont typeface="Wingdings" pitchFamily="2" charset="2"/>
              <a:buChar char="Ø"/>
            </a:pPr>
            <a:r>
              <a:rPr dirty="0" lang="en-US"/>
              <a:t>Every </a:t>
            </a:r>
            <a:r>
              <a:rPr dirty="0" lang="en-US">
                <a:solidFill>
                  <a:srgbClr val="7030A0"/>
                </a:solidFill>
              </a:rPr>
              <a:t>40 million people </a:t>
            </a:r>
            <a:r>
              <a:rPr dirty="0" lang="en-US"/>
              <a:t>die of</a:t>
            </a:r>
            <a:r>
              <a:rPr dirty="0" i="1" lang="en-US"/>
              <a:t> </a:t>
            </a:r>
            <a:r>
              <a:rPr b="1" dirty="0" i="1" lang="en-US" smtClean="0"/>
              <a:t>Undernourishment</a:t>
            </a:r>
            <a:r>
              <a:rPr dirty="0" i="1" lang="en-US" smtClean="0"/>
              <a:t> </a:t>
            </a:r>
            <a:r>
              <a:rPr dirty="0" lang="en-US"/>
              <a:t>and </a:t>
            </a:r>
            <a:r>
              <a:rPr b="1" dirty="0" lang="en-US" smtClean="0"/>
              <a:t>Malnutrition</a:t>
            </a:r>
            <a:r>
              <a:rPr b="1" dirty="0" lang="en-US"/>
              <a:t>.</a:t>
            </a:r>
          </a:p>
          <a:p>
            <a:pPr algn="just" lvl="0">
              <a:buFont typeface="Wingdings" pitchFamily="2" charset="2"/>
              <a:buChar char="Ø"/>
            </a:pPr>
            <a:r>
              <a:rPr dirty="0" lang="en-US" smtClean="0"/>
              <a:t>Every </a:t>
            </a:r>
            <a:r>
              <a:rPr dirty="0" lang="en-US"/>
              <a:t>year </a:t>
            </a:r>
            <a:r>
              <a:rPr dirty="0" lang="en-US" smtClean="0"/>
              <a:t>food scarcity is </a:t>
            </a:r>
            <a:r>
              <a:rPr dirty="0" lang="en-US"/>
              <a:t>killing as many </a:t>
            </a:r>
            <a:r>
              <a:rPr dirty="0" lang="en-US" smtClean="0"/>
              <a:t>people </a:t>
            </a:r>
            <a:r>
              <a:rPr dirty="0" lang="en-US"/>
              <a:t>the atomic bomb dropped on Hiroshima during World War II.</a:t>
            </a:r>
          </a:p>
          <a:p>
            <a:pPr algn="just" lvl="0">
              <a:buFont typeface="Wingdings" pitchFamily="2" charset="2"/>
              <a:buChar char="Ø"/>
            </a:pPr>
            <a:r>
              <a:rPr dirty="0" lang="en-US" smtClean="0"/>
              <a:t>Thus need </a:t>
            </a:r>
            <a:r>
              <a:rPr dirty="0" lang="en-US"/>
              <a:t>to increase our food production, and also to control population growth.</a:t>
            </a:r>
          </a:p>
          <a:p>
            <a:pPr algn="just" lvl="0">
              <a:buFont typeface="Wingdings" pitchFamily="2" charset="2"/>
              <a:buChar char="Ø"/>
            </a:pPr>
            <a:r>
              <a:rPr dirty="0" lang="en-US"/>
              <a:t>It is estimated that 300 millions are still </a:t>
            </a:r>
            <a:r>
              <a:rPr b="1" dirty="0" i="1" lang="en-US"/>
              <a:t>undernourished.</a:t>
            </a:r>
          </a:p>
          <a:p>
            <a:endParaRPr dirty="0" lang="en-US"/>
          </a:p>
        </p:txBody>
      </p:sp>
    </p:spTree>
  </p:cSld>
  <p:clrMapOvr>
    <a:masterClrMapping/>
  </p:clrMapOvr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/>
          <a:srcRect/>
          <a:tile algn="tl" flip="none" sx="100000" sy="100000" tx="0" ty="0"/>
        </a:blipFill>
        <a:effectLst/>
      </p:bgPr>
    </p:bg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extBox 6"/>
          <p:cNvSpPr txBox="1"/>
          <p:nvPr/>
        </p:nvSpPr>
        <p:spPr>
          <a:xfrm>
            <a:off x="0" y="457200"/>
            <a:ext cx="9144000" cy="5909310"/>
          </a:xfrm>
          <a:prstGeom prst="rect"/>
          <a:solidFill>
            <a:schemeClr val="accent6">
              <a:lumMod val="20000"/>
              <a:lumOff val="80000"/>
            </a:schemeClr>
          </a:solidFill>
        </p:spPr>
        <p:txBody>
          <a:bodyPr rtlCol="0" wrap="square">
            <a:spAutoFit/>
          </a:bodyPr>
          <a:p>
            <a:pPr algn="just"/>
            <a:endParaRPr dirty="0" lang="en-US"/>
          </a:p>
          <a:p>
            <a:pPr algn="just"/>
            <a:r>
              <a:rPr dirty="0" sz="2400" lang="en-US" smtClean="0">
                <a:solidFill>
                  <a:srgbClr val="FF0000"/>
                </a:solidFill>
              </a:rPr>
              <a:t>Undernourishment: </a:t>
            </a:r>
            <a:r>
              <a:rPr dirty="0" sz="2400" lang="en-US" smtClean="0"/>
              <a:t>occurs when the </a:t>
            </a:r>
            <a:r>
              <a:rPr dirty="0" sz="2400" lang="en-US" smtClean="0">
                <a:solidFill>
                  <a:srgbClr val="7030A0"/>
                </a:solidFill>
              </a:rPr>
              <a:t>body does not consume enough food</a:t>
            </a:r>
            <a:r>
              <a:rPr dirty="0" sz="2400" lang="en-US" smtClean="0"/>
              <a:t> or </a:t>
            </a:r>
            <a:r>
              <a:rPr dirty="0" sz="2400" lang="en-US" smtClean="0">
                <a:solidFill>
                  <a:srgbClr val="7030A0"/>
                </a:solidFill>
              </a:rPr>
              <a:t>enough calories to support its needs</a:t>
            </a:r>
            <a:r>
              <a:rPr dirty="0" sz="2400" lang="en-US" smtClean="0"/>
              <a:t>. As a result the body begins to breakdown its own stored fats and proteins.</a:t>
            </a:r>
          </a:p>
          <a:p>
            <a:pPr algn="just"/>
            <a:endParaRPr dirty="0" sz="2400" lang="en-US"/>
          </a:p>
          <a:p>
            <a:pPr algn="just"/>
            <a:r>
              <a:rPr b="1" dirty="0" sz="2400" lang="en-US" smtClean="0"/>
              <a:t>MALNOURISHMENT: </a:t>
            </a:r>
            <a:r>
              <a:rPr dirty="0" sz="2400" lang="en-US" smtClean="0"/>
              <a:t>Malnourishment is the lack of the minimum amount of fluids, proteins, carbohydrates, lipids, vitamins, minerals and other nutrients essential for sound health and growth.</a:t>
            </a:r>
          </a:p>
          <a:p>
            <a:pPr algn="just"/>
            <a:endParaRPr dirty="0" sz="2400" lang="en-US"/>
          </a:p>
          <a:p>
            <a:pPr algn="just"/>
            <a:r>
              <a:rPr dirty="0" sz="2400" lang="en-US" smtClean="0"/>
              <a:t>Faulty nutrition may result from poor diet, </a:t>
            </a:r>
            <a:r>
              <a:rPr dirty="0" sz="2400" lang="en-US" smtClean="0">
                <a:solidFill>
                  <a:srgbClr val="7030A0"/>
                </a:solidFill>
              </a:rPr>
              <a:t>lack of appetite or abnormal absorption of nutrients </a:t>
            </a:r>
            <a:r>
              <a:rPr dirty="0" sz="2400" lang="en-US" smtClean="0"/>
              <a:t>from gastrointestinal tract.</a:t>
            </a:r>
          </a:p>
          <a:p>
            <a:pPr algn="just"/>
            <a:endParaRPr dirty="0" sz="2400" lang="en-US" smtClean="0"/>
          </a:p>
          <a:p>
            <a:pPr algn="just"/>
            <a:r>
              <a:rPr b="1" dirty="0" sz="2400" lang="en-US" smtClean="0"/>
              <a:t>HUNGER HOTSPOT: </a:t>
            </a:r>
            <a:r>
              <a:rPr dirty="0" sz="2400" lang="en-US" smtClean="0"/>
              <a:t>The countries or regions that face Food Emergencies are referred as Hunger Hotspots.</a:t>
            </a:r>
          </a:p>
          <a:p>
            <a:pPr algn="just"/>
            <a:endParaRPr dirty="0" sz="2400" lang="en-US"/>
          </a:p>
        </p:txBody>
      </p:sp>
      <p:sp>
        <p:nvSpPr>
          <p:cNvPr id="1048664" name="TextBox 2"/>
          <p:cNvSpPr txBox="1"/>
          <p:nvPr/>
        </p:nvSpPr>
        <p:spPr>
          <a:xfrm>
            <a:off x="2590800" y="0"/>
            <a:ext cx="4434612" cy="923330"/>
          </a:xfrm>
          <a:prstGeom prst="rect"/>
          <a:noFill/>
        </p:spPr>
        <p:txBody>
          <a:bodyPr rtlCol="0" wrap="none">
            <a:spAutoFit/>
          </a:bodyPr>
          <a:p>
            <a:r>
              <a:rPr b="1" dirty="0" sz="3600" lang="en-US" smtClean="0">
                <a:solidFill>
                  <a:srgbClr val="CC00FF"/>
                </a:solidFill>
              </a:rPr>
              <a:t>Undernourishment</a:t>
            </a:r>
          </a:p>
          <a:p>
            <a:endParaRPr dirty="0" lang="en-US">
              <a:solidFill>
                <a:srgbClr val="CC00FF"/>
              </a:solidFill>
            </a:endParaRPr>
          </a:p>
        </p:txBody>
      </p:sp>
    </p:spTree>
  </p:cSld>
  <p:clrMapOvr>
    <a:masterClrMapping/>
  </p:clrMapOvr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6DCAC"/>
            </a:gs>
            <a:gs pos="12000">
              <a:srgbClr val="E6D78A"/>
            </a:gs>
            <a:gs pos="30000">
              <a:srgbClr val="C7AC4C"/>
            </a:gs>
            <a:gs pos="45000">
              <a:srgbClr val="E6D78A"/>
            </a:gs>
            <a:gs pos="77000">
              <a:srgbClr val="C7AC4C"/>
            </a:gs>
            <a:gs pos="100000">
              <a:srgbClr val="E6DCAC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TextBox 2"/>
          <p:cNvSpPr txBox="1"/>
          <p:nvPr/>
        </p:nvSpPr>
        <p:spPr>
          <a:xfrm>
            <a:off x="381000" y="914404"/>
            <a:ext cx="8458200" cy="1200329"/>
          </a:xfrm>
          <a:prstGeom prst="rect"/>
          <a:solidFill>
            <a:schemeClr val="accent3">
              <a:lumMod val="20000"/>
              <a:lumOff val="80000"/>
            </a:schemeClr>
          </a:solidFill>
        </p:spPr>
        <p:txBody>
          <a:bodyPr rtlCol="0" wrap="square">
            <a:spAutoFit/>
          </a:bodyPr>
          <a:p>
            <a:pPr algn="just"/>
            <a:r>
              <a:rPr dirty="0" sz="2400" lang="en-US" smtClean="0">
                <a:latin typeface="Andalus"/>
              </a:rPr>
              <a:t>A Balanced Diet includes a variety of foods from all </a:t>
            </a:r>
            <a:r>
              <a:rPr dirty="0" sz="2400" lang="en-US" smtClean="0">
                <a:solidFill>
                  <a:srgbClr val="7030A0"/>
                </a:solidFill>
                <a:latin typeface="Andalus"/>
              </a:rPr>
              <a:t>5 food groups</a:t>
            </a:r>
            <a:r>
              <a:rPr dirty="0" sz="2400" lang="en-US" smtClean="0">
                <a:latin typeface="Andalus"/>
              </a:rPr>
              <a:t>. It should </a:t>
            </a:r>
            <a:r>
              <a:rPr dirty="0" sz="2400" lang="en-US" smtClean="0">
                <a:solidFill>
                  <a:srgbClr val="7030A0"/>
                </a:solidFill>
                <a:latin typeface="Andalus"/>
              </a:rPr>
              <a:t>provide enough calories </a:t>
            </a:r>
            <a:r>
              <a:rPr dirty="0" sz="2400" lang="en-US" smtClean="0">
                <a:latin typeface="Andalus"/>
              </a:rPr>
              <a:t>to ensure desirable weight and should include all the necessary daily nutrients</a:t>
            </a:r>
            <a:endParaRPr dirty="0" sz="2400" lang="en-US">
              <a:latin typeface="Andalus"/>
            </a:endParaRPr>
          </a:p>
        </p:txBody>
      </p:sp>
      <p:pic>
        <p:nvPicPr>
          <p:cNvPr id="2097163" name="Picture 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4800600" y="2514604"/>
            <a:ext cx="4191000" cy="348451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8666" name="TextBox 4"/>
          <p:cNvSpPr txBox="1"/>
          <p:nvPr/>
        </p:nvSpPr>
        <p:spPr>
          <a:xfrm>
            <a:off x="0" y="2456795"/>
            <a:ext cx="4724400" cy="3785652"/>
          </a:xfrm>
          <a:prstGeom prst="rect"/>
          <a:solidFill>
            <a:schemeClr val="accent6">
              <a:lumMod val="20000"/>
              <a:lumOff val="80000"/>
            </a:schemeClr>
          </a:solidFill>
        </p:spPr>
        <p:txBody>
          <a:bodyPr rtlCol="0" wrap="square">
            <a:spAutoFit/>
          </a:bodyPr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b="1" dirty="0" sz="2400" lang="en-US" smtClean="0"/>
              <a:t>Fruit &amp; vegetables	  33%</a:t>
            </a:r>
          </a:p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b="1" dirty="0" sz="2400" lang="en-US" smtClean="0"/>
              <a:t>Milk &amp; dairy foods	  15%</a:t>
            </a:r>
          </a:p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b="1" dirty="0" sz="2400" lang="en-US" smtClean="0"/>
              <a:t>Grains &amp; potatoes	 33%</a:t>
            </a:r>
          </a:p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b="1" dirty="0" sz="2400" lang="en-US" smtClean="0"/>
              <a:t>Meat, fish &amp; alternatives  12%</a:t>
            </a:r>
          </a:p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b="1" dirty="0" sz="2400" lang="en-US" smtClean="0"/>
              <a:t>Sugar &amp; fats		     7%</a:t>
            </a:r>
            <a:endParaRPr b="1" dirty="0" sz="2400" lang="en-US"/>
          </a:p>
        </p:txBody>
      </p:sp>
      <p:sp>
        <p:nvSpPr>
          <p:cNvPr id="1048667" name="Rectangle 5"/>
          <p:cNvSpPr/>
          <p:nvPr/>
        </p:nvSpPr>
        <p:spPr>
          <a:xfrm>
            <a:off x="2667002" y="228604"/>
            <a:ext cx="3185487" cy="646331"/>
          </a:xfrm>
          <a:prstGeom prst="rect"/>
        </p:spPr>
        <p:txBody>
          <a:bodyPr wrap="none">
            <a:spAutoFit/>
          </a:bodyPr>
          <a:p>
            <a:pPr algn="just"/>
            <a:r>
              <a:rPr b="1" dirty="0" sz="3600" lang="en-US" smtClean="0">
                <a:solidFill>
                  <a:srgbClr val="CC00FF"/>
                </a:solidFill>
                <a:latin typeface="Andalus"/>
              </a:rPr>
              <a:t>Balanced diet</a:t>
            </a:r>
          </a:p>
        </p:txBody>
      </p:sp>
    </p:spTree>
  </p:cSld>
  <p:clrMapOvr>
    <a:masterClrMapping/>
  </p:clrMapOvr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">
            <a:alphaModFix amt="50000"/>
            <a:lum/>
          </a:blip>
          <a:srcRect/>
          <a:tile algn="tl" flip="none" sx="100000" sy="100000" tx="0" ty="0"/>
        </a:blipFill>
        <a:effectLst/>
      </p:bgPr>
    </p:bg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639762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p>
            <a:r>
              <a:rPr b="1" dirty="0" sz="3600" lang="en-US">
                <a:solidFill>
                  <a:srgbClr val="CC00FF"/>
                </a:solidFill>
              </a:rPr>
              <a:t>Impacts of overgrazing </a:t>
            </a:r>
            <a:r>
              <a:rPr b="1" dirty="0" sz="3600" lang="en-US" smtClean="0">
                <a:solidFill>
                  <a:srgbClr val="CC00FF"/>
                </a:solidFill>
              </a:rPr>
              <a:t>on agriculture</a:t>
            </a:r>
            <a:endParaRPr dirty="0" sz="3600" lang="en-US">
              <a:solidFill>
                <a:srgbClr val="CC00FF"/>
              </a:solidFill>
            </a:endParaRPr>
          </a:p>
        </p:txBody>
      </p:sp>
      <p:sp>
        <p:nvSpPr>
          <p:cNvPr id="1048669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9067800" cy="56388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p>
            <a:pPr algn="just">
              <a:buNone/>
            </a:pPr>
            <a:r>
              <a:rPr b="1" dirty="0" lang="en-US" smtClean="0"/>
              <a:t>Overgrazing:</a:t>
            </a:r>
            <a:endParaRPr dirty="0" lang="en-US" smtClean="0"/>
          </a:p>
          <a:p>
            <a:pPr algn="just"/>
            <a:r>
              <a:rPr dirty="0" lang="en-US"/>
              <a:t>Overgrazing can limit livestock production. Over grazing occurs when too many animals graze for too long and exceed the carrying capacity of a grass land area.</a:t>
            </a:r>
          </a:p>
          <a:p>
            <a:pPr algn="just"/>
            <a:endParaRPr dirty="0" lang="en-US"/>
          </a:p>
          <a:p>
            <a:pPr algn="just">
              <a:buNone/>
            </a:pPr>
            <a:r>
              <a:rPr b="1" dirty="0" lang="en-US"/>
              <a:t>Impact of </a:t>
            </a:r>
            <a:r>
              <a:rPr b="1" dirty="0" lang="en-US" smtClean="0"/>
              <a:t>overgrazing</a:t>
            </a:r>
            <a:endParaRPr dirty="0" lang="en-US"/>
          </a:p>
          <a:p>
            <a:pPr algn="just" lvl="0"/>
            <a:r>
              <a:rPr b="1" dirty="0" lang="en-US"/>
              <a:t>Land degradation:</a:t>
            </a:r>
            <a:r>
              <a:rPr dirty="0" lang="en-US"/>
              <a:t> Overgrazing removes the grass cover. The humus content of the soil is decreased and it leads to poor, dry, compacted soil.</a:t>
            </a:r>
          </a:p>
          <a:p>
            <a:pPr algn="just" lvl="0"/>
            <a:r>
              <a:rPr b="1" dirty="0" lang="en-US"/>
              <a:t>Soil erosion:</a:t>
            </a:r>
            <a:r>
              <a:rPr dirty="0" lang="en-US"/>
              <a:t> The soil roots are very good binders of soil. When the grasses are removed, the soil becomes loose and susceptible to the action of wind and water</a:t>
            </a:r>
            <a:r>
              <a:rPr dirty="0" lang="en-US" smtClean="0"/>
              <a:t>.</a:t>
            </a:r>
          </a:p>
          <a:p>
            <a:pPr algn="just" lvl="0"/>
            <a:endParaRPr dirty="0" lang="en-US"/>
          </a:p>
          <a:p>
            <a:pPr algn="just" lvl="0"/>
            <a:r>
              <a:rPr b="1" dirty="0" lang="en-US"/>
              <a:t>Loss of useful species: </a:t>
            </a:r>
            <a:r>
              <a:rPr dirty="0" lang="en-US"/>
              <a:t>Due to overgrazing the nutritious species like</a:t>
            </a:r>
            <a:r>
              <a:rPr b="1" dirty="0" lang="en-US"/>
              <a:t> </a:t>
            </a:r>
            <a:r>
              <a:rPr dirty="0" lang="en-US" err="1">
                <a:solidFill>
                  <a:srgbClr val="7030A0"/>
                </a:solidFill>
              </a:rPr>
              <a:t>cenchrus</a:t>
            </a:r>
            <a:r>
              <a:rPr dirty="0" lang="en-US">
                <a:solidFill>
                  <a:srgbClr val="7030A0"/>
                </a:solidFill>
              </a:rPr>
              <a:t>, </a:t>
            </a:r>
            <a:r>
              <a:rPr dirty="0" lang="en-US" err="1">
                <a:solidFill>
                  <a:srgbClr val="7030A0"/>
                </a:solidFill>
              </a:rPr>
              <a:t>panicum</a:t>
            </a:r>
            <a:r>
              <a:rPr dirty="0" lang="en-US">
                <a:solidFill>
                  <a:srgbClr val="7030A0"/>
                </a:solidFill>
              </a:rPr>
              <a:t> </a:t>
            </a:r>
            <a:r>
              <a:rPr dirty="0" lang="en-US"/>
              <a:t>etc. are replaced by thorn</a:t>
            </a:r>
            <a:r>
              <a:rPr dirty="0" lang="en-US">
                <a:solidFill>
                  <a:srgbClr val="7030A0"/>
                </a:solidFill>
              </a:rPr>
              <a:t>y plants like </a:t>
            </a:r>
            <a:r>
              <a:rPr dirty="0" lang="en-US" err="1">
                <a:solidFill>
                  <a:srgbClr val="7030A0"/>
                </a:solidFill>
              </a:rPr>
              <a:t>Parthenium</a:t>
            </a:r>
            <a:r>
              <a:rPr dirty="0" lang="en-US">
                <a:solidFill>
                  <a:srgbClr val="7030A0"/>
                </a:solidFill>
              </a:rPr>
              <a:t>, Xanthium</a:t>
            </a:r>
            <a:r>
              <a:rPr dirty="0" lang="en-US"/>
              <a:t> etc. These species do not have a good capacity of binding the soil particles and, therefore, the soil becomes more prone to soil erosion.</a:t>
            </a:r>
          </a:p>
          <a:p>
            <a:pPr algn="just"/>
            <a:endParaRPr dirty="0" lang="en-US"/>
          </a:p>
        </p:txBody>
      </p:sp>
    </p:spTree>
  </p:cSld>
  <p:clrMapOvr>
    <a:masterClrMapping/>
  </p:clrMapOvr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xmlns:r="http://schemas.openxmlformats.org/officeDocument/2006/relationships" r:embed="rId1"/>
          <a:tile algn="tl" flip="none" sx="100000" sy="100000" tx="0" ty="0"/>
        </a:blipFill>
        <a:effectLst/>
      </p:bgPr>
    </p:bg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  <a:solidFill>
            <a:schemeClr val="bg2"/>
          </a:solidFill>
        </p:spPr>
        <p:txBody>
          <a:bodyPr>
            <a:normAutofit/>
          </a:bodyPr>
          <a:p>
            <a:pPr lvl="0"/>
            <a:r>
              <a:rPr dirty="0" lang="en-US" smtClean="0"/>
              <a:t>High yielding variety</a:t>
            </a:r>
            <a:endParaRPr dirty="0" lang="en-US"/>
          </a:p>
          <a:p>
            <a:pPr lvl="0"/>
            <a:r>
              <a:rPr dirty="0" lang="en-US" smtClean="0"/>
              <a:t>Fertilizers </a:t>
            </a:r>
          </a:p>
          <a:p>
            <a:pPr lvl="0"/>
            <a:r>
              <a:rPr dirty="0" lang="en-US"/>
              <a:t>P</a:t>
            </a:r>
            <a:r>
              <a:rPr dirty="0" lang="en-US" smtClean="0"/>
              <a:t>esticides</a:t>
            </a:r>
            <a:endParaRPr dirty="0" lang="en-US"/>
          </a:p>
          <a:p>
            <a:pPr lvl="0"/>
            <a:r>
              <a:rPr dirty="0" lang="en-US" smtClean="0"/>
              <a:t> Water logging</a:t>
            </a:r>
          </a:p>
          <a:p>
            <a:pPr lvl="0"/>
            <a:r>
              <a:rPr dirty="0" lang="en-US" smtClean="0"/>
              <a:t>Salinity </a:t>
            </a:r>
          </a:p>
          <a:p>
            <a:pPr lvl="0">
              <a:lnSpc>
                <a:spcPct val="150000"/>
              </a:lnSpc>
            </a:pPr>
            <a:r>
              <a:rPr b="1" dirty="0" lang="en-US" smtClean="0">
                <a:solidFill>
                  <a:srgbClr val="FF0000"/>
                </a:solidFill>
              </a:rPr>
              <a:t>Impacts </a:t>
            </a:r>
            <a:r>
              <a:rPr b="1" dirty="0" lang="en-US">
                <a:solidFill>
                  <a:srgbClr val="FF0000"/>
                </a:solidFill>
              </a:rPr>
              <a:t>related to high yielding </a:t>
            </a:r>
            <a:r>
              <a:rPr b="1" dirty="0" lang="en-US" smtClean="0">
                <a:solidFill>
                  <a:srgbClr val="FF0000"/>
                </a:solidFill>
              </a:rPr>
              <a:t>varieties </a:t>
            </a:r>
            <a:r>
              <a:rPr b="1" dirty="0" lang="en-US">
                <a:solidFill>
                  <a:srgbClr val="FF0000"/>
                </a:solidFill>
              </a:rPr>
              <a:t>(HYV</a:t>
            </a:r>
            <a:r>
              <a:rPr dirty="0" lang="en-US">
                <a:solidFill>
                  <a:srgbClr val="FF0000"/>
                </a:solidFill>
              </a:rPr>
              <a:t>): </a:t>
            </a:r>
            <a:r>
              <a:rPr dirty="0" lang="en-US" smtClean="0">
                <a:solidFill>
                  <a:srgbClr val="FF0000"/>
                </a:solidFill>
              </a:rPr>
              <a:t>T</a:t>
            </a:r>
            <a:r>
              <a:rPr dirty="0" lang="en-US" smtClean="0"/>
              <a:t>he </a:t>
            </a:r>
            <a:r>
              <a:rPr dirty="0" lang="en-US"/>
              <a:t>same genotype is grown over vast areas. In case of an attack by some pathogen, </a:t>
            </a:r>
            <a:r>
              <a:rPr dirty="0" lang="en-US" smtClean="0"/>
              <a:t> thus total </a:t>
            </a:r>
            <a:r>
              <a:rPr dirty="0" lang="en-US"/>
              <a:t>devastation of the crop </a:t>
            </a:r>
            <a:r>
              <a:rPr dirty="0" lang="en-US" smtClean="0"/>
              <a:t>occurs by </a:t>
            </a:r>
            <a:r>
              <a:rPr dirty="0" lang="en-US"/>
              <a:t>the disease due to exactly uniform conditions, which help in rapid spread of the disease.</a:t>
            </a:r>
          </a:p>
        </p:txBody>
      </p:sp>
      <p:sp>
        <p:nvSpPr>
          <p:cNvPr id="1048671" name="TextBox 3"/>
          <p:cNvSpPr txBox="1"/>
          <p:nvPr/>
        </p:nvSpPr>
        <p:spPr>
          <a:xfrm>
            <a:off x="0" y="67270"/>
            <a:ext cx="8991600" cy="923330"/>
          </a:xfrm>
          <a:prstGeom prst="rect"/>
          <a:solidFill>
            <a:schemeClr val="accent6">
              <a:lumMod val="20000"/>
              <a:lumOff val="80000"/>
            </a:schemeClr>
          </a:solidFill>
        </p:spPr>
        <p:txBody>
          <a:bodyPr rtlCol="0" wrap="square">
            <a:spAutoFit/>
          </a:bodyPr>
          <a:p>
            <a:r>
              <a:rPr b="1" dirty="0" sz="3600" lang="en-US" smtClean="0">
                <a:solidFill>
                  <a:srgbClr val="CC00FF"/>
                </a:solidFill>
              </a:rPr>
              <a:t>Modern Agriculture and its impacts</a:t>
            </a:r>
            <a:endParaRPr dirty="0" lang="en-US" smtClean="0">
              <a:solidFill>
                <a:srgbClr val="CC00FF"/>
              </a:solidFill>
            </a:endParaRPr>
          </a:p>
          <a:p>
            <a:endParaRPr dirty="0" lang="en-US"/>
          </a:p>
        </p:txBody>
      </p:sp>
    </p:spTree>
  </p:cSld>
  <p:clrMapOvr>
    <a:masterClrMapping/>
  </p:clrMapOvr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xmlns:r="http://schemas.openxmlformats.org/officeDocument/2006/relationships" r:embed="rId1"/>
          <a:tile algn="tl" flip="none" sx="100000" sy="100000" tx="0" ty="0"/>
        </a:blipFill>
        <a:effectLst/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8229600" cy="563562"/>
          </a:xfrm>
        </p:spPr>
        <p:txBody>
          <a:bodyPr>
            <a:noAutofit/>
          </a:bodyPr>
          <a:p>
            <a:r>
              <a:rPr b="1" dirty="0" sz="3600" lang="en-US" smtClean="0">
                <a:solidFill>
                  <a:srgbClr val="CC00FF"/>
                </a:solidFill>
              </a:rPr>
              <a:t>Fertilizer related problems:</a:t>
            </a:r>
            <a:endParaRPr dirty="0" sz="3600" lang="en-US">
              <a:solidFill>
                <a:srgbClr val="CC00FF"/>
              </a:solidFill>
            </a:endParaRPr>
          </a:p>
        </p:txBody>
      </p:sp>
      <p:sp>
        <p:nvSpPr>
          <p:cNvPr id="104867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>
            <a:normAutofit/>
          </a:bodyPr>
          <a:p>
            <a:pPr algn="just" lvl="0">
              <a:buNone/>
            </a:pPr>
            <a:r>
              <a:rPr b="1" dirty="0" lang="en-US" smtClean="0"/>
              <a:t>	Micronutrient </a:t>
            </a:r>
            <a:r>
              <a:rPr b="1" dirty="0" lang="en-US"/>
              <a:t>imbalance</a:t>
            </a:r>
            <a:r>
              <a:rPr b="1" dirty="0" lang="en-US" smtClean="0"/>
              <a:t>:</a:t>
            </a:r>
            <a:endParaRPr dirty="0" lang="en-US" smtClean="0"/>
          </a:p>
          <a:p>
            <a:pPr algn="just" lvl="0">
              <a:buFont typeface="Courier New" pitchFamily="49" charset="0"/>
              <a:buChar char="o"/>
            </a:pPr>
            <a:r>
              <a:rPr dirty="0" lang="en-US" smtClean="0"/>
              <a:t>Excessive </a:t>
            </a:r>
            <a:r>
              <a:rPr dirty="0" lang="en-US"/>
              <a:t>use of fertilizers </a:t>
            </a:r>
            <a:r>
              <a:rPr dirty="0" lang="en-US" smtClean="0"/>
              <a:t>containing </a:t>
            </a:r>
            <a:r>
              <a:rPr dirty="0" lang="en-US" smtClean="0">
                <a:solidFill>
                  <a:srgbClr val="7030A0"/>
                </a:solidFill>
              </a:rPr>
              <a:t>N, P and K </a:t>
            </a:r>
            <a:r>
              <a:rPr dirty="0" lang="en-US" smtClean="0"/>
              <a:t>cause </a:t>
            </a:r>
            <a:r>
              <a:rPr dirty="0" lang="en-US"/>
              <a:t>micronutrient imbalance. </a:t>
            </a:r>
            <a:endParaRPr dirty="0" lang="en-US" smtClean="0"/>
          </a:p>
          <a:p>
            <a:pPr algn="just" lvl="0">
              <a:buFont typeface="Courier New" pitchFamily="49" charset="0"/>
              <a:buChar char="o"/>
            </a:pPr>
            <a:r>
              <a:rPr dirty="0" lang="en-US" smtClean="0"/>
              <a:t>For </a:t>
            </a:r>
            <a:r>
              <a:rPr dirty="0" lang="en-US"/>
              <a:t>example, excessive fertilizer use in Punjab and Haryana </a:t>
            </a:r>
            <a:r>
              <a:rPr dirty="0" lang="en-US" smtClean="0"/>
              <a:t>is </a:t>
            </a:r>
            <a:r>
              <a:rPr dirty="0" lang="en-US"/>
              <a:t>affecting productivity of the soil.</a:t>
            </a:r>
          </a:p>
          <a:p>
            <a:pPr algn="just" lvl="0">
              <a:buNone/>
            </a:pPr>
            <a:r>
              <a:rPr b="1" dirty="0" lang="en-US" smtClean="0"/>
              <a:t>	Nitrate </a:t>
            </a:r>
            <a:r>
              <a:rPr b="1" dirty="0" lang="en-US"/>
              <a:t>Pollution</a:t>
            </a:r>
            <a:r>
              <a:rPr dirty="0" lang="en-US"/>
              <a:t>: </a:t>
            </a:r>
            <a:endParaRPr dirty="0" lang="en-US" smtClean="0"/>
          </a:p>
          <a:p>
            <a:pPr algn="just" lvl="0"/>
            <a:r>
              <a:rPr dirty="0" lang="en-US" smtClean="0"/>
              <a:t>Nitrogenous </a:t>
            </a:r>
            <a:r>
              <a:rPr dirty="0" lang="en-US"/>
              <a:t>fertilizers </a:t>
            </a:r>
            <a:r>
              <a:rPr dirty="0" lang="en-US" smtClean="0"/>
              <a:t>often </a:t>
            </a:r>
            <a:r>
              <a:rPr dirty="0" lang="en-US"/>
              <a:t>leach deep into the soil and ultimately contaminate the ground water. </a:t>
            </a:r>
            <a:endParaRPr dirty="0" lang="en-US" smtClean="0"/>
          </a:p>
          <a:p>
            <a:pPr algn="just" lvl="0"/>
            <a:r>
              <a:rPr dirty="0" lang="en-US" smtClean="0"/>
              <a:t>When </a:t>
            </a:r>
            <a:r>
              <a:rPr dirty="0" lang="en-US" smtClean="0">
                <a:solidFill>
                  <a:srgbClr val="7030A0"/>
                </a:solidFill>
              </a:rPr>
              <a:t>nitrate</a:t>
            </a:r>
            <a:r>
              <a:rPr dirty="0" lang="en-US" smtClean="0"/>
              <a:t>s concentration exceeds </a:t>
            </a:r>
            <a:r>
              <a:rPr dirty="0" lang="en-US">
                <a:solidFill>
                  <a:srgbClr val="7030A0"/>
                </a:solidFill>
              </a:rPr>
              <a:t>25 </a:t>
            </a:r>
            <a:r>
              <a:rPr dirty="0" lang="en-US" smtClean="0">
                <a:solidFill>
                  <a:srgbClr val="7030A0"/>
                </a:solidFill>
              </a:rPr>
              <a:t>mg/L </a:t>
            </a:r>
            <a:r>
              <a:rPr dirty="0" lang="en-US" smtClean="0"/>
              <a:t>in water, cause "</a:t>
            </a:r>
            <a:r>
              <a:rPr b="1" dirty="0" lang="en-US" smtClean="0"/>
              <a:t>Blue </a:t>
            </a:r>
            <a:r>
              <a:rPr b="1" dirty="0" lang="en-US"/>
              <a:t>Baby Syndrome</a:t>
            </a:r>
            <a:r>
              <a:rPr dirty="0" lang="en-US"/>
              <a:t>" or </a:t>
            </a:r>
            <a:r>
              <a:rPr dirty="0" lang="en-US" err="1">
                <a:solidFill>
                  <a:srgbClr val="7030A0"/>
                </a:solidFill>
              </a:rPr>
              <a:t>methaemoglobinemia</a:t>
            </a:r>
            <a:r>
              <a:rPr dirty="0" lang="en-US"/>
              <a:t>. </a:t>
            </a:r>
            <a:r>
              <a:rPr dirty="0" lang="en-US" smtClean="0"/>
              <a:t>This </a:t>
            </a:r>
            <a:r>
              <a:rPr dirty="0" lang="en-US"/>
              <a:t>disease affects the infants to the maximum extent causing even death</a:t>
            </a:r>
            <a:r>
              <a:rPr dirty="0" lang="en-US" smtClean="0"/>
              <a:t>.</a:t>
            </a:r>
            <a:endParaRPr dirty="0" lang="en-US"/>
          </a:p>
        </p:txBody>
      </p:sp>
    </p:spTree>
  </p:cSld>
  <p:clrMapOvr>
    <a:masterClrMapping/>
  </p:clrMapOvr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700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  <a:tileRect r="-100000" b="-100000"/>
        </a:gradFill>
        <a:effectLst/>
      </p:bgPr>
    </p:bg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Content Placeholder 4"/>
          <p:cNvSpPr>
            <a:spLocks noGrp="1"/>
          </p:cNvSpPr>
          <p:nvPr>
            <p:ph sz="half" idx="1"/>
          </p:nvPr>
        </p:nvSpPr>
        <p:spPr>
          <a:xfrm>
            <a:off x="152400" y="609600"/>
            <a:ext cx="8686800" cy="6019800"/>
          </a:xfrm>
        </p:spPr>
        <p:txBody>
          <a:bodyPr>
            <a:normAutofit/>
          </a:bodyPr>
          <a:p>
            <a:pPr algn="just" lvl="0">
              <a:buNone/>
            </a:pPr>
            <a:r>
              <a:rPr dirty="0" lang="en-US" smtClean="0"/>
              <a:t>	Thousands </a:t>
            </a:r>
            <a:r>
              <a:rPr dirty="0" lang="en-US"/>
              <a:t>of types of pesticides are used in agriculture. </a:t>
            </a:r>
            <a:endParaRPr dirty="0" lang="en-US" smtClean="0"/>
          </a:p>
          <a:p>
            <a:pPr algn="just" lvl="0">
              <a:buNone/>
            </a:pPr>
            <a:r>
              <a:rPr dirty="0" lang="en-US" smtClean="0">
                <a:solidFill>
                  <a:srgbClr val="7030A0"/>
                </a:solidFill>
              </a:rPr>
              <a:t>The </a:t>
            </a:r>
            <a:r>
              <a:rPr dirty="0" lang="en-US">
                <a:solidFill>
                  <a:srgbClr val="7030A0"/>
                </a:solidFill>
              </a:rPr>
              <a:t>first generation </a:t>
            </a:r>
            <a:r>
              <a:rPr dirty="0" lang="en-US" smtClean="0">
                <a:solidFill>
                  <a:srgbClr val="7030A0"/>
                </a:solidFill>
              </a:rPr>
              <a:t>pesticides: </a:t>
            </a:r>
            <a:r>
              <a:rPr dirty="0" lang="en-US" err="1" smtClean="0"/>
              <a:t>sulphur</a:t>
            </a:r>
            <a:r>
              <a:rPr dirty="0" lang="en-US"/>
              <a:t>, arsenic, lead or mercury to kill the pests. </a:t>
            </a:r>
            <a:r>
              <a:rPr dirty="0" lang="en-US" smtClean="0"/>
              <a:t>But number </a:t>
            </a:r>
            <a:r>
              <a:rPr dirty="0" lang="en-US"/>
              <a:t>of side effects as </a:t>
            </a:r>
            <a:r>
              <a:rPr dirty="0" lang="en-US" smtClean="0"/>
              <a:t> follows:</a:t>
            </a:r>
            <a:endParaRPr dirty="0" lang="en-US"/>
          </a:p>
          <a:p>
            <a:pPr lvl="0">
              <a:buNone/>
            </a:pPr>
            <a:r>
              <a:rPr b="1" dirty="0" i="1" lang="en-US" smtClean="0"/>
              <a:t>a)	Creating </a:t>
            </a:r>
            <a:r>
              <a:rPr b="1" dirty="0" i="1" lang="en-US"/>
              <a:t>resistance in pests and producing new pests</a:t>
            </a:r>
            <a:r>
              <a:rPr dirty="0" i="1" lang="en-US"/>
              <a:t>: </a:t>
            </a:r>
            <a:r>
              <a:rPr dirty="0" i="1" lang="en-US" smtClean="0"/>
              <a:t> </a:t>
            </a:r>
            <a:r>
              <a:rPr dirty="0" lang="en-US" smtClean="0"/>
              <a:t>About </a:t>
            </a:r>
            <a:r>
              <a:rPr dirty="0" lang="en-US">
                <a:solidFill>
                  <a:srgbClr val="7030A0"/>
                </a:solidFill>
              </a:rPr>
              <a:t>20 species </a:t>
            </a:r>
            <a:r>
              <a:rPr dirty="0" lang="en-US"/>
              <a:t>of pests </a:t>
            </a:r>
            <a:r>
              <a:rPr dirty="0" lang="en-US" smtClean="0"/>
              <a:t> develop resistance/ immunity against pesticides are </a:t>
            </a:r>
            <a:r>
              <a:rPr dirty="0" lang="en-US"/>
              <a:t>known as "</a:t>
            </a:r>
            <a:r>
              <a:rPr dirty="0" lang="en-US">
                <a:solidFill>
                  <a:srgbClr val="7030A0"/>
                </a:solidFill>
              </a:rPr>
              <a:t>Super pests</a:t>
            </a:r>
            <a:r>
              <a:rPr dirty="0" lang="en-US"/>
              <a:t>".</a:t>
            </a:r>
          </a:p>
          <a:p>
            <a:pPr lvl="0">
              <a:buNone/>
            </a:pPr>
            <a:r>
              <a:rPr b="1" dirty="0" i="1" lang="en-US" smtClean="0"/>
              <a:t>b)	Death </a:t>
            </a:r>
            <a:r>
              <a:rPr b="1" dirty="0" i="1" lang="en-US"/>
              <a:t>of non-target </a:t>
            </a:r>
            <a:r>
              <a:rPr b="1" dirty="0" i="1" lang="en-US" smtClean="0"/>
              <a:t>organisms</a:t>
            </a:r>
            <a:r>
              <a:rPr dirty="0" i="1" lang="en-US" smtClean="0"/>
              <a:t>: </a:t>
            </a:r>
            <a:r>
              <a:rPr dirty="0" lang="en-US" smtClean="0"/>
              <a:t>Many </a:t>
            </a:r>
            <a:r>
              <a:rPr dirty="0" lang="en-US"/>
              <a:t>insecticides not only kill the target species but also several non-target species that are useful to us</a:t>
            </a:r>
            <a:r>
              <a:rPr dirty="0" lang="en-US" smtClean="0"/>
              <a:t>.</a:t>
            </a:r>
          </a:p>
          <a:p>
            <a:pPr>
              <a:buNone/>
            </a:pPr>
            <a:r>
              <a:rPr b="1" dirty="0" lang="en-US" smtClean="0"/>
              <a:t>c) Biomagnifications</a:t>
            </a:r>
            <a:r>
              <a:rPr dirty="0" lang="en-US" smtClean="0"/>
              <a:t>: Many of the pesticides are non-biodegradable and the concentration of accumulation increases from lower tropic level to higher  in a food chain, called </a:t>
            </a:r>
            <a:r>
              <a:rPr dirty="0" lang="en-US" err="1" smtClean="0"/>
              <a:t>biomagnification</a:t>
            </a:r>
            <a:r>
              <a:rPr dirty="0" lang="en-US" smtClean="0"/>
              <a:t>. This is very harmful.</a:t>
            </a:r>
          </a:p>
          <a:p>
            <a:pPr lvl="0">
              <a:buNone/>
            </a:pPr>
            <a:endParaRPr dirty="0" lang="en-US"/>
          </a:p>
        </p:txBody>
      </p:sp>
      <p:sp>
        <p:nvSpPr>
          <p:cNvPr id="1048681" name="Rectangle 2"/>
          <p:cNvSpPr/>
          <p:nvPr/>
        </p:nvSpPr>
        <p:spPr>
          <a:xfrm>
            <a:off x="1905002" y="4"/>
            <a:ext cx="5990807" cy="646331"/>
          </a:xfrm>
          <a:prstGeom prst="rect"/>
        </p:spPr>
        <p:txBody>
          <a:bodyPr wrap="none">
            <a:spAutoFit/>
          </a:bodyPr>
          <a:p>
            <a:r>
              <a:rPr b="1" dirty="0" sz="3600" lang="en-US" smtClean="0">
                <a:solidFill>
                  <a:srgbClr val="FF0000"/>
                </a:solidFill>
              </a:rPr>
              <a:t>Pesticide related problems</a:t>
            </a:r>
            <a:endParaRPr dirty="0" sz="3600" lang="en-US"/>
          </a:p>
        </p:txBody>
      </p:sp>
    </p:spTree>
  </p:cSld>
  <p:clrMapOvr>
    <a:masterClrMapping/>
  </p:clrMapOvr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EAC7"/>
            </a:gs>
            <a:gs pos="17999">
              <a:srgbClr val="FEE7F2"/>
            </a:gs>
            <a:gs pos="36000">
              <a:srgbClr val="FAC77D"/>
            </a:gs>
            <a:gs pos="61000">
              <a:srgbClr val="FBA97D"/>
            </a:gs>
            <a:gs pos="82001">
              <a:srgbClr val="FBD49C"/>
            </a:gs>
            <a:gs pos="100000">
              <a:srgbClr val="FEE7F2"/>
            </a:gs>
          </a:gsLst>
          <a:lin ang="5400000" scaled="0"/>
        </a:gradFill>
        <a:effectLst/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Content Placeholder 3"/>
          <p:cNvSpPr>
            <a:spLocks noGrp="1"/>
          </p:cNvSpPr>
          <p:nvPr>
            <p:ph idx="1"/>
          </p:nvPr>
        </p:nvSpPr>
        <p:spPr>
          <a:xfrm>
            <a:off x="381000" y="609600"/>
            <a:ext cx="8229600" cy="5943600"/>
          </a:xfrm>
          <a:solidFill>
            <a:schemeClr val="bg2"/>
          </a:solidFill>
        </p:spPr>
        <p:txBody>
          <a:bodyPr>
            <a:normAutofit/>
          </a:bodyPr>
          <a:p>
            <a:pPr algn="just" lvl="0"/>
            <a:r>
              <a:rPr b="1" dirty="0" sz="3400" lang="en-US" smtClean="0">
                <a:solidFill>
                  <a:srgbClr val="FF0000"/>
                </a:solidFill>
              </a:rPr>
              <a:t>Water Logging</a:t>
            </a:r>
            <a:r>
              <a:rPr dirty="0" sz="3400" lang="en-US" smtClean="0">
                <a:solidFill>
                  <a:srgbClr val="FF0000"/>
                </a:solidFill>
              </a:rPr>
              <a:t>: caused by </a:t>
            </a:r>
            <a:r>
              <a:rPr dirty="0" sz="3400" lang="en-US" smtClean="0"/>
              <a:t>Over irrigation. Under water-logged conditions, </a:t>
            </a:r>
            <a:r>
              <a:rPr dirty="0" sz="3400" lang="en-US" smtClean="0">
                <a:solidFill>
                  <a:srgbClr val="7030A0"/>
                </a:solidFill>
              </a:rPr>
              <a:t>pore-spaces</a:t>
            </a:r>
            <a:r>
              <a:rPr dirty="0" sz="3400" lang="en-US" smtClean="0"/>
              <a:t> in the soil get </a:t>
            </a:r>
            <a:r>
              <a:rPr dirty="0" sz="3400" lang="en-US" smtClean="0">
                <a:solidFill>
                  <a:srgbClr val="7030A0"/>
                </a:solidFill>
              </a:rPr>
              <a:t>fully drenched </a:t>
            </a:r>
            <a:r>
              <a:rPr dirty="0" sz="3400" lang="en-US" smtClean="0"/>
              <a:t>with water and the </a:t>
            </a:r>
            <a:r>
              <a:rPr dirty="0" sz="3400" lang="en-US" smtClean="0">
                <a:solidFill>
                  <a:srgbClr val="7030A0"/>
                </a:solidFill>
              </a:rPr>
              <a:t>soil- air gets depleted</a:t>
            </a:r>
            <a:r>
              <a:rPr dirty="0" sz="3400" lang="en-US" smtClean="0"/>
              <a:t>. </a:t>
            </a:r>
          </a:p>
          <a:p>
            <a:pPr algn="just" lvl="0"/>
            <a:r>
              <a:rPr b="1" dirty="0" sz="3400" lang="en-US" smtClean="0">
                <a:solidFill>
                  <a:srgbClr val="FF0000"/>
                </a:solidFill>
              </a:rPr>
              <a:t>Salinity Problem</a:t>
            </a:r>
            <a:r>
              <a:rPr dirty="0" sz="3400" lang="en-US" smtClean="0">
                <a:solidFill>
                  <a:srgbClr val="FF0000"/>
                </a:solidFill>
              </a:rPr>
              <a:t>: </a:t>
            </a:r>
            <a:r>
              <a:rPr dirty="0" sz="3400" lang="en-US" smtClean="0"/>
              <a:t>At present 1/3 of the total cultivable land area of the world is affected by salts. </a:t>
            </a:r>
          </a:p>
          <a:p>
            <a:pPr algn="just" lvl="0"/>
            <a:r>
              <a:rPr dirty="0" sz="3400" lang="en-US" smtClean="0"/>
              <a:t>Mainly accumulation of </a:t>
            </a:r>
            <a:r>
              <a:rPr dirty="0" sz="3400" lang="en-US" smtClean="0">
                <a:solidFill>
                  <a:srgbClr val="7030A0"/>
                </a:solidFill>
              </a:rPr>
              <a:t>NaCl,Na</a:t>
            </a:r>
            <a:r>
              <a:rPr baseline="-25000" dirty="0" sz="3400" lang="en-US" smtClean="0">
                <a:solidFill>
                  <a:srgbClr val="7030A0"/>
                </a:solidFill>
              </a:rPr>
              <a:t>2</a:t>
            </a:r>
            <a:r>
              <a:rPr dirty="0" sz="3400" lang="en-US" smtClean="0">
                <a:solidFill>
                  <a:srgbClr val="7030A0"/>
                </a:solidFill>
              </a:rPr>
              <a:t>SO</a:t>
            </a:r>
            <a:r>
              <a:rPr baseline="-25000" dirty="0" sz="3400" lang="en-US" smtClean="0">
                <a:solidFill>
                  <a:srgbClr val="7030A0"/>
                </a:solidFill>
              </a:rPr>
              <a:t>4</a:t>
            </a:r>
            <a:r>
              <a:rPr dirty="0" sz="3400" lang="en-US" smtClean="0">
                <a:solidFill>
                  <a:srgbClr val="7030A0"/>
                </a:solidFill>
              </a:rPr>
              <a:t>, CaCl</a:t>
            </a:r>
            <a:r>
              <a:rPr baseline="-25000" dirty="0" sz="3400" lang="en-US" smtClean="0">
                <a:solidFill>
                  <a:srgbClr val="7030A0"/>
                </a:solidFill>
              </a:rPr>
              <a:t>2</a:t>
            </a:r>
            <a:r>
              <a:rPr dirty="0" sz="3400" lang="en-US" smtClean="0">
                <a:solidFill>
                  <a:srgbClr val="7030A0"/>
                </a:solidFill>
              </a:rPr>
              <a:t>, &amp; MgCl</a:t>
            </a:r>
            <a:r>
              <a:rPr baseline="-25000" dirty="0" sz="3400" lang="en-US" smtClean="0">
                <a:solidFill>
                  <a:srgbClr val="7030A0"/>
                </a:solidFill>
              </a:rPr>
              <a:t>2</a:t>
            </a:r>
            <a:r>
              <a:rPr dirty="0" sz="3400" lang="en-US" smtClean="0"/>
              <a:t> etc in soil. Their electrical conductivity is more than 4 </a:t>
            </a:r>
            <a:r>
              <a:rPr dirty="0" sz="3400" lang="en-US" err="1" smtClean="0"/>
              <a:t>ds</a:t>
            </a:r>
            <a:r>
              <a:rPr dirty="0" sz="3400" lang="en-US" smtClean="0"/>
              <a:t>/m. </a:t>
            </a:r>
          </a:p>
          <a:p>
            <a:pPr algn="just" lvl="0"/>
            <a:r>
              <a:rPr dirty="0" sz="3400" lang="en-US" smtClean="0"/>
              <a:t>Soils also have </a:t>
            </a:r>
            <a:r>
              <a:rPr dirty="0" sz="3400" lang="en-US" smtClean="0">
                <a:solidFill>
                  <a:srgbClr val="7030A0"/>
                </a:solidFill>
              </a:rPr>
              <a:t>carbonates and bicarbonates </a:t>
            </a:r>
            <a:r>
              <a:rPr dirty="0" sz="3400" lang="en-US" smtClean="0"/>
              <a:t>of </a:t>
            </a:r>
            <a:r>
              <a:rPr dirty="0" sz="3400" lang="en-US" smtClean="0">
                <a:solidFill>
                  <a:srgbClr val="7030A0"/>
                </a:solidFill>
              </a:rPr>
              <a:t>sodium, the pH usually exceed 8.0.</a:t>
            </a:r>
          </a:p>
        </p:txBody>
      </p:sp>
      <p:sp>
        <p:nvSpPr>
          <p:cNvPr id="1048683" name="Rectangle 2"/>
          <p:cNvSpPr/>
          <p:nvPr/>
        </p:nvSpPr>
        <p:spPr>
          <a:xfrm>
            <a:off x="2895600" y="4"/>
            <a:ext cx="3159006" cy="646331"/>
          </a:xfrm>
          <a:prstGeom prst="rect"/>
        </p:spPr>
        <p:txBody>
          <a:bodyPr wrap="none">
            <a:spAutoFit/>
          </a:bodyPr>
          <a:p>
            <a:pPr algn="just"/>
            <a:r>
              <a:rPr dirty="0" sz="3600" lang="en-US" smtClean="0">
                <a:solidFill>
                  <a:srgbClr val="CC00FF"/>
                </a:solidFill>
              </a:rPr>
              <a:t>Water-logging.</a:t>
            </a:r>
          </a:p>
        </p:txBody>
      </p:sp>
    </p:spTree>
  </p:cSld>
  <p:clrMapOvr>
    <a:masterClrMapping/>
  </p:clrMapOvr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75000"/>
                <a:alpha val="66000"/>
              </a:schemeClr>
            </a:gs>
            <a:gs pos="50000">
              <a:schemeClr val="bg1">
                <a:lumMod val="65000"/>
              </a:schemeClr>
            </a:gs>
            <a:gs pos="100000">
              <a:srgbClr val="156B13"/>
            </a:gs>
          </a:gsLst>
          <a:lin ang="8100000" scaled="1"/>
        </a:gradFill>
        <a:effectLst/>
      </p:bgPr>
    </p:bg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010400" cy="63976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p>
            <a:r>
              <a:rPr dirty="0" sz="4000" lang="en-US" smtClean="0">
                <a:solidFill>
                  <a:srgbClr val="CC00FF"/>
                </a:solidFill>
              </a:rPr>
              <a:t>Management of Water logging</a:t>
            </a:r>
            <a:endParaRPr dirty="0" sz="4000" lang="en-US">
              <a:solidFill>
                <a:srgbClr val="CC00FF"/>
              </a:solidFill>
            </a:endParaRPr>
          </a:p>
        </p:txBody>
      </p:sp>
      <p:sp>
        <p:nvSpPr>
          <p:cNvPr id="1048685" name="Content Placeholder 2"/>
          <p:cNvSpPr>
            <a:spLocks noGrp="1"/>
          </p:cNvSpPr>
          <p:nvPr>
            <p:ph idx="1"/>
          </p:nvPr>
        </p:nvSpPr>
        <p:spPr>
          <a:xfrm>
            <a:off x="76200" y="1143000"/>
            <a:ext cx="9067800" cy="5257800"/>
          </a:xfrm>
          <a:solidFill>
            <a:schemeClr val="bg2"/>
          </a:solidFill>
        </p:spPr>
        <p:txBody>
          <a:bodyPr>
            <a:normAutofit/>
          </a:bodyPr>
          <a:p>
            <a:pPr>
              <a:lnSpc>
                <a:spcPct val="120000"/>
              </a:lnSpc>
            </a:pPr>
            <a:r>
              <a:rPr dirty="0" sz="11200" lang="en-US" smtClean="0"/>
              <a:t>Stop</a:t>
            </a:r>
            <a:r>
              <a:rPr dirty="0" sz="11200" lang="en-US" smtClean="0">
                <a:solidFill>
                  <a:srgbClr val="FF0000"/>
                </a:solidFill>
              </a:rPr>
              <a:t> </a:t>
            </a:r>
            <a:r>
              <a:rPr dirty="0" sz="11200" lang="en-US" smtClean="0"/>
              <a:t>excessive irrigation, sub-surface drainage technology and bio-drainage with trees like Eucalyptus</a:t>
            </a:r>
          </a:p>
          <a:p>
            <a:pPr>
              <a:lnSpc>
                <a:spcPct val="120000"/>
              </a:lnSpc>
              <a:buNone/>
            </a:pPr>
            <a:endParaRPr dirty="0" sz="11200" lang="en-US" smtClean="0"/>
          </a:p>
          <a:p>
            <a:pPr>
              <a:lnSpc>
                <a:spcPct val="120000"/>
              </a:lnSpc>
            </a:pPr>
            <a:r>
              <a:rPr dirty="0" sz="11200" lang="en-US" smtClean="0"/>
              <a:t>Application  of </a:t>
            </a:r>
            <a:r>
              <a:rPr dirty="0" sz="11200" lang="en-US" smtClean="0">
                <a:solidFill>
                  <a:srgbClr val="7030A0"/>
                </a:solidFill>
              </a:rPr>
              <a:t>Bio-</a:t>
            </a:r>
            <a:r>
              <a:rPr dirty="0" sz="11200" lang="en-US" err="1" smtClean="0">
                <a:solidFill>
                  <a:srgbClr val="7030A0"/>
                </a:solidFill>
              </a:rPr>
              <a:t>fertiliser</a:t>
            </a:r>
            <a:r>
              <a:rPr dirty="0" sz="11200" lang="en-US" smtClean="0">
                <a:solidFill>
                  <a:srgbClr val="7030A0"/>
                </a:solidFill>
              </a:rPr>
              <a:t> </a:t>
            </a:r>
            <a:r>
              <a:rPr dirty="0" sz="11200" lang="en-US" smtClean="0"/>
              <a:t>( Plant and animal origin)</a:t>
            </a:r>
          </a:p>
          <a:p>
            <a:pPr>
              <a:lnSpc>
                <a:spcPct val="120000"/>
              </a:lnSpc>
            </a:pPr>
            <a:r>
              <a:rPr dirty="0" sz="11200" lang="en-US" smtClean="0"/>
              <a:t>Scientific used of irrigation and </a:t>
            </a:r>
            <a:r>
              <a:rPr dirty="0" sz="11200" lang="en-US" smtClean="0">
                <a:solidFill>
                  <a:srgbClr val="7030A0"/>
                </a:solidFill>
              </a:rPr>
              <a:t>checked over flow of water</a:t>
            </a:r>
            <a:r>
              <a:rPr dirty="0" sz="11200" lang="en-US" smtClean="0"/>
              <a:t>.</a:t>
            </a:r>
          </a:p>
          <a:p>
            <a:pPr>
              <a:lnSpc>
                <a:spcPct val="120000"/>
              </a:lnSpc>
            </a:pPr>
            <a:r>
              <a:rPr dirty="0" sz="11200" lang="en-US" smtClean="0"/>
              <a:t>Flush them out by applying more good quality water to such soils.</a:t>
            </a:r>
          </a:p>
          <a:p>
            <a:pPr>
              <a:lnSpc>
                <a:spcPct val="120000"/>
              </a:lnSpc>
            </a:pPr>
            <a:endParaRPr dirty="0" sz="11200" lang="en-US" smtClean="0"/>
          </a:p>
          <a:p>
            <a:pPr>
              <a:lnSpc>
                <a:spcPct val="120000"/>
              </a:lnSpc>
            </a:pPr>
            <a:r>
              <a:rPr dirty="0" sz="11200" lang="en-US" smtClean="0"/>
              <a:t>Underground network of perforated drainage pipes for flushing out the salts slowly.</a:t>
            </a:r>
          </a:p>
          <a:p>
            <a:endParaRPr dirty="0" sz="11200" lang="en-US" smtClean="0"/>
          </a:p>
          <a:p>
            <a:endParaRPr b="1" dirty="0" sz="11200" lang="en-US" smtClean="0"/>
          </a:p>
          <a:p>
            <a:endParaRPr b="1" dirty="0" lang="en-US" smtClean="0"/>
          </a:p>
          <a:p>
            <a:pPr algn="just">
              <a:buNone/>
            </a:pPr>
            <a:r>
              <a:rPr b="1" dirty="0" lang="en-US" smtClean="0"/>
              <a:t>	</a:t>
            </a:r>
            <a:endParaRPr dirty="0" lang="en-US"/>
          </a:p>
        </p:txBody>
      </p:sp>
    </p:spTree>
  </p:cSld>
  <p:clrMapOvr>
    <a:masterClrMapping/>
  </p:clrMapOvr>
  <p:timing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Picture 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1" y="125082"/>
            <a:ext cx="9012447" cy="6732918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lastClr="000000" val="windowText"/>
      </a:dk1>
      <a:lt1>
        <a:sysClr lastClr="FFFFFF" val="window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algn="ctr" blurRad="57150" dir="5400000" dist="38100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algn="ctr" blurRad="57150" dir="5400000" dist="38100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algn="ctr" blurRad="57150" dir="5400000" dist="38100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dir="tl" rig="glow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algn="tl" flip="none" sx="65000" sy="65000" tx="0" ty="0"/>
        </a:blip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Quality Analytics</Company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FOOD</dc:title>
  <dc:creator>Sudhansu Sahu</dc:creator>
  <cp:lastModifiedBy>ITER</cp:lastModifiedBy>
  <dcterms:created xsi:type="dcterms:W3CDTF">2013-10-27T02:55:37Z</dcterms:created>
  <dcterms:modified xsi:type="dcterms:W3CDTF">2025-10-06T05:31:13Z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e405cf007f8d4511be01ab733deacaf9</vt:lpwstr>
  </property>
</Properties>
</file>
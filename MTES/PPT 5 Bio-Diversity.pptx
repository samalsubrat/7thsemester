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4"/>
  </p:notesMasterIdLst>
  <p:sldIdLst>
    <p:sldId id="303" r:id="rId2"/>
    <p:sldId id="304" r:id="rId3"/>
    <p:sldId id="305" r:id="rId4"/>
    <p:sldId id="293" r:id="rId5"/>
    <p:sldId id="263" r:id="rId6"/>
    <p:sldId id="302" r:id="rId7"/>
    <p:sldId id="264" r:id="rId8"/>
    <p:sldId id="301" r:id="rId9"/>
    <p:sldId id="310" r:id="rId10"/>
    <p:sldId id="309" r:id="rId11"/>
    <p:sldId id="306" r:id="rId12"/>
    <p:sldId id="308" r:id="rId13"/>
    <p:sldId id="311" r:id="rId14"/>
    <p:sldId id="297" r:id="rId15"/>
    <p:sldId id="312" r:id="rId16"/>
    <p:sldId id="267" r:id="rId17"/>
    <p:sldId id="268" r:id="rId18"/>
    <p:sldId id="290" r:id="rId19"/>
    <p:sldId id="279" r:id="rId20"/>
    <p:sldId id="313" r:id="rId21"/>
    <p:sldId id="269" r:id="rId22"/>
    <p:sldId id="292" r:id="rId2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23AD"/>
    <a:srgbClr val="FF3300"/>
    <a:srgbClr val="33CC33"/>
    <a:srgbClr val="2D14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3D588097-0919-4BC6-9303-A704D2831E8D}" type="datetimeFigureOut">
              <a:rPr lang="en-US" smtClean="0"/>
              <a:pPr/>
              <a:t>8/30/2025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B81434A5-71EC-4741-B142-68F4FF2CA56A}" type="slidenum">
              <a:rPr lang="en-US" smtClean="0"/>
              <a:pPr/>
              <a:t>‹#›</a:t>
            </a:fld>
            <a:endParaRPr lang="en-US"/>
          </a:p>
        </p:txBody>
      </p:sp>
    </p:spTree>
    <p:extLst>
      <p:ext uri="{BB962C8B-B14F-4D97-AF65-F5344CB8AC3E}">
        <p14:creationId xmlns:p14="http://schemas.microsoft.com/office/powerpoint/2010/main" val="3338013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7"/>
          <p:cNvSpPr txBox="1">
            <a:spLocks noGrp="1" noChangeArrowheads="1"/>
          </p:cNvSpPr>
          <p:nvPr/>
        </p:nvSpPr>
        <p:spPr bwMode="auto">
          <a:xfrm>
            <a:off x="4153747" y="10036255"/>
            <a:ext cx="3176693" cy="528399"/>
          </a:xfrm>
          <a:prstGeom prst="rect">
            <a:avLst/>
          </a:prstGeom>
          <a:noFill/>
          <a:ln w="9525">
            <a:noFill/>
            <a:miter lim="800000"/>
            <a:headEnd/>
            <a:tailEnd/>
          </a:ln>
        </p:spPr>
        <p:txBody>
          <a:bodyPr lIns="102306" tIns="51153" rIns="102306" bIns="51153" anchor="b"/>
          <a:lstStyle/>
          <a:p>
            <a:pPr algn="r" defTabSz="1020313">
              <a:buClr>
                <a:srgbClr val="000000"/>
              </a:buClr>
            </a:pPr>
            <a:fld id="{80858C5B-47FB-42E5-BCA8-25173A393ACE}" type="slidenum">
              <a:rPr lang="zh-CN" altLang="zh-CN" sz="1400">
                <a:latin typeface="Calibri" pitchFamily="34" charset="0"/>
              </a:rPr>
              <a:pPr algn="r" defTabSz="1020313">
                <a:buClr>
                  <a:srgbClr val="000000"/>
                </a:buClr>
              </a:pPr>
              <a:t>2</a:t>
            </a:fld>
            <a:endParaRPr lang="en-US" altLang="zh-CN" sz="1400">
              <a:latin typeface="Calibri" pitchFamily="34"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latin typeface="Arial" pitchFamily="34" charset="0"/>
            </a:endParaRPr>
          </a:p>
        </p:txBody>
      </p:sp>
    </p:spTree>
    <p:extLst>
      <p:ext uri="{BB962C8B-B14F-4D97-AF65-F5344CB8AC3E}">
        <p14:creationId xmlns:p14="http://schemas.microsoft.com/office/powerpoint/2010/main" val="1414084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4C4D3C3D-8485-4101-AFA6-5EC4B59A17E7}" type="datetimeFigureOut">
              <a:rPr lang="en-US" smtClean="0"/>
              <a:pPr/>
              <a:t>8/30/2025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A068D5B4-EEC8-4FC7-B093-31C53D96C98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C4D3C3D-8485-4101-AFA6-5EC4B59A17E7}"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C4D3C3D-8485-4101-AFA6-5EC4B59A17E7}"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8D5B4-EEC8-4FC7-B093-31C53D96C98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C4D3C3D-8485-4101-AFA6-5EC4B59A17E7}" type="datetimeFigureOut">
              <a:rPr lang="en-US" smtClean="0"/>
              <a:pPr/>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C4D3C3D-8485-4101-AFA6-5EC4B59A17E7}" type="datetimeFigureOut">
              <a:rPr lang="en-US" smtClean="0"/>
              <a:pPr/>
              <a:t>8/30/2025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C4D3C3D-8485-4101-AFA6-5EC4B59A17E7}" type="datetimeFigureOut">
              <a:rPr lang="en-US" smtClean="0"/>
              <a:pPr/>
              <a:t>8/30/2025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D3C3D-8485-4101-AFA6-5EC4B59A17E7}" type="datetimeFigureOut">
              <a:rPr lang="en-US" smtClean="0"/>
              <a:pPr/>
              <a:t>8/30/2025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C4D3C3D-8485-4101-AFA6-5EC4B59A17E7}" type="datetimeFigureOut">
              <a:rPr lang="en-US" smtClean="0"/>
              <a:pPr/>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C4D3C3D-8485-4101-AFA6-5EC4B59A17E7}" type="datetimeFigureOut">
              <a:rPr lang="en-US" smtClean="0"/>
              <a:pPr/>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A068D5B4-EEC8-4FC7-B093-31C53D96C988}"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C4D3C3D-8485-4101-AFA6-5EC4B59A17E7}"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C4D3C3D-8485-4101-AFA6-5EC4B59A17E7}"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8D5B4-EEC8-4FC7-B093-31C53D96C98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C4D3C3D-8485-4101-AFA6-5EC4B59A17E7}" type="datetimeFigureOut">
              <a:rPr lang="en-US" smtClean="0"/>
              <a:pPr/>
              <a:t>8/30/2025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068D5B4-EEC8-4FC7-B093-31C53D96C988}"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hyperlink" Target="http://en.wikipedia.org/wiki/File:Fungi_of_Saskatchewan.JPG" TargetMode="External"/><Relationship Id="rId7" Type="http://schemas.openxmlformats.org/officeDocument/2006/relationships/hyperlink" Target="http://en.wikipedia.org/wiki/File:Blue_Linckia_Starfish.JPG"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en.wikipedia.org/wiki/File:Forest_fruits_from_Barro_Colorado.png" TargetMode="Externa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jpeg"/><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 Id="rId9" Type="http://schemas.openxmlformats.org/officeDocument/2006/relationships/image" Target="../media/image27.jpeg"/></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2286000"/>
            <a:ext cx="8077200" cy="1354217"/>
          </a:xfrm>
          <a:prstGeom prst="rect">
            <a:avLst/>
          </a:prstGeom>
        </p:spPr>
        <p:txBody>
          <a:bodyPr wrap="square">
            <a:spAutoFit/>
          </a:bodyPr>
          <a:lstStyle/>
          <a:p>
            <a:pPr algn="ctr">
              <a:defRPr/>
            </a:pPr>
            <a:r>
              <a:rPr lang="en-US" sz="3200" b="1" dirty="0" smtClean="0">
                <a:solidFill>
                  <a:srgbClr val="FF0000"/>
                </a:solidFill>
                <a:latin typeface="Cooper Black" pitchFamily="18" charset="0"/>
              </a:rPr>
              <a:t>BIODIVERSITY </a:t>
            </a:r>
            <a:r>
              <a:rPr lang="en-US" sz="3200" b="1" dirty="0" smtClean="0">
                <a:solidFill>
                  <a:srgbClr val="AD23AD"/>
                </a:solidFill>
                <a:latin typeface="Cooper Black" pitchFamily="18" charset="0"/>
              </a:rPr>
              <a:t>(P</a:t>
            </a:r>
            <a:r>
              <a:rPr lang="en-US" sz="3200" b="1" dirty="0" smtClean="0">
                <a:solidFill>
                  <a:srgbClr val="AD23AD"/>
                </a:solidFill>
              </a:rPr>
              <a:t>ART-2)</a:t>
            </a:r>
            <a:endParaRPr lang="en-US" sz="3200" b="1" dirty="0" smtClean="0">
              <a:solidFill>
                <a:srgbClr val="AD23AD"/>
              </a:solidFill>
              <a:latin typeface="Cooper Black" pitchFamily="18" charset="0"/>
            </a:endParaRPr>
          </a:p>
          <a:p>
            <a:pPr algn="ctr">
              <a:defRPr/>
            </a:pPr>
            <a:r>
              <a:rPr lang="en-US" sz="3200" b="1" dirty="0"/>
              <a:t>	</a:t>
            </a:r>
          </a:p>
          <a:p>
            <a:pPr algn="ctr">
              <a:defRPr/>
            </a:pPr>
            <a:r>
              <a:rPr lang="en-US" dirty="0"/>
              <a:t>	</a:t>
            </a:r>
          </a:p>
        </p:txBody>
      </p:sp>
      <p:sp>
        <p:nvSpPr>
          <p:cNvPr id="5" name="Rectangle 4"/>
          <p:cNvSpPr/>
          <p:nvPr/>
        </p:nvSpPr>
        <p:spPr>
          <a:xfrm>
            <a:off x="152400" y="5257803"/>
            <a:ext cx="4572000" cy="646331"/>
          </a:xfrm>
          <a:prstGeom prst="rect">
            <a:avLst/>
          </a:prstGeom>
        </p:spPr>
        <p:txBody>
          <a:bodyPr>
            <a:spAutoFit/>
          </a:bodyPr>
          <a:lstStyle/>
          <a:p>
            <a:pPr algn="just"/>
            <a:r>
              <a:rPr lang="en-US" altLang="en-US" b="1" dirty="0" smtClean="0">
                <a:latin typeface="Comic Sans MS" pitchFamily="66" charset="0"/>
              </a:rPr>
              <a:t>Department: Chemistry</a:t>
            </a:r>
          </a:p>
          <a:p>
            <a:pPr algn="just"/>
            <a:r>
              <a:rPr lang="en-US" altLang="en-US" b="1" dirty="0" smtClean="0">
                <a:latin typeface="Comic Sans MS" pitchFamily="66" charset="0"/>
              </a:rPr>
              <a:t>Subject: </a:t>
            </a:r>
            <a:r>
              <a:rPr lang="en-US" altLang="en-US" b="1" dirty="0" smtClean="0">
                <a:latin typeface="Comic Sans MS" pitchFamily="66" charset="0"/>
              </a:rPr>
              <a:t>MTES (CHM2049)</a:t>
            </a:r>
            <a:endParaRPr lang="en-US" altLang="en-US" b="1" dirty="0" smtClean="0">
              <a:latin typeface="Comic Sans MS" pitchFamily="66" charset="0"/>
            </a:endParaRPr>
          </a:p>
        </p:txBody>
      </p:sp>
      <p:pic>
        <p:nvPicPr>
          <p:cNvPr id="6" name="image1.png"/>
          <p:cNvPicPr>
            <a:picLocks noChangeAspect="1" noChangeArrowheads="1"/>
          </p:cNvPicPr>
          <p:nvPr/>
        </p:nvPicPr>
        <p:blipFill>
          <a:blip r:embed="rId2"/>
          <a:srcRect/>
          <a:stretch>
            <a:fillRect/>
          </a:stretch>
        </p:blipFill>
        <p:spPr bwMode="auto">
          <a:xfrm>
            <a:off x="7151270" y="76200"/>
            <a:ext cx="1992730" cy="1905000"/>
          </a:xfrm>
          <a:prstGeom prst="rect">
            <a:avLst/>
          </a:prstGeom>
          <a:noFill/>
          <a:ln w="9525">
            <a:noFill/>
            <a:miter lim="800000"/>
            <a:headEnd/>
            <a:tailEnd/>
          </a:ln>
        </p:spPr>
      </p:pic>
      <p:sp>
        <p:nvSpPr>
          <p:cNvPr id="8" name="Rectangle 7"/>
          <p:cNvSpPr/>
          <p:nvPr/>
        </p:nvSpPr>
        <p:spPr>
          <a:xfrm>
            <a:off x="380999" y="762002"/>
            <a:ext cx="7766635" cy="1754326"/>
          </a:xfrm>
          <a:prstGeom prst="rect">
            <a:avLst/>
          </a:prstGeom>
        </p:spPr>
        <p:txBody>
          <a:bodyPr wrap="square">
            <a:spAutoFit/>
          </a:bodyPr>
          <a:lstStyle/>
          <a:p>
            <a:pPr algn="ctr">
              <a:defRPr/>
            </a:pPr>
            <a:r>
              <a:rPr lang="en-US" sz="2800" b="1" dirty="0" smtClean="0">
                <a:solidFill>
                  <a:srgbClr val="D32BE5"/>
                </a:solidFill>
              </a:rPr>
              <a:t>(</a:t>
            </a:r>
            <a:r>
              <a:rPr lang="en-US" sz="2800" b="1" dirty="0">
                <a:solidFill>
                  <a:srgbClr val="FF0000"/>
                </a:solidFill>
              </a:rPr>
              <a:t>Management Topic in Environmental </a:t>
            </a:r>
            <a:r>
              <a:rPr lang="en-US" sz="2800" b="1" dirty="0" smtClean="0">
                <a:solidFill>
                  <a:srgbClr val="FF0000"/>
                </a:solidFill>
              </a:rPr>
              <a:t>Studies</a:t>
            </a:r>
            <a:r>
              <a:rPr lang="en-US" sz="2800" b="1" dirty="0" smtClean="0">
                <a:solidFill>
                  <a:srgbClr val="D32BE5"/>
                </a:solidFill>
              </a:rPr>
              <a:t>) </a:t>
            </a:r>
          </a:p>
          <a:p>
            <a:pPr algn="ctr">
              <a:defRPr/>
            </a:pPr>
            <a:r>
              <a:rPr lang="en-US" sz="2800" b="1" dirty="0" smtClean="0">
                <a:solidFill>
                  <a:srgbClr val="D32BE5"/>
                </a:solidFill>
              </a:rPr>
              <a:t>B</a:t>
            </a:r>
            <a:r>
              <a:rPr lang="en-US" sz="2800" b="1" dirty="0">
                <a:solidFill>
                  <a:srgbClr val="D32BE5"/>
                </a:solidFill>
              </a:rPr>
              <a:t>. </a:t>
            </a:r>
            <a:r>
              <a:rPr lang="en-US" sz="2800" b="1">
                <a:solidFill>
                  <a:srgbClr val="D32BE5"/>
                </a:solidFill>
              </a:rPr>
              <a:t>Tech </a:t>
            </a:r>
            <a:r>
              <a:rPr lang="en-US" sz="2800" b="1" smtClean="0">
                <a:solidFill>
                  <a:srgbClr val="D32BE5"/>
                </a:solidFill>
              </a:rPr>
              <a:t> </a:t>
            </a:r>
            <a:r>
              <a:rPr lang="en-US" sz="2800" b="1" dirty="0">
                <a:solidFill>
                  <a:srgbClr val="D32BE5"/>
                </a:solidFill>
              </a:rPr>
              <a:t>7</a:t>
            </a:r>
            <a:r>
              <a:rPr lang="en-US" sz="2800" b="1" baseline="30000" smtClean="0">
                <a:solidFill>
                  <a:srgbClr val="D32BE5"/>
                </a:solidFill>
              </a:rPr>
              <a:t>TH</a:t>
            </a:r>
            <a:r>
              <a:rPr lang="en-US" sz="2800" b="1" smtClean="0">
                <a:solidFill>
                  <a:srgbClr val="D32BE5"/>
                </a:solidFill>
              </a:rPr>
              <a:t> </a:t>
            </a:r>
            <a:r>
              <a:rPr lang="en-US" sz="2800" b="1" smtClean="0">
                <a:solidFill>
                  <a:srgbClr val="D32BE5"/>
                </a:solidFill>
              </a:rPr>
              <a:t> </a:t>
            </a:r>
            <a:r>
              <a:rPr lang="en-US" sz="2800" b="1" dirty="0" smtClean="0">
                <a:solidFill>
                  <a:srgbClr val="D32BE5"/>
                </a:solidFill>
              </a:rPr>
              <a:t>Semester</a:t>
            </a:r>
            <a:r>
              <a:rPr lang="en-US" sz="2800" dirty="0">
                <a:solidFill>
                  <a:srgbClr val="FF0000"/>
                </a:solidFill>
              </a:rPr>
              <a:t/>
            </a:r>
            <a:br>
              <a:rPr lang="en-US" sz="2800" dirty="0">
                <a:solidFill>
                  <a:srgbClr val="FF0000"/>
                </a:solidFill>
              </a:rPr>
            </a:br>
            <a:endParaRPr lang="en-US" sz="2400" dirty="0"/>
          </a:p>
        </p:txBody>
      </p:sp>
      <p:pic>
        <p:nvPicPr>
          <p:cNvPr id="9" name="Picture 4" descr="mhtml:file://D:\M.Tech.%20Course\Biodiversity\Biodiversity%20-%20M.Tech\Biodiversity%20-%20Wikipedia,%20the%20free%20encyclopedia.mht!http://upload.wikimedia.org/wikipedia/commons/thumb/f/f6/Fungi_of_Saskatchewan.JPG/250px-Fungi_of_Saskatchewan.JPG">
            <a:hlinkClick r:id="rId3"/>
          </p:cNvPr>
          <p:cNvPicPr>
            <a:picLocks noChangeAspect="1" noChangeArrowheads="1"/>
          </p:cNvPicPr>
          <p:nvPr/>
        </p:nvPicPr>
        <p:blipFill>
          <a:blip r:embed="rId4"/>
          <a:srcRect/>
          <a:stretch>
            <a:fillRect/>
          </a:stretch>
        </p:blipFill>
        <p:spPr bwMode="auto">
          <a:xfrm>
            <a:off x="228600" y="1752600"/>
            <a:ext cx="2133600" cy="286809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Picture 6" descr="mhtml:file://D:\M.Tech.%20Course\Biodiversity\Biodiversity%20-%20M.Tech\Biodiversity%20-%20Wikipedia,%20the%20free%20encyclopedia.mht!http://upload.wikimedia.org/wikipedia/commons/thumb/b/b5/Forest_fruits_from_Barro_Colorado.png/200px-Forest_fruits_from_Barro_Colorado.png">
            <a:hlinkClick r:id="rId5"/>
          </p:cNvPr>
          <p:cNvPicPr>
            <a:picLocks noChangeAspect="1" noChangeArrowheads="1"/>
          </p:cNvPicPr>
          <p:nvPr/>
        </p:nvPicPr>
        <p:blipFill>
          <a:blip r:embed="rId6"/>
          <a:srcRect/>
          <a:stretch>
            <a:fillRect/>
          </a:stretch>
        </p:blipFill>
        <p:spPr bwMode="auto">
          <a:xfrm>
            <a:off x="4800600" y="3429000"/>
            <a:ext cx="2057400" cy="302409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 name="Picture 2" descr="mhtml:file://D:\M.Tech.%20Course\Biodiversity\Biodiversity%20-%20M.Tech\Biodiversity%20-%20Wikipedia,%20the%20free%20encyclopedia.mht!http://upload.wikimedia.org/wikipedia/commons/thumb/7/76/Blue_Linckia_Starfish.JPG/275px-Blue_Linckia_Starfish.JPG">
            <a:hlinkClick r:id="rId7"/>
          </p:cNvPr>
          <p:cNvPicPr>
            <a:picLocks noChangeAspect="1" noChangeArrowheads="1"/>
          </p:cNvPicPr>
          <p:nvPr/>
        </p:nvPicPr>
        <p:blipFill>
          <a:blip r:embed="rId8"/>
          <a:srcRect/>
          <a:stretch>
            <a:fillRect/>
          </a:stretch>
        </p:blipFill>
        <p:spPr bwMode="auto">
          <a:xfrm>
            <a:off x="6845371" y="3276600"/>
            <a:ext cx="2298629" cy="319246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ChangeArrowheads="1"/>
          </p:cNvSpPr>
          <p:nvPr/>
        </p:nvSpPr>
        <p:spPr bwMode="auto">
          <a:xfrm>
            <a:off x="1660526" y="722314"/>
            <a:ext cx="184731" cy="369332"/>
          </a:xfrm>
          <a:prstGeom prst="rect">
            <a:avLst/>
          </a:prstGeom>
          <a:noFill/>
          <a:ln w="9525">
            <a:noFill/>
            <a:miter lim="800000"/>
            <a:headEnd/>
            <a:tailEnd/>
          </a:ln>
        </p:spPr>
        <p:txBody>
          <a:bodyPr wrap="none">
            <a:spAutoFit/>
          </a:bodyPr>
          <a:lstStyle/>
          <a:p>
            <a:pPr eaLnBrk="1" hangingPunct="1">
              <a:buClr>
                <a:srgbClr val="000000"/>
              </a:buClr>
              <a:buSzPct val="100000"/>
            </a:pPr>
            <a:endParaRPr lang="zh-CN" altLang="en-US">
              <a:latin typeface="Century Schoolbook" pitchFamily="18" charset="0"/>
            </a:endParaRPr>
          </a:p>
        </p:txBody>
      </p:sp>
      <p:sp>
        <p:nvSpPr>
          <p:cNvPr id="15364" name="AutoShape 4"/>
          <p:cNvSpPr>
            <a:spLocks noChangeArrowheads="1"/>
          </p:cNvSpPr>
          <p:nvPr/>
        </p:nvSpPr>
        <p:spPr bwMode="auto">
          <a:xfrm rot="5400000" flipH="1">
            <a:off x="-2016918" y="2248695"/>
            <a:ext cx="4032250" cy="32242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w="9525">
            <a:noFill/>
            <a:miter lim="800000"/>
            <a:headEnd/>
            <a:tailEnd/>
          </a:ln>
        </p:spPr>
        <p:txBody>
          <a:bodyPr rot="10800000" vert="eaVert"/>
          <a:lstStyle/>
          <a:p>
            <a:endParaRPr lang="en-US"/>
          </a:p>
        </p:txBody>
      </p:sp>
      <p:sp>
        <p:nvSpPr>
          <p:cNvPr id="15365" name="AutoShape 5"/>
          <p:cNvSpPr>
            <a:spLocks noChangeArrowheads="1"/>
          </p:cNvSpPr>
          <p:nvPr/>
        </p:nvSpPr>
        <p:spPr bwMode="auto">
          <a:xfrm>
            <a:off x="2362200" y="2971800"/>
            <a:ext cx="6781800" cy="1644610"/>
          </a:xfrm>
          <a:prstGeom prst="roundRect">
            <a:avLst>
              <a:gd name="adj" fmla="val 50000"/>
            </a:avLst>
          </a:prstGeom>
          <a:noFill/>
          <a:ln w="28575">
            <a:solidFill>
              <a:schemeClr val="bg2"/>
            </a:solidFill>
            <a:round/>
            <a:headEnd/>
            <a:tailEnd/>
          </a:ln>
        </p:spPr>
        <p:txBody>
          <a:bodyPr wrap="square" lIns="0" rIns="0" anchor="ctr">
            <a:spAutoFit/>
          </a:bodyPr>
          <a:lstStyle/>
          <a:p>
            <a:pPr algn="just">
              <a:buClr>
                <a:srgbClr val="000000"/>
              </a:buClr>
              <a:buSzPct val="100000"/>
            </a:pPr>
            <a:r>
              <a:rPr lang="en-US" sz="2800" dirty="0" smtClean="0"/>
              <a:t>Red Data Book Classification of Wildlife</a:t>
            </a:r>
          </a:p>
          <a:p>
            <a:pPr algn="just">
              <a:buClr>
                <a:srgbClr val="000000"/>
              </a:buClr>
              <a:buSzPct val="100000"/>
            </a:pPr>
            <a:endParaRPr lang="en-US" sz="2400" dirty="0" smtClean="0"/>
          </a:p>
          <a:p>
            <a:pPr lvl="0" algn="just">
              <a:buClr>
                <a:srgbClr val="000000"/>
              </a:buClr>
              <a:buSzPct val="100000"/>
            </a:pPr>
            <a:endParaRPr lang="en-US" b="1" dirty="0" smtClean="0"/>
          </a:p>
        </p:txBody>
      </p:sp>
      <p:sp>
        <p:nvSpPr>
          <p:cNvPr id="15368" name="AutoShape 8"/>
          <p:cNvSpPr>
            <a:spLocks noChangeArrowheads="1"/>
          </p:cNvSpPr>
          <p:nvPr/>
        </p:nvSpPr>
        <p:spPr bwMode="auto">
          <a:xfrm>
            <a:off x="1524000" y="762000"/>
            <a:ext cx="6096000" cy="1358503"/>
          </a:xfrm>
          <a:prstGeom prst="roundRect">
            <a:avLst>
              <a:gd name="adj" fmla="val 36116"/>
            </a:avLst>
          </a:prstGeom>
          <a:noFill/>
          <a:ln w="28575">
            <a:solidFill>
              <a:schemeClr val="bg2"/>
            </a:solidFill>
            <a:round/>
            <a:headEnd/>
            <a:tailEnd/>
          </a:ln>
        </p:spPr>
        <p:txBody>
          <a:bodyPr wrap="square" lIns="0" rIns="0" anchor="ctr">
            <a:spAutoFit/>
          </a:bodyPr>
          <a:lstStyle/>
          <a:p>
            <a:pPr lvl="0" algn="just">
              <a:buClr>
                <a:srgbClr val="000000"/>
              </a:buClr>
              <a:buSzPct val="100000"/>
            </a:pPr>
            <a:r>
              <a:rPr lang="en-US" sz="2800" dirty="0" smtClean="0"/>
              <a:t>Threats to Biodiversity</a:t>
            </a:r>
          </a:p>
          <a:p>
            <a:pPr algn="just">
              <a:buClr>
                <a:srgbClr val="000000"/>
              </a:buClr>
              <a:buSzPct val="100000"/>
            </a:pPr>
            <a:endParaRPr lang="en-US" b="1" dirty="0" smtClean="0">
              <a:solidFill>
                <a:srgbClr val="D32BE5"/>
              </a:solidFill>
            </a:endParaRPr>
          </a:p>
          <a:p>
            <a:pPr algn="just">
              <a:buClr>
                <a:srgbClr val="000000"/>
              </a:buClr>
              <a:buSzPct val="100000"/>
            </a:pPr>
            <a:endParaRPr lang="en-US" altLang="zh-CN" b="1" dirty="0">
              <a:solidFill>
                <a:srgbClr val="D32BE5"/>
              </a:solidFill>
              <a:latin typeface="Century Schoolbook" pitchFamily="18" charset="0"/>
              <a:ea typeface="SimHei" pitchFamily="49" charset="-122"/>
            </a:endParaRPr>
          </a:p>
        </p:txBody>
      </p:sp>
      <p:sp>
        <p:nvSpPr>
          <p:cNvPr id="6153" name="AutoShape 9"/>
          <p:cNvSpPr>
            <a:spLocks noChangeArrowheads="1"/>
          </p:cNvSpPr>
          <p:nvPr/>
        </p:nvSpPr>
        <p:spPr bwMode="auto">
          <a:xfrm rot="5400000">
            <a:off x="-2590800" y="1362076"/>
            <a:ext cx="5181600" cy="4600576"/>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noFill/>
            <a:miter lim="800000"/>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grpSp>
        <p:nvGrpSpPr>
          <p:cNvPr id="2" name="Group 10"/>
          <p:cNvGrpSpPr>
            <a:grpSpLocks/>
          </p:cNvGrpSpPr>
          <p:nvPr/>
        </p:nvGrpSpPr>
        <p:grpSpPr bwMode="auto">
          <a:xfrm>
            <a:off x="762000" y="1219200"/>
            <a:ext cx="366713" cy="381000"/>
            <a:chOff x="785" y="1175"/>
            <a:chExt cx="231" cy="240"/>
          </a:xfrm>
        </p:grpSpPr>
        <p:sp>
          <p:nvSpPr>
            <p:cNvPr id="15418" name="Oval 11"/>
            <p:cNvSpPr>
              <a:spLocks noChangeArrowheads="1"/>
            </p:cNvSpPr>
            <p:nvPr/>
          </p:nvSpPr>
          <p:spPr bwMode="auto">
            <a:xfrm>
              <a:off x="785" y="1175"/>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19" name="Oval 12"/>
            <p:cNvSpPr>
              <a:spLocks noChangeArrowheads="1"/>
            </p:cNvSpPr>
            <p:nvPr/>
          </p:nvSpPr>
          <p:spPr bwMode="auto">
            <a:xfrm>
              <a:off x="798" y="1189"/>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57" name="Oval 13"/>
            <p:cNvSpPr>
              <a:spLocks noChangeArrowheads="1"/>
            </p:cNvSpPr>
            <p:nvPr/>
          </p:nvSpPr>
          <p:spPr bwMode="auto">
            <a:xfrm>
              <a:off x="810" y="1201"/>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21" name="Oval 14"/>
            <p:cNvSpPr>
              <a:spLocks noChangeArrowheads="1"/>
            </p:cNvSpPr>
            <p:nvPr/>
          </p:nvSpPr>
          <p:spPr bwMode="auto">
            <a:xfrm>
              <a:off x="810" y="1201"/>
              <a:ext cx="181" cy="188"/>
            </a:xfrm>
            <a:prstGeom prst="ellipse">
              <a:avLst/>
            </a:prstGeom>
            <a:gradFill rotWithShape="1">
              <a:gsLst>
                <a:gs pos="0">
                  <a:srgbClr val="000000"/>
                </a:gs>
                <a:gs pos="100000">
                  <a:srgbClr val="FFCC00"/>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59" name="Oval 15"/>
            <p:cNvSpPr>
              <a:spLocks noChangeArrowheads="1"/>
            </p:cNvSpPr>
            <p:nvPr/>
          </p:nvSpPr>
          <p:spPr bwMode="auto">
            <a:xfrm>
              <a:off x="822" y="1213"/>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23" name="Oval 16"/>
            <p:cNvSpPr>
              <a:spLocks noChangeArrowheads="1"/>
            </p:cNvSpPr>
            <p:nvPr/>
          </p:nvSpPr>
          <p:spPr bwMode="auto">
            <a:xfrm>
              <a:off x="822" y="1213"/>
              <a:ext cx="157" cy="164"/>
            </a:xfrm>
            <a:prstGeom prst="ellipse">
              <a:avLst/>
            </a:prstGeom>
            <a:gradFill rotWithShape="1">
              <a:gsLst>
                <a:gs pos="0">
                  <a:srgbClr val="FFCC00"/>
                </a:gs>
                <a:gs pos="100000">
                  <a:srgbClr val="7C6300"/>
                </a:gs>
              </a:gsLst>
              <a:lin ang="2700000" scaled="1"/>
            </a:gradFill>
            <a:ln w="38100">
              <a:solidFill>
                <a:srgbClr val="99FF33"/>
              </a:solidFill>
              <a:round/>
              <a:headEnd/>
              <a:tailEnd/>
            </a:ln>
          </p:spPr>
          <p:txBody>
            <a:bodyPr/>
            <a:lstStyle/>
            <a:p>
              <a:pPr eaLnBrk="1" hangingPunct="1">
                <a:buClr>
                  <a:srgbClr val="000000"/>
                </a:buClr>
                <a:buSzPct val="100000"/>
              </a:pPr>
              <a:endParaRPr lang="zh-CN" altLang="en-US">
                <a:solidFill>
                  <a:srgbClr val="00B0F0"/>
                </a:solidFill>
                <a:latin typeface="Century Schoolbook" pitchFamily="18" charset="0"/>
              </a:endParaRPr>
            </a:p>
          </p:txBody>
        </p:sp>
      </p:grpSp>
      <p:grpSp>
        <p:nvGrpSpPr>
          <p:cNvPr id="3" name="Group 31"/>
          <p:cNvGrpSpPr>
            <a:grpSpLocks/>
          </p:cNvGrpSpPr>
          <p:nvPr/>
        </p:nvGrpSpPr>
        <p:grpSpPr bwMode="auto">
          <a:xfrm>
            <a:off x="1905000" y="3048000"/>
            <a:ext cx="366713" cy="381000"/>
            <a:chOff x="567" y="3612"/>
            <a:chExt cx="231" cy="240"/>
          </a:xfrm>
        </p:grpSpPr>
        <p:sp>
          <p:nvSpPr>
            <p:cNvPr id="15406"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07"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78"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9"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80"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1"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15373" name="AutoShape 8"/>
          <p:cNvSpPr>
            <a:spLocks noChangeArrowheads="1"/>
          </p:cNvSpPr>
          <p:nvPr/>
        </p:nvSpPr>
        <p:spPr bwMode="auto">
          <a:xfrm>
            <a:off x="2286000" y="3733801"/>
            <a:ext cx="5643562" cy="1298377"/>
          </a:xfrm>
          <a:prstGeom prst="roundRect">
            <a:avLst>
              <a:gd name="adj" fmla="val 50000"/>
            </a:avLst>
          </a:prstGeom>
          <a:noFill/>
          <a:ln w="28575">
            <a:solidFill>
              <a:schemeClr val="bg2"/>
            </a:solidFill>
            <a:round/>
            <a:headEnd/>
            <a:tailEnd/>
          </a:ln>
        </p:spPr>
        <p:txBody>
          <a:bodyPr wrap="square" lIns="0" rIns="0" anchor="ctr">
            <a:spAutoFit/>
          </a:bodyPr>
          <a:lstStyle/>
          <a:p>
            <a:pPr algn="just">
              <a:buClr>
                <a:srgbClr val="000000"/>
              </a:buClr>
              <a:buSzPct val="100000"/>
            </a:pPr>
            <a:r>
              <a:rPr lang="en-US" b="1" dirty="0" smtClean="0">
                <a:solidFill>
                  <a:srgbClr val="D32BE5"/>
                </a:solidFill>
              </a:rPr>
              <a:t> </a:t>
            </a:r>
            <a:endParaRPr lang="en-US" b="1" dirty="0" smtClean="0"/>
          </a:p>
          <a:p>
            <a:pPr lvl="0" algn="just">
              <a:buClr>
                <a:srgbClr val="000000"/>
              </a:buClr>
              <a:buSzPct val="100000"/>
            </a:pPr>
            <a:endParaRPr lang="en-US" b="1" dirty="0" smtClean="0"/>
          </a:p>
          <a:p>
            <a:pPr algn="just">
              <a:buClr>
                <a:srgbClr val="000000"/>
              </a:buClr>
              <a:buSzPct val="100000"/>
            </a:pPr>
            <a:endParaRPr lang="en-US" b="1" dirty="0" smtClean="0">
              <a:solidFill>
                <a:srgbClr val="7030A0"/>
              </a:solidFill>
            </a:endParaRPr>
          </a:p>
        </p:txBody>
      </p:sp>
      <p:grpSp>
        <p:nvGrpSpPr>
          <p:cNvPr id="4" name="Group 17"/>
          <p:cNvGrpSpPr>
            <a:grpSpLocks/>
          </p:cNvGrpSpPr>
          <p:nvPr/>
        </p:nvGrpSpPr>
        <p:grpSpPr bwMode="auto">
          <a:xfrm>
            <a:off x="1600200" y="2362200"/>
            <a:ext cx="366713" cy="381000"/>
            <a:chOff x="1202" y="2024"/>
            <a:chExt cx="231" cy="240"/>
          </a:xfrm>
        </p:grpSpPr>
        <p:sp>
          <p:nvSpPr>
            <p:cNvPr id="15400"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01"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3"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3"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5"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solidFill>
                <a:srgbClr val="FFFF00"/>
              </a:solid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5" name="Group 10"/>
          <p:cNvGrpSpPr>
            <a:grpSpLocks/>
          </p:cNvGrpSpPr>
          <p:nvPr/>
        </p:nvGrpSpPr>
        <p:grpSpPr bwMode="auto">
          <a:xfrm>
            <a:off x="1828800" y="4114800"/>
            <a:ext cx="366713" cy="381000"/>
            <a:chOff x="785" y="1175"/>
            <a:chExt cx="231" cy="240"/>
          </a:xfrm>
        </p:grpSpPr>
        <p:sp>
          <p:nvSpPr>
            <p:cNvPr id="15388" name="Oval 11"/>
            <p:cNvSpPr>
              <a:spLocks noChangeArrowheads="1"/>
            </p:cNvSpPr>
            <p:nvPr/>
          </p:nvSpPr>
          <p:spPr bwMode="auto">
            <a:xfrm>
              <a:off x="785" y="1175"/>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89" name="Oval 12"/>
            <p:cNvSpPr>
              <a:spLocks noChangeArrowheads="1"/>
            </p:cNvSpPr>
            <p:nvPr/>
          </p:nvSpPr>
          <p:spPr bwMode="auto">
            <a:xfrm>
              <a:off x="798" y="1189"/>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7" name="Oval 13"/>
            <p:cNvSpPr>
              <a:spLocks noChangeArrowheads="1"/>
            </p:cNvSpPr>
            <p:nvPr/>
          </p:nvSpPr>
          <p:spPr bwMode="auto">
            <a:xfrm>
              <a:off x="810" y="1201"/>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1" name="Oval 14"/>
            <p:cNvSpPr>
              <a:spLocks noChangeArrowheads="1"/>
            </p:cNvSpPr>
            <p:nvPr/>
          </p:nvSpPr>
          <p:spPr bwMode="auto">
            <a:xfrm>
              <a:off x="810" y="1201"/>
              <a:ext cx="181" cy="188"/>
            </a:xfrm>
            <a:prstGeom prst="ellipse">
              <a:avLst/>
            </a:prstGeom>
            <a:gradFill rotWithShape="1">
              <a:gsLst>
                <a:gs pos="0">
                  <a:srgbClr val="000000"/>
                </a:gs>
                <a:gs pos="100000">
                  <a:srgbClr val="FFCC00"/>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9" name="Oval 15"/>
            <p:cNvSpPr>
              <a:spLocks noChangeArrowheads="1"/>
            </p:cNvSpPr>
            <p:nvPr/>
          </p:nvSpPr>
          <p:spPr bwMode="auto">
            <a:xfrm>
              <a:off x="822" y="1213"/>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3" name="Oval 16"/>
            <p:cNvSpPr>
              <a:spLocks noChangeArrowheads="1"/>
            </p:cNvSpPr>
            <p:nvPr/>
          </p:nvSpPr>
          <p:spPr bwMode="auto">
            <a:xfrm>
              <a:off x="822" y="1213"/>
              <a:ext cx="157" cy="164"/>
            </a:xfrm>
            <a:prstGeom prst="ellipse">
              <a:avLst/>
            </a:prstGeom>
            <a:gradFill rotWithShape="1">
              <a:gsLst>
                <a:gs pos="0">
                  <a:srgbClr val="FFCC00"/>
                </a:gs>
                <a:gs pos="100000">
                  <a:srgbClr val="7C6300"/>
                </a:gs>
              </a:gsLst>
              <a:lin ang="2700000" scaled="1"/>
            </a:gradFill>
            <a:ln w="38100">
              <a:solidFill>
                <a:srgbClr val="99FF33"/>
              </a:solidFill>
              <a:round/>
              <a:headEnd/>
              <a:tailEnd/>
            </a:ln>
          </p:spPr>
          <p:txBody>
            <a:bodyPr/>
            <a:lstStyle/>
            <a:p>
              <a:pPr eaLnBrk="1" hangingPunct="1">
                <a:buClr>
                  <a:srgbClr val="000000"/>
                </a:buClr>
                <a:buSzPct val="100000"/>
              </a:pPr>
              <a:endParaRPr lang="zh-CN" altLang="en-US">
                <a:solidFill>
                  <a:srgbClr val="00B0F0"/>
                </a:solidFill>
                <a:latin typeface="Century Schoolbook" pitchFamily="18" charset="0"/>
              </a:endParaRPr>
            </a:p>
          </p:txBody>
        </p:sp>
      </p:grpSp>
      <p:grpSp>
        <p:nvGrpSpPr>
          <p:cNvPr id="6" name="Group 31"/>
          <p:cNvGrpSpPr>
            <a:grpSpLocks/>
          </p:cNvGrpSpPr>
          <p:nvPr/>
        </p:nvGrpSpPr>
        <p:grpSpPr bwMode="auto">
          <a:xfrm>
            <a:off x="1143000" y="5257800"/>
            <a:ext cx="366713" cy="381000"/>
            <a:chOff x="567" y="3612"/>
            <a:chExt cx="231" cy="240"/>
          </a:xfrm>
        </p:grpSpPr>
        <p:sp>
          <p:nvSpPr>
            <p:cNvPr id="15382"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83"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84"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85"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86"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87"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73" name="AutoShape 8"/>
          <p:cNvSpPr>
            <a:spLocks noChangeArrowheads="1"/>
          </p:cNvSpPr>
          <p:nvPr/>
        </p:nvSpPr>
        <p:spPr bwMode="auto">
          <a:xfrm>
            <a:off x="2057400" y="2057400"/>
            <a:ext cx="5970588" cy="959584"/>
          </a:xfrm>
          <a:prstGeom prst="roundRect">
            <a:avLst>
              <a:gd name="adj" fmla="val 24282"/>
            </a:avLst>
          </a:prstGeom>
          <a:noFill/>
          <a:ln w="28575">
            <a:solidFill>
              <a:schemeClr val="bg2"/>
            </a:solidFill>
            <a:round/>
            <a:headEnd/>
            <a:tailEnd/>
          </a:ln>
        </p:spPr>
        <p:txBody>
          <a:bodyPr lIns="0" rIns="0" anchor="ctr">
            <a:spAutoFit/>
          </a:bodyPr>
          <a:lstStyle/>
          <a:p>
            <a:pPr lvl="0"/>
            <a:r>
              <a:rPr lang="en-US" sz="2800" b="1" dirty="0" smtClean="0">
                <a:solidFill>
                  <a:srgbClr val="D32BE5"/>
                </a:solidFill>
              </a:rPr>
              <a:t> </a:t>
            </a:r>
          </a:p>
          <a:p>
            <a:endParaRPr lang="en-US" altLang="zh-CN" sz="2000" b="1" dirty="0">
              <a:solidFill>
                <a:srgbClr val="D32BE5"/>
              </a:solidFill>
              <a:latin typeface="Century Schoolbook" pitchFamily="18" charset="0"/>
            </a:endParaRPr>
          </a:p>
        </p:txBody>
      </p:sp>
      <p:sp>
        <p:nvSpPr>
          <p:cNvPr id="76" name="Rectangle 75"/>
          <p:cNvSpPr/>
          <p:nvPr/>
        </p:nvSpPr>
        <p:spPr>
          <a:xfrm>
            <a:off x="2209800" y="2209800"/>
            <a:ext cx="6298840" cy="800219"/>
          </a:xfrm>
          <a:prstGeom prst="rect">
            <a:avLst/>
          </a:prstGeom>
        </p:spPr>
        <p:txBody>
          <a:bodyPr wrap="none">
            <a:spAutoFit/>
          </a:bodyPr>
          <a:lstStyle/>
          <a:p>
            <a:r>
              <a:rPr lang="en-US" sz="2800" dirty="0" smtClean="0"/>
              <a:t>Endangered and Endemic  Species in India</a:t>
            </a:r>
          </a:p>
          <a:p>
            <a:endParaRPr lang="en-US" b="1" dirty="0" smtClean="0"/>
          </a:p>
        </p:txBody>
      </p:sp>
      <p:sp>
        <p:nvSpPr>
          <p:cNvPr id="78" name="Rectangle 77"/>
          <p:cNvSpPr/>
          <p:nvPr/>
        </p:nvSpPr>
        <p:spPr>
          <a:xfrm>
            <a:off x="2514600" y="4114800"/>
            <a:ext cx="4265398" cy="800219"/>
          </a:xfrm>
          <a:prstGeom prst="rect">
            <a:avLst/>
          </a:prstGeom>
        </p:spPr>
        <p:txBody>
          <a:bodyPr wrap="none">
            <a:spAutoFit/>
          </a:bodyPr>
          <a:lstStyle/>
          <a:p>
            <a:r>
              <a:rPr lang="en-US" sz="2800" dirty="0" smtClean="0"/>
              <a:t>Conservation of Biodiversity</a:t>
            </a:r>
          </a:p>
          <a:p>
            <a:pPr lvl="0"/>
            <a:r>
              <a:rPr lang="en-US" b="1" dirty="0" smtClean="0">
                <a:solidFill>
                  <a:srgbClr val="D32BE5"/>
                </a:solidFill>
              </a:rPr>
              <a:t> </a:t>
            </a:r>
            <a:endParaRPr lang="en-US" b="1" dirty="0"/>
          </a:p>
        </p:txBody>
      </p:sp>
      <p:sp>
        <p:nvSpPr>
          <p:cNvPr id="75" name="Rectangle 74"/>
          <p:cNvSpPr/>
          <p:nvPr/>
        </p:nvSpPr>
        <p:spPr>
          <a:xfrm>
            <a:off x="2895600" y="152400"/>
            <a:ext cx="2601033" cy="769441"/>
          </a:xfrm>
          <a:prstGeom prst="rect">
            <a:avLst/>
          </a:prstGeom>
        </p:spPr>
        <p:txBody>
          <a:bodyPr wrap="none">
            <a:spAutoFit/>
          </a:bodyPr>
          <a:lstStyle/>
          <a:p>
            <a:r>
              <a:rPr lang="en-US" altLang="zh-CN" sz="4400" b="1" dirty="0" smtClean="0">
                <a:solidFill>
                  <a:srgbClr val="D32BE5"/>
                </a:solidFill>
                <a:effectLst>
                  <a:outerShdw blurRad="38100" dist="38100" dir="2700000" algn="tl">
                    <a:srgbClr val="000000">
                      <a:alpha val="43137"/>
                    </a:srgbClr>
                  </a:outerShdw>
                </a:effectLst>
                <a:ea typeface="黑体" pitchFamily="49" charset="-122"/>
                <a:cs typeface="Arial" pitchFamily="34" charset="0"/>
              </a:rPr>
              <a:t>Contents</a:t>
            </a:r>
            <a:endParaRPr lang="en-US" sz="4400" dirty="0"/>
          </a:p>
        </p:txBody>
      </p:sp>
      <p:sp>
        <p:nvSpPr>
          <p:cNvPr id="82" name="AutoShape 8"/>
          <p:cNvSpPr>
            <a:spLocks noChangeArrowheads="1"/>
          </p:cNvSpPr>
          <p:nvPr/>
        </p:nvSpPr>
        <p:spPr bwMode="auto">
          <a:xfrm>
            <a:off x="1905000" y="5045452"/>
            <a:ext cx="5970588" cy="1314986"/>
          </a:xfrm>
          <a:prstGeom prst="roundRect">
            <a:avLst>
              <a:gd name="adj" fmla="val 24282"/>
            </a:avLst>
          </a:prstGeom>
          <a:noFill/>
          <a:ln w="28575">
            <a:solidFill>
              <a:schemeClr val="bg2"/>
            </a:solidFill>
            <a:round/>
            <a:headEnd/>
            <a:tailEnd/>
          </a:ln>
        </p:spPr>
        <p:txBody>
          <a:bodyPr lIns="0" rIns="0" anchor="ctr">
            <a:spAutoFit/>
          </a:bodyPr>
          <a:lstStyle/>
          <a:p>
            <a:r>
              <a:rPr lang="en-US" sz="2800" b="1" dirty="0" smtClean="0">
                <a:solidFill>
                  <a:srgbClr val="D32BE5"/>
                </a:solidFill>
              </a:rPr>
              <a:t> </a:t>
            </a:r>
            <a:endParaRPr lang="en-US" sz="2800" b="1" dirty="0" smtClean="0"/>
          </a:p>
          <a:p>
            <a:pPr lvl="0"/>
            <a:r>
              <a:rPr lang="en-US" sz="2000" b="1" dirty="0" smtClean="0">
                <a:solidFill>
                  <a:srgbClr val="3333FF"/>
                </a:solidFill>
              </a:rPr>
              <a:t> </a:t>
            </a:r>
            <a:endParaRPr lang="en-US" sz="2000" b="1" dirty="0" smtClean="0"/>
          </a:p>
          <a:p>
            <a:endParaRPr lang="en-US" altLang="zh-CN" sz="2000" b="1" dirty="0">
              <a:solidFill>
                <a:srgbClr val="7030A0"/>
              </a:solidFill>
              <a:latin typeface="Century Schoolbook" pitchFamily="18" charset="0"/>
            </a:endParaRPr>
          </a:p>
        </p:txBody>
      </p:sp>
      <p:sp>
        <p:nvSpPr>
          <p:cNvPr id="70" name="Rectangle 69"/>
          <p:cNvSpPr/>
          <p:nvPr/>
        </p:nvSpPr>
        <p:spPr>
          <a:xfrm>
            <a:off x="1752600" y="5257800"/>
            <a:ext cx="6400800" cy="954107"/>
          </a:xfrm>
          <a:prstGeom prst="rect">
            <a:avLst/>
          </a:prstGeom>
        </p:spPr>
        <p:txBody>
          <a:bodyPr wrap="square">
            <a:spAutoFit/>
          </a:bodyPr>
          <a:lstStyle/>
          <a:p>
            <a:pPr algn="just"/>
            <a:r>
              <a:rPr lang="en-US" sz="2800" dirty="0" smtClean="0"/>
              <a:t>Organizations Working for  Protection of Biodiversity </a:t>
            </a:r>
          </a:p>
        </p:txBody>
      </p:sp>
      <p:pic>
        <p:nvPicPr>
          <p:cNvPr id="74" name="Picture 2" descr="C:\Users\NARESH\Desktop\Environmental study part 2 AKV\BIODIVERSITY PPT\presentation-of-biodiversity-10-638.jpg"/>
          <p:cNvPicPr>
            <a:picLocks noChangeAspect="1" noChangeArrowheads="1"/>
          </p:cNvPicPr>
          <p:nvPr/>
        </p:nvPicPr>
        <p:blipFill>
          <a:blip r:embed="rId3"/>
          <a:srcRect/>
          <a:stretch>
            <a:fillRect/>
          </a:stretch>
        </p:blipFill>
        <p:spPr bwMode="auto">
          <a:xfrm>
            <a:off x="6207018" y="0"/>
            <a:ext cx="2936982" cy="2205038"/>
          </a:xfrm>
          <a:prstGeom prst="rect">
            <a:avLst/>
          </a:prstGeom>
          <a:noFill/>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NARESH\Desktop\Environmental study part 2 AKV\BIODIVERSITY PPT\biodiversity-3-638.jpg"/>
          <p:cNvPicPr>
            <a:picLocks noChangeAspect="1" noChangeArrowheads="1"/>
          </p:cNvPicPr>
          <p:nvPr/>
        </p:nvPicPr>
        <p:blipFill>
          <a:blip r:embed="rId2"/>
          <a:srcRect t="30063" b="10021"/>
          <a:stretch>
            <a:fillRect/>
          </a:stretch>
        </p:blipFill>
        <p:spPr bwMode="auto">
          <a:xfrm>
            <a:off x="-1" y="2057400"/>
            <a:ext cx="7623019" cy="2971800"/>
          </a:xfrm>
          <a:prstGeom prst="rect">
            <a:avLst/>
          </a:prstGeom>
          <a:noFill/>
        </p:spPr>
      </p:pic>
      <p:pic>
        <p:nvPicPr>
          <p:cNvPr id="3075" name="Picture 3" descr="C:\Users\NARESH\Desktop\Environmental study part 2 AKV\BIODIVERSITY PPT\ppt-of-biodiversity-1-638.jpg"/>
          <p:cNvPicPr>
            <a:picLocks noChangeAspect="1" noChangeArrowheads="1"/>
          </p:cNvPicPr>
          <p:nvPr/>
        </p:nvPicPr>
        <p:blipFill>
          <a:blip r:embed="rId3"/>
          <a:srcRect/>
          <a:stretch>
            <a:fillRect/>
          </a:stretch>
        </p:blipFill>
        <p:spPr bwMode="auto">
          <a:xfrm>
            <a:off x="5638800" y="1"/>
            <a:ext cx="3352800" cy="1981200"/>
          </a:xfrm>
          <a:prstGeom prst="rect">
            <a:avLst/>
          </a:prstGeom>
          <a:noFill/>
        </p:spPr>
      </p:pic>
      <p:sp>
        <p:nvSpPr>
          <p:cNvPr id="6" name="Rectangle 5"/>
          <p:cNvSpPr/>
          <p:nvPr/>
        </p:nvSpPr>
        <p:spPr>
          <a:xfrm>
            <a:off x="0" y="5334000"/>
            <a:ext cx="9144000" cy="923330"/>
          </a:xfrm>
          <a:prstGeom prst="rect">
            <a:avLst/>
          </a:prstGeom>
          <a:solidFill>
            <a:srgbClr val="FFFF00"/>
          </a:solidFill>
        </p:spPr>
        <p:txBody>
          <a:bodyPr wrap="square">
            <a:spAutoFit/>
          </a:bodyPr>
          <a:lstStyle/>
          <a:p>
            <a:r>
              <a:rPr lang="en-IN" b="1" dirty="0" smtClean="0"/>
              <a:t>Biodiversity: It is concerned with the </a:t>
            </a:r>
            <a:r>
              <a:rPr lang="en-IN" b="1" dirty="0" smtClean="0">
                <a:solidFill>
                  <a:srgbClr val="CC3300"/>
                </a:solidFill>
              </a:rPr>
              <a:t>variety of individuals within populations</a:t>
            </a:r>
            <a:r>
              <a:rPr lang="en-IN" b="1" dirty="0" smtClean="0"/>
              <a:t>, the </a:t>
            </a:r>
            <a:r>
              <a:rPr lang="en-IN" b="1" dirty="0" smtClean="0">
                <a:solidFill>
                  <a:srgbClr val="0070C0"/>
                </a:solidFill>
              </a:rPr>
              <a:t>diversity of species within communities</a:t>
            </a:r>
            <a:r>
              <a:rPr lang="en-IN" b="1" dirty="0" smtClean="0"/>
              <a:t>, and the </a:t>
            </a:r>
            <a:r>
              <a:rPr lang="en-IN" b="1" dirty="0" smtClean="0">
                <a:solidFill>
                  <a:srgbClr val="7030A0"/>
                </a:solidFill>
              </a:rPr>
              <a:t>range of ecological roles within ecosystems</a:t>
            </a:r>
            <a:endParaRPr lang="en-US" dirty="0">
              <a:solidFill>
                <a:srgbClr val="7030A0"/>
              </a:solidFill>
            </a:endParaRPr>
          </a:p>
        </p:txBody>
      </p:sp>
      <p:sp>
        <p:nvSpPr>
          <p:cNvPr id="7" name="TextBox 6"/>
          <p:cNvSpPr txBox="1"/>
          <p:nvPr/>
        </p:nvSpPr>
        <p:spPr>
          <a:xfrm>
            <a:off x="1219200" y="457200"/>
            <a:ext cx="4339650" cy="646331"/>
          </a:xfrm>
          <a:prstGeom prst="rect">
            <a:avLst/>
          </a:prstGeom>
          <a:noFill/>
        </p:spPr>
        <p:txBody>
          <a:bodyPr wrap="none" rtlCol="0">
            <a:spAutoFit/>
          </a:bodyPr>
          <a:lstStyle/>
          <a:p>
            <a:r>
              <a:rPr lang="en-US" sz="3600" dirty="0" smtClean="0">
                <a:solidFill>
                  <a:srgbClr val="FF00FF"/>
                </a:solidFill>
              </a:rPr>
              <a:t>What is Biodiversity </a:t>
            </a:r>
            <a:endParaRPr lang="en-US" sz="3600" dirty="0">
              <a:solidFill>
                <a:srgbClr val="FF00FF"/>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NARESH\Desktop\Environmental study part 2 AKV\BIODIVERSITY PPT\ppt-of-biodiversity-16-1024.jpg"/>
          <p:cNvPicPr>
            <a:picLocks noChangeAspect="1" noChangeArrowheads="1"/>
          </p:cNvPicPr>
          <p:nvPr/>
        </p:nvPicPr>
        <p:blipFill>
          <a:blip r:embed="rId2"/>
          <a:srcRect l="2344" t="17188" r="3516" b="17188"/>
          <a:stretch>
            <a:fillRect/>
          </a:stretch>
        </p:blipFill>
        <p:spPr bwMode="auto">
          <a:xfrm>
            <a:off x="71514" y="990600"/>
            <a:ext cx="9072486" cy="4743552"/>
          </a:xfrm>
          <a:prstGeom prst="rect">
            <a:avLst/>
          </a:prstGeom>
          <a:noFill/>
        </p:spPr>
      </p:pic>
      <p:sp>
        <p:nvSpPr>
          <p:cNvPr id="6" name="TextBox 5"/>
          <p:cNvSpPr txBox="1"/>
          <p:nvPr/>
        </p:nvSpPr>
        <p:spPr>
          <a:xfrm>
            <a:off x="1600200" y="457200"/>
            <a:ext cx="6039730" cy="646331"/>
          </a:xfrm>
          <a:prstGeom prst="rect">
            <a:avLst/>
          </a:prstGeom>
          <a:noFill/>
        </p:spPr>
        <p:txBody>
          <a:bodyPr wrap="none" rtlCol="0">
            <a:spAutoFit/>
          </a:bodyPr>
          <a:lstStyle/>
          <a:p>
            <a:r>
              <a:rPr lang="en-US" sz="3600" dirty="0" smtClean="0"/>
              <a:t>Recent Issues on Biodiversity </a:t>
            </a:r>
            <a:endParaRPr lang="en-US" sz="3600" dirty="0"/>
          </a:p>
        </p:txBody>
      </p:sp>
      <p:sp>
        <p:nvSpPr>
          <p:cNvPr id="7" name="Rectangle 6"/>
          <p:cNvSpPr/>
          <p:nvPr/>
        </p:nvSpPr>
        <p:spPr>
          <a:xfrm>
            <a:off x="0" y="5791200"/>
            <a:ext cx="9220200" cy="830997"/>
          </a:xfrm>
          <a:prstGeom prst="rect">
            <a:avLst/>
          </a:prstGeom>
          <a:solidFill>
            <a:schemeClr val="accent4">
              <a:lumMod val="60000"/>
              <a:lumOff val="40000"/>
            </a:schemeClr>
          </a:solidFill>
        </p:spPr>
        <p:txBody>
          <a:bodyPr wrap="square">
            <a:spAutoFit/>
          </a:bodyPr>
          <a:lstStyle/>
          <a:p>
            <a:pPr algn="just"/>
            <a:r>
              <a:rPr lang="en-US" sz="2400" dirty="0" smtClean="0"/>
              <a:t>One of the estimates by the noted ecologist, E.O. Wilson puts the figure of extinction at 10,000 species per year or 27 per day</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041023"/>
            <a:ext cx="9144000" cy="5878532"/>
          </a:xfrm>
          <a:prstGeom prst="rect">
            <a:avLst/>
          </a:prstGeom>
          <a:solidFill>
            <a:schemeClr val="accent6">
              <a:lumMod val="20000"/>
              <a:lumOff val="80000"/>
            </a:schemeClr>
          </a:solidFill>
        </p:spPr>
        <p:txBody>
          <a:bodyPr wrap="square" rtlCol="0">
            <a:spAutoFit/>
          </a:bodyPr>
          <a:lstStyle/>
          <a:p>
            <a:pPr algn="just"/>
            <a:r>
              <a:rPr lang="en-US" dirty="0" smtClean="0"/>
              <a:t>There are different threats to biodiversity because of which their population is going on decreasing day by day. The threats may be natural on anthropogenic. Some of the causes are discussed below;</a:t>
            </a:r>
          </a:p>
          <a:p>
            <a:pPr algn="just"/>
            <a:endParaRPr lang="en-US" dirty="0"/>
          </a:p>
          <a:p>
            <a:pPr marL="457200" lvl="0" indent="-457200" algn="just">
              <a:buAutoNum type="arabicPeriod"/>
            </a:pPr>
            <a:r>
              <a:rPr lang="en-US" sz="2000" b="1" dirty="0" smtClean="0">
                <a:solidFill>
                  <a:srgbClr val="7030A0"/>
                </a:solidFill>
              </a:rPr>
              <a:t>HABITAT LOSS, DEGRADATION, FRAGMENTATION.</a:t>
            </a:r>
          </a:p>
          <a:p>
            <a:pPr marL="457200" indent="-457200" algn="just">
              <a:buFontTx/>
              <a:buAutoNum type="arabicPeriod"/>
            </a:pPr>
            <a:r>
              <a:rPr lang="en-US" sz="2000" b="1" dirty="0" smtClean="0">
                <a:solidFill>
                  <a:srgbClr val="FF3300"/>
                </a:solidFill>
              </a:rPr>
              <a:t>Causes of habitat loss: </a:t>
            </a:r>
            <a:r>
              <a:rPr lang="en-US" sz="2000" b="1" dirty="0" smtClean="0"/>
              <a:t>A</a:t>
            </a:r>
            <a:r>
              <a:rPr lang="en-US" sz="2000" dirty="0" smtClean="0"/>
              <a:t>griculture activities, Mining, large Hydro 	power plants, Urbanization and  industry etc.</a:t>
            </a:r>
            <a:endParaRPr lang="en-US" sz="2000" b="1" dirty="0" smtClean="0">
              <a:solidFill>
                <a:srgbClr val="7030A0"/>
              </a:solidFill>
            </a:endParaRPr>
          </a:p>
          <a:p>
            <a:pPr lvl="0" algn="just"/>
            <a:r>
              <a:rPr lang="en-US" dirty="0" smtClean="0"/>
              <a:t>Habitat </a:t>
            </a:r>
            <a:r>
              <a:rPr lang="en-US" dirty="0"/>
              <a:t>loss &amp; degradation are major causes of species extinction, </a:t>
            </a:r>
            <a:r>
              <a:rPr lang="en-US" dirty="0" smtClean="0"/>
              <a:t>affecting  </a:t>
            </a:r>
          </a:p>
          <a:p>
            <a:pPr lvl="0" algn="just"/>
            <a:r>
              <a:rPr lang="en-US" dirty="0" smtClean="0">
                <a:solidFill>
                  <a:srgbClr val="00B0F0"/>
                </a:solidFill>
              </a:rPr>
              <a:t>                 89% 	of </a:t>
            </a:r>
            <a:r>
              <a:rPr lang="en-US" dirty="0">
                <a:solidFill>
                  <a:srgbClr val="00B0F0"/>
                </a:solidFill>
              </a:rPr>
              <a:t>all threatened birds</a:t>
            </a:r>
            <a:r>
              <a:rPr lang="en-US" dirty="0"/>
              <a:t>, </a:t>
            </a:r>
            <a:endParaRPr lang="en-US" dirty="0" smtClean="0"/>
          </a:p>
          <a:p>
            <a:pPr lvl="0" algn="just"/>
            <a:r>
              <a:rPr lang="en-US" dirty="0" smtClean="0">
                <a:solidFill>
                  <a:srgbClr val="2D14EA"/>
                </a:solidFill>
              </a:rPr>
              <a:t>                 83</a:t>
            </a:r>
            <a:r>
              <a:rPr lang="en-US" dirty="0">
                <a:solidFill>
                  <a:srgbClr val="2D14EA"/>
                </a:solidFill>
              </a:rPr>
              <a:t>% </a:t>
            </a:r>
            <a:r>
              <a:rPr lang="en-US" dirty="0" smtClean="0">
                <a:solidFill>
                  <a:srgbClr val="2D14EA"/>
                </a:solidFill>
              </a:rPr>
              <a:t>  of </a:t>
            </a:r>
            <a:r>
              <a:rPr lang="en-US" dirty="0">
                <a:solidFill>
                  <a:srgbClr val="2D14EA"/>
                </a:solidFill>
              </a:rPr>
              <a:t>mammals </a:t>
            </a:r>
            <a:r>
              <a:rPr lang="en-US" dirty="0" smtClean="0"/>
              <a:t>&amp;</a:t>
            </a:r>
          </a:p>
          <a:p>
            <a:pPr lvl="0" algn="just"/>
            <a:r>
              <a:rPr lang="en-US" dirty="0" smtClean="0"/>
              <a:t>                  </a:t>
            </a:r>
            <a:r>
              <a:rPr lang="en-US" dirty="0" smtClean="0">
                <a:solidFill>
                  <a:srgbClr val="33CC33"/>
                </a:solidFill>
              </a:rPr>
              <a:t>91</a:t>
            </a:r>
            <a:r>
              <a:rPr lang="en-US" dirty="0">
                <a:solidFill>
                  <a:srgbClr val="33CC33"/>
                </a:solidFill>
              </a:rPr>
              <a:t>% of all threatened </a:t>
            </a:r>
            <a:r>
              <a:rPr lang="en-US" dirty="0" smtClean="0">
                <a:solidFill>
                  <a:srgbClr val="33CC33"/>
                </a:solidFill>
              </a:rPr>
              <a:t>plants  </a:t>
            </a:r>
            <a:r>
              <a:rPr lang="en-US" dirty="0"/>
              <a:t>assessed </a:t>
            </a:r>
            <a:r>
              <a:rPr lang="en-US" dirty="0" smtClean="0"/>
              <a:t>	globally  (</a:t>
            </a:r>
            <a:r>
              <a:rPr lang="en-US" b="1" dirty="0">
                <a:solidFill>
                  <a:srgbClr val="FF0000"/>
                </a:solidFill>
              </a:rPr>
              <a:t>IUCN, 2000</a:t>
            </a:r>
            <a:r>
              <a:rPr lang="en-US" dirty="0" smtClean="0"/>
              <a:t>).</a:t>
            </a:r>
          </a:p>
          <a:p>
            <a:pPr lvl="0" algn="just">
              <a:buFont typeface="Wingdings" pitchFamily="2" charset="2"/>
              <a:buChar char="Ø"/>
            </a:pPr>
            <a:endParaRPr lang="en-US" dirty="0" smtClean="0"/>
          </a:p>
          <a:p>
            <a:pPr algn="just"/>
            <a:r>
              <a:rPr lang="en-US" sz="2000" b="1" dirty="0" smtClean="0">
                <a:solidFill>
                  <a:srgbClr val="7030A0"/>
                </a:solidFill>
              </a:rPr>
              <a:t>2.	POACHING OF WILDLIFE</a:t>
            </a:r>
          </a:p>
          <a:p>
            <a:pPr lvl="1" algn="just">
              <a:buFont typeface="Wingdings" pitchFamily="2" charset="2"/>
              <a:buChar char="§"/>
            </a:pPr>
            <a:r>
              <a:rPr lang="en-US" sz="2000" dirty="0" smtClean="0"/>
              <a:t>	</a:t>
            </a:r>
            <a:r>
              <a:rPr lang="en-US" dirty="0" smtClean="0"/>
              <a:t>Poaching is another threat that has emerged in recent decades as one of the 	primary reason for decline in number of species.</a:t>
            </a:r>
          </a:p>
          <a:p>
            <a:pPr lvl="1" algn="just"/>
            <a:r>
              <a:rPr lang="en-US" sz="2400" b="1" dirty="0" smtClean="0">
                <a:solidFill>
                  <a:srgbClr val="7030A0"/>
                </a:solidFill>
              </a:rPr>
              <a:t>Illegal wild life trade</a:t>
            </a:r>
          </a:p>
          <a:p>
            <a:pPr lvl="1" algn="just">
              <a:buFont typeface="Wingdings" pitchFamily="2" charset="2"/>
              <a:buChar char="§"/>
            </a:pPr>
            <a:r>
              <a:rPr lang="en-US" dirty="0" smtClean="0"/>
              <a:t>	Wildlife is sold and traded in many countries for </a:t>
            </a:r>
            <a:r>
              <a:rPr lang="en-US" dirty="0" err="1" smtClean="0"/>
              <a:t>i</a:t>
            </a:r>
            <a:r>
              <a:rPr lang="en-US" dirty="0" smtClean="0"/>
              <a:t>) live specimens, ii) folk medicines, iii) furs, skin, and other products such as Ivory, horns etc amounting to millions of  	dollars.</a:t>
            </a:r>
            <a:endParaRPr lang="en-US" sz="2400" dirty="0"/>
          </a:p>
          <a:p>
            <a:pPr algn="just"/>
            <a:endParaRPr lang="en-US" dirty="0"/>
          </a:p>
        </p:txBody>
      </p:sp>
      <p:sp>
        <p:nvSpPr>
          <p:cNvPr id="3" name="TextBox 2"/>
          <p:cNvSpPr txBox="1"/>
          <p:nvPr/>
        </p:nvSpPr>
        <p:spPr>
          <a:xfrm>
            <a:off x="1600200" y="228600"/>
            <a:ext cx="5164362" cy="954107"/>
          </a:xfrm>
          <a:prstGeom prst="rect">
            <a:avLst/>
          </a:prstGeom>
          <a:noFill/>
        </p:spPr>
        <p:txBody>
          <a:bodyPr wrap="none" rtlCol="0">
            <a:spAutoFit/>
          </a:bodyPr>
          <a:lstStyle/>
          <a:p>
            <a:r>
              <a:rPr lang="en-US" sz="2800" b="1" dirty="0" smtClean="0">
                <a:solidFill>
                  <a:srgbClr val="AD23AD"/>
                </a:solidFill>
              </a:rPr>
              <a:t>THREATS TO BIODIVERSITY </a:t>
            </a:r>
          </a:p>
          <a:p>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90800" y="0"/>
            <a:ext cx="5164362" cy="523220"/>
          </a:xfrm>
          <a:prstGeom prst="rect">
            <a:avLst/>
          </a:prstGeom>
        </p:spPr>
        <p:txBody>
          <a:bodyPr wrap="none">
            <a:spAutoFit/>
          </a:bodyPr>
          <a:lstStyle/>
          <a:p>
            <a:r>
              <a:rPr lang="en-US" sz="2800" b="1" dirty="0" smtClean="0">
                <a:solidFill>
                  <a:srgbClr val="AD23AD"/>
                </a:solidFill>
              </a:rPr>
              <a:t>THREATS TO BIODIVERSITY </a:t>
            </a:r>
          </a:p>
        </p:txBody>
      </p:sp>
      <p:grpSp>
        <p:nvGrpSpPr>
          <p:cNvPr id="4" name="Group 3"/>
          <p:cNvGrpSpPr/>
          <p:nvPr/>
        </p:nvGrpSpPr>
        <p:grpSpPr>
          <a:xfrm>
            <a:off x="0" y="533400"/>
            <a:ext cx="9144000" cy="6324600"/>
            <a:chOff x="0" y="533400"/>
            <a:chExt cx="9144000" cy="6324600"/>
          </a:xfrm>
        </p:grpSpPr>
        <p:grpSp>
          <p:nvGrpSpPr>
            <p:cNvPr id="3" name="Group 2"/>
            <p:cNvGrpSpPr/>
            <p:nvPr/>
          </p:nvGrpSpPr>
          <p:grpSpPr>
            <a:xfrm>
              <a:off x="0" y="533400"/>
              <a:ext cx="9144000" cy="6324600"/>
              <a:chOff x="0" y="533400"/>
              <a:chExt cx="9144000" cy="6324600"/>
            </a:xfrm>
          </p:grpSpPr>
          <p:pic>
            <p:nvPicPr>
              <p:cNvPr id="12292" name="Picture 4" descr="C:\Users\NARESH\Desktop\Environmental study part 2 AKV\BIODIVERSITY PPT\presentation-of-biodiversity-22-638.jpg"/>
              <p:cNvPicPr>
                <a:picLocks noChangeAspect="1" noChangeArrowheads="1"/>
              </p:cNvPicPr>
              <p:nvPr/>
            </p:nvPicPr>
            <p:blipFill>
              <a:blip r:embed="rId2"/>
              <a:srcRect t="27557"/>
              <a:stretch>
                <a:fillRect/>
              </a:stretch>
            </p:blipFill>
            <p:spPr bwMode="auto">
              <a:xfrm>
                <a:off x="0" y="4022939"/>
                <a:ext cx="6294523" cy="2835061"/>
              </a:xfrm>
              <a:prstGeom prst="rect">
                <a:avLst/>
              </a:prstGeom>
              <a:noFill/>
            </p:spPr>
          </p:pic>
          <p:sp>
            <p:nvSpPr>
              <p:cNvPr id="8" name="TextBox 7"/>
              <p:cNvSpPr txBox="1"/>
              <p:nvPr/>
            </p:nvSpPr>
            <p:spPr>
              <a:xfrm>
                <a:off x="6248400" y="6096000"/>
                <a:ext cx="2551148" cy="646331"/>
              </a:xfrm>
              <a:prstGeom prst="rect">
                <a:avLst/>
              </a:prstGeom>
              <a:noFill/>
            </p:spPr>
            <p:txBody>
              <a:bodyPr wrap="none" rtlCol="0">
                <a:spAutoFit/>
              </a:bodyPr>
              <a:lstStyle/>
              <a:p>
                <a:r>
                  <a:rPr lang="en-US" dirty="0" smtClean="0"/>
                  <a:t>Mental disease, Low BP,</a:t>
                </a:r>
              </a:p>
              <a:p>
                <a:r>
                  <a:rPr lang="en-US" dirty="0" smtClean="0"/>
                  <a:t> Diabetes (Ginseng)</a:t>
                </a:r>
                <a:endParaRPr lang="en-US" dirty="0"/>
              </a:p>
            </p:txBody>
          </p:sp>
          <p:grpSp>
            <p:nvGrpSpPr>
              <p:cNvPr id="2" name="Group 1"/>
              <p:cNvGrpSpPr/>
              <p:nvPr/>
            </p:nvGrpSpPr>
            <p:grpSpPr>
              <a:xfrm>
                <a:off x="0" y="533400"/>
                <a:ext cx="9144000" cy="5536525"/>
                <a:chOff x="0" y="533400"/>
                <a:chExt cx="9144000" cy="5536525"/>
              </a:xfrm>
            </p:grpSpPr>
            <p:pic>
              <p:nvPicPr>
                <p:cNvPr id="12290" name="Picture 2" descr="C:\Users\NARESH\Desktop\Environmental study part 2 AKV\BIODIVERSITY PPT\presentation-of-biodiversity-18-638.jpg"/>
                <p:cNvPicPr>
                  <a:picLocks noChangeAspect="1" noChangeArrowheads="1"/>
                </p:cNvPicPr>
                <p:nvPr/>
              </p:nvPicPr>
              <p:blipFill>
                <a:blip r:embed="rId3"/>
                <a:srcRect/>
                <a:stretch>
                  <a:fillRect/>
                </a:stretch>
              </p:blipFill>
              <p:spPr bwMode="auto">
                <a:xfrm>
                  <a:off x="228600" y="533400"/>
                  <a:ext cx="4250059" cy="3190875"/>
                </a:xfrm>
                <a:prstGeom prst="rect">
                  <a:avLst/>
                </a:prstGeom>
                <a:noFill/>
              </p:spPr>
            </p:pic>
            <p:pic>
              <p:nvPicPr>
                <p:cNvPr id="12291" name="Picture 3" descr="C:\Users\NARESH\Desktop\Environmental study part 2 AKV\BIODIVERSITY PPT\presentation-of-biodiversity-20-638.jpg"/>
                <p:cNvPicPr>
                  <a:picLocks noChangeAspect="1" noChangeArrowheads="1"/>
                </p:cNvPicPr>
                <p:nvPr/>
              </p:nvPicPr>
              <p:blipFill>
                <a:blip r:embed="rId4"/>
                <a:srcRect/>
                <a:stretch>
                  <a:fillRect/>
                </a:stretch>
              </p:blipFill>
              <p:spPr bwMode="auto">
                <a:xfrm>
                  <a:off x="4678266" y="609600"/>
                  <a:ext cx="4465734" cy="3352800"/>
                </a:xfrm>
                <a:prstGeom prst="rect">
                  <a:avLst/>
                </a:prstGeom>
                <a:noFill/>
              </p:spPr>
            </p:pic>
            <p:sp>
              <p:nvSpPr>
                <p:cNvPr id="5" name="TextBox 4"/>
                <p:cNvSpPr txBox="1"/>
                <p:nvPr/>
              </p:nvSpPr>
              <p:spPr>
                <a:xfrm>
                  <a:off x="0" y="3657600"/>
                  <a:ext cx="5410200" cy="369332"/>
                </a:xfrm>
                <a:prstGeom prst="rect">
                  <a:avLst/>
                </a:prstGeom>
                <a:solidFill>
                  <a:schemeClr val="accent6">
                    <a:lumMod val="20000"/>
                    <a:lumOff val="80000"/>
                  </a:schemeClr>
                </a:solidFill>
              </p:spPr>
              <p:txBody>
                <a:bodyPr wrap="square" rtlCol="0">
                  <a:spAutoFit/>
                </a:bodyPr>
                <a:lstStyle/>
                <a:p>
                  <a:r>
                    <a:rPr lang="en-US" dirty="0" smtClean="0"/>
                    <a:t>Poaching is not limited to animals its also for plant</a:t>
                  </a:r>
                  <a:endParaRPr lang="en-US" dirty="0"/>
                </a:p>
              </p:txBody>
            </p:sp>
            <p:sp>
              <p:nvSpPr>
                <p:cNvPr id="7" name="Rectangle 6"/>
                <p:cNvSpPr/>
                <p:nvPr/>
              </p:nvSpPr>
              <p:spPr>
                <a:xfrm>
                  <a:off x="6324600" y="4038600"/>
                  <a:ext cx="2819400" cy="2031325"/>
                </a:xfrm>
                <a:prstGeom prst="rect">
                  <a:avLst/>
                </a:prstGeom>
                <a:solidFill>
                  <a:schemeClr val="accent6">
                    <a:lumMod val="20000"/>
                    <a:lumOff val="80000"/>
                  </a:schemeClr>
                </a:solidFill>
                <a:ln>
                  <a:solidFill>
                    <a:schemeClr val="accent1"/>
                  </a:solidFill>
                </a:ln>
              </p:spPr>
              <p:txBody>
                <a:bodyPr wrap="square">
                  <a:spAutoFit/>
                </a:bodyPr>
                <a:lstStyle/>
                <a:p>
                  <a:r>
                    <a:rPr lang="en-US" dirty="0" smtClean="0"/>
                    <a:t>The cost of </a:t>
                  </a:r>
                  <a:r>
                    <a:rPr lang="en-US" dirty="0" smtClean="0">
                      <a:solidFill>
                        <a:srgbClr val="FF3300"/>
                      </a:solidFill>
                    </a:rPr>
                    <a:t>elephant tusks</a:t>
                  </a:r>
                </a:p>
                <a:p>
                  <a:r>
                    <a:rPr lang="en-US" dirty="0" smtClean="0">
                      <a:solidFill>
                        <a:srgbClr val="FF3300"/>
                      </a:solidFill>
                    </a:rPr>
                    <a:t>can go </a:t>
                  </a:r>
                  <a:r>
                    <a:rPr lang="en-US" dirty="0" err="1" smtClean="0">
                      <a:solidFill>
                        <a:srgbClr val="FF3300"/>
                      </a:solidFill>
                    </a:rPr>
                    <a:t>upto</a:t>
                  </a:r>
                  <a:r>
                    <a:rPr lang="en-US" dirty="0" smtClean="0">
                      <a:solidFill>
                        <a:srgbClr val="FF3300"/>
                      </a:solidFill>
                    </a:rPr>
                    <a:t> $ 100 per kg</a:t>
                  </a:r>
                  <a:r>
                    <a:rPr lang="en-US" dirty="0" smtClean="0"/>
                    <a:t>; the </a:t>
                  </a:r>
                  <a:r>
                    <a:rPr lang="en-US" dirty="0" smtClean="0">
                      <a:solidFill>
                        <a:srgbClr val="7030A0"/>
                      </a:solidFill>
                    </a:rPr>
                    <a:t>leopard fur coat is sold at $ 100,000</a:t>
                  </a:r>
                  <a:r>
                    <a:rPr lang="en-US" dirty="0" smtClean="0"/>
                    <a:t> in Japan</a:t>
                  </a:r>
                </a:p>
                <a:p>
                  <a:r>
                    <a:rPr lang="en-US" dirty="0" smtClean="0"/>
                    <a:t>$ 10,000 for a rare hyacinth macaw , a beautiful </a:t>
                  </a:r>
                  <a:r>
                    <a:rPr lang="en-US" dirty="0" err="1" smtClean="0"/>
                    <a:t>coloured</a:t>
                  </a:r>
                  <a:r>
                    <a:rPr lang="en-US" dirty="0" smtClean="0"/>
                    <a:t> bird, from Brazil.</a:t>
                  </a:r>
                  <a:endParaRPr lang="en-US" dirty="0"/>
                </a:p>
              </p:txBody>
            </p:sp>
            <p:sp>
              <p:nvSpPr>
                <p:cNvPr id="9" name="TextBox 8"/>
                <p:cNvSpPr txBox="1"/>
                <p:nvPr/>
              </p:nvSpPr>
              <p:spPr>
                <a:xfrm>
                  <a:off x="685800" y="4572000"/>
                  <a:ext cx="1905000" cy="523220"/>
                </a:xfrm>
                <a:prstGeom prst="rect">
                  <a:avLst/>
                </a:prstGeom>
                <a:solidFill>
                  <a:schemeClr val="accent4">
                    <a:lumMod val="20000"/>
                    <a:lumOff val="80000"/>
                  </a:schemeClr>
                </a:solidFill>
              </p:spPr>
              <p:txBody>
                <a:bodyPr wrap="square" rtlCol="0">
                  <a:spAutoFit/>
                </a:bodyPr>
                <a:lstStyle/>
                <a:p>
                  <a:r>
                    <a:rPr lang="en-US" sz="1400" dirty="0" smtClean="0"/>
                    <a:t>Menopause problem,</a:t>
                  </a:r>
                </a:p>
                <a:p>
                  <a:r>
                    <a:rPr lang="en-US" sz="1400" dirty="0" smtClean="0"/>
                    <a:t>Black </a:t>
                  </a:r>
                  <a:r>
                    <a:rPr lang="en-US" sz="1400" dirty="0" err="1" smtClean="0"/>
                    <a:t>Cohosh</a:t>
                  </a:r>
                  <a:r>
                    <a:rPr lang="en-US" sz="1400" dirty="0" smtClean="0"/>
                    <a:t>)</a:t>
                  </a:r>
                  <a:endParaRPr lang="en-US" sz="1400" dirty="0"/>
                </a:p>
              </p:txBody>
            </p:sp>
          </p:grpSp>
        </p:grpSp>
        <p:pic>
          <p:nvPicPr>
            <p:cNvPr id="1026" name="Picture 2" descr="C:\Users\NARESH\Desktop\Anodorhynchus_hyacinthinus_-Disney_-Florida-8.jpg"/>
            <p:cNvPicPr>
              <a:picLocks noChangeAspect="1" noChangeArrowheads="1"/>
            </p:cNvPicPr>
            <p:nvPr/>
          </p:nvPicPr>
          <p:blipFill>
            <a:blip r:embed="rId5" cstate="print"/>
            <a:srcRect/>
            <a:stretch>
              <a:fillRect/>
            </a:stretch>
          </p:blipFill>
          <p:spPr bwMode="auto">
            <a:xfrm>
              <a:off x="5562600" y="4343400"/>
              <a:ext cx="762000" cy="1131694"/>
            </a:xfrm>
            <a:prstGeom prst="rect">
              <a:avLst/>
            </a:prstGeom>
            <a:noFill/>
          </p:spPr>
        </p:pic>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85800"/>
            <a:ext cx="8534401" cy="5632311"/>
          </a:xfrm>
          <a:prstGeom prst="rect">
            <a:avLst/>
          </a:prstGeom>
          <a:noFill/>
        </p:spPr>
        <p:txBody>
          <a:bodyPr wrap="square" rtlCol="0">
            <a:spAutoFit/>
          </a:bodyPr>
          <a:lstStyle/>
          <a:p>
            <a:pPr algn="just">
              <a:buFont typeface="Wingdings" pitchFamily="2" charset="2"/>
              <a:buChar char="Ø"/>
            </a:pPr>
            <a:r>
              <a:rPr lang="en-US" sz="2000" dirty="0" smtClean="0"/>
              <a:t>3.	</a:t>
            </a:r>
            <a:r>
              <a:rPr lang="en-US" sz="2000" b="1" dirty="0" smtClean="0">
                <a:solidFill>
                  <a:srgbClr val="7030A0"/>
                </a:solidFill>
              </a:rPr>
              <a:t>MAN – WILDLIFE CONFLICTS</a:t>
            </a:r>
          </a:p>
          <a:p>
            <a:pPr algn="just"/>
            <a:endParaRPr lang="en-US" sz="2000" b="1" dirty="0" smtClean="0">
              <a:solidFill>
                <a:srgbClr val="7030A0"/>
              </a:solidFill>
            </a:endParaRPr>
          </a:p>
          <a:p>
            <a:pPr lvl="1" algn="just"/>
            <a:r>
              <a:rPr lang="en-US" sz="2000" dirty="0" smtClean="0"/>
              <a:t>Due to the </a:t>
            </a:r>
            <a:r>
              <a:rPr lang="en-US" sz="2000" dirty="0" smtClean="0">
                <a:solidFill>
                  <a:srgbClr val="33CC33"/>
                </a:solidFill>
              </a:rPr>
              <a:t>lack of stable food, shelter </a:t>
            </a:r>
            <a:r>
              <a:rPr lang="en-US" sz="2000" dirty="0" smtClean="0"/>
              <a:t>and disruption of movement, wild animals came out of forest area and attack the agricultural field and humans and in turn got killed by the humans.</a:t>
            </a:r>
          </a:p>
          <a:p>
            <a:pPr lvl="1" algn="just"/>
            <a:endParaRPr lang="en-US" sz="2000" dirty="0" smtClean="0"/>
          </a:p>
          <a:p>
            <a:pPr algn="just">
              <a:buFont typeface="Wingdings" pitchFamily="2" charset="2"/>
              <a:buChar char="Ø"/>
            </a:pPr>
            <a:r>
              <a:rPr lang="en-US" sz="2000" dirty="0" smtClean="0"/>
              <a:t>4.	</a:t>
            </a:r>
            <a:r>
              <a:rPr lang="en-US" sz="2000" b="1" dirty="0" smtClean="0">
                <a:solidFill>
                  <a:srgbClr val="7030A0"/>
                </a:solidFill>
              </a:rPr>
              <a:t>INTRODUCTION OF EXOTIC SPECIES</a:t>
            </a:r>
          </a:p>
          <a:p>
            <a:pPr algn="just"/>
            <a:endParaRPr lang="en-US" sz="2000" b="1" dirty="0" smtClean="0">
              <a:solidFill>
                <a:srgbClr val="7030A0"/>
              </a:solidFill>
            </a:endParaRPr>
          </a:p>
          <a:p>
            <a:pPr lvl="1" algn="just"/>
            <a:r>
              <a:rPr lang="en-US" sz="2000" dirty="0" smtClean="0"/>
              <a:t>Organisms introduced into new habitats where they are not native are termed as exotics are also considered as Biological Pollutants.</a:t>
            </a:r>
          </a:p>
          <a:p>
            <a:pPr lvl="1" algn="just"/>
            <a:endParaRPr lang="en-US" sz="2000" dirty="0" smtClean="0"/>
          </a:p>
          <a:p>
            <a:pPr algn="just">
              <a:buFont typeface="Wingdings" pitchFamily="2" charset="2"/>
              <a:buChar char="Ø"/>
            </a:pPr>
            <a:r>
              <a:rPr lang="en-US" sz="2000" b="1" dirty="0" smtClean="0"/>
              <a:t> 5.	</a:t>
            </a:r>
            <a:r>
              <a:rPr lang="en-US" sz="2000" b="1" dirty="0" smtClean="0">
                <a:solidFill>
                  <a:srgbClr val="7030A0"/>
                </a:solidFill>
              </a:rPr>
              <a:t>CLIMATE CHANGE AND ENVIRONMENTAL POLLUTION</a:t>
            </a:r>
          </a:p>
          <a:p>
            <a:pPr algn="just"/>
            <a:endParaRPr lang="en-US" sz="2000" dirty="0" smtClean="0">
              <a:solidFill>
                <a:srgbClr val="002060"/>
              </a:solidFill>
            </a:endParaRPr>
          </a:p>
          <a:p>
            <a:pPr lvl="1" algn="just">
              <a:buFont typeface="Wingdings" pitchFamily="2" charset="2"/>
              <a:buChar char="§"/>
            </a:pPr>
            <a:r>
              <a:rPr lang="en-US" sz="2000" dirty="0" smtClean="0"/>
              <a:t>A changing global climate threatens species and ecosystems.</a:t>
            </a:r>
          </a:p>
          <a:p>
            <a:pPr lvl="1" algn="just">
              <a:buFont typeface="Wingdings" pitchFamily="2" charset="2"/>
              <a:buChar char="§"/>
            </a:pPr>
            <a:r>
              <a:rPr lang="en-US" sz="2000" dirty="0" smtClean="0"/>
              <a:t>The </a:t>
            </a:r>
            <a:r>
              <a:rPr lang="en-US" sz="2000" dirty="0" smtClean="0">
                <a:solidFill>
                  <a:srgbClr val="33CC33"/>
                </a:solidFill>
              </a:rPr>
              <a:t>air, water and soil pollution </a:t>
            </a:r>
            <a:r>
              <a:rPr lang="en-US" sz="2000" dirty="0" smtClean="0"/>
              <a:t>are the major factor to extinct  number of species in both terrestrial and aquatic ecosystems.</a:t>
            </a:r>
          </a:p>
          <a:p>
            <a:pPr lvl="1" algn="just">
              <a:buFont typeface="Wingdings" pitchFamily="2" charset="2"/>
              <a:buChar char="§"/>
            </a:pPr>
            <a:r>
              <a:rPr lang="en-US" sz="2000" dirty="0" smtClean="0"/>
              <a:t>Spread disease </a:t>
            </a:r>
          </a:p>
          <a:p>
            <a:endParaRPr lang="en-US" sz="2000" dirty="0"/>
          </a:p>
        </p:txBody>
      </p:sp>
      <p:sp>
        <p:nvSpPr>
          <p:cNvPr id="4" name="Rectangle 3"/>
          <p:cNvSpPr/>
          <p:nvPr/>
        </p:nvSpPr>
        <p:spPr>
          <a:xfrm>
            <a:off x="2057400" y="0"/>
            <a:ext cx="5164362" cy="523220"/>
          </a:xfrm>
          <a:prstGeom prst="rect">
            <a:avLst/>
          </a:prstGeom>
        </p:spPr>
        <p:txBody>
          <a:bodyPr wrap="none">
            <a:spAutoFit/>
          </a:bodyPr>
          <a:lstStyle/>
          <a:p>
            <a:r>
              <a:rPr lang="en-US" sz="2800" b="1" dirty="0" smtClean="0">
                <a:solidFill>
                  <a:srgbClr val="AD23AD"/>
                </a:solidFill>
              </a:rPr>
              <a:t>THREATS TO BIODIVERSITY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NARESH\Desktop\Environmental study part 2 AKV\BIODIVERSITY PPT\presentation-of-biodiversity-15-638.jpg"/>
          <p:cNvPicPr>
            <a:picLocks noChangeAspect="1" noChangeArrowheads="1"/>
          </p:cNvPicPr>
          <p:nvPr/>
        </p:nvPicPr>
        <p:blipFill>
          <a:blip r:embed="rId2"/>
          <a:srcRect b="25052"/>
          <a:stretch>
            <a:fillRect/>
          </a:stretch>
        </p:blipFill>
        <p:spPr bwMode="auto">
          <a:xfrm>
            <a:off x="0" y="990600"/>
            <a:ext cx="9144000" cy="3419449"/>
          </a:xfrm>
          <a:prstGeom prst="rect">
            <a:avLst/>
          </a:prstGeom>
          <a:noFill/>
        </p:spPr>
      </p:pic>
      <p:pic>
        <p:nvPicPr>
          <p:cNvPr id="11267" name="Picture 3" descr="C:\Users\NARESH\Desktop\Environmental study part 2 AKV\BIODIVERSITY PPT\presentation-of-biodiversity-16-638.jpg"/>
          <p:cNvPicPr>
            <a:picLocks noChangeAspect="1" noChangeArrowheads="1"/>
          </p:cNvPicPr>
          <p:nvPr/>
        </p:nvPicPr>
        <p:blipFill>
          <a:blip r:embed="rId3"/>
          <a:srcRect/>
          <a:stretch>
            <a:fillRect/>
          </a:stretch>
        </p:blipFill>
        <p:spPr bwMode="auto">
          <a:xfrm>
            <a:off x="0" y="4419600"/>
            <a:ext cx="9144000" cy="2738437"/>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667000"/>
            <a:ext cx="8229600" cy="4389120"/>
          </a:xfrm>
        </p:spPr>
        <p:txBody>
          <a:bodyPr>
            <a:normAutofit/>
          </a:bodyPr>
          <a:lstStyle/>
          <a:p>
            <a:pPr algn="just">
              <a:buNone/>
            </a:pPr>
            <a:r>
              <a:rPr lang="en-US" dirty="0" smtClean="0"/>
              <a:t>Classification of plant and animal as per </a:t>
            </a:r>
            <a:r>
              <a:rPr lang="en-US" dirty="0" smtClean="0">
                <a:solidFill>
                  <a:srgbClr val="FF3300"/>
                </a:solidFill>
              </a:rPr>
              <a:t>Red Data Book (IUCN 1964)</a:t>
            </a:r>
          </a:p>
          <a:p>
            <a:r>
              <a:rPr lang="en-US" dirty="0" smtClean="0"/>
              <a:t>Endangered (E)</a:t>
            </a:r>
          </a:p>
          <a:p>
            <a:r>
              <a:rPr lang="en-US" dirty="0" smtClean="0"/>
              <a:t>Vulnerable (V)</a:t>
            </a:r>
          </a:p>
          <a:p>
            <a:r>
              <a:rPr lang="en-US" dirty="0" smtClean="0"/>
              <a:t>Rare (R)</a:t>
            </a:r>
          </a:p>
          <a:p>
            <a:r>
              <a:rPr lang="en-US" dirty="0" smtClean="0"/>
              <a:t>Threatened (T)</a:t>
            </a:r>
          </a:p>
          <a:p>
            <a:r>
              <a:rPr lang="en-US" dirty="0" smtClean="0"/>
              <a:t>Out of danger (O)</a:t>
            </a:r>
          </a:p>
          <a:p>
            <a:r>
              <a:rPr lang="en-US" dirty="0" smtClean="0"/>
              <a:t>Indeterminate (I)</a:t>
            </a:r>
          </a:p>
          <a:p>
            <a:endParaRPr lang="en-US" dirty="0" smtClean="0"/>
          </a:p>
          <a:p>
            <a:endParaRPr lang="en-US" dirty="0" smtClean="0"/>
          </a:p>
          <a:p>
            <a:endParaRPr lang="en-US" dirty="0"/>
          </a:p>
        </p:txBody>
      </p:sp>
      <p:sp>
        <p:nvSpPr>
          <p:cNvPr id="4" name="Rectangle 3"/>
          <p:cNvSpPr/>
          <p:nvPr/>
        </p:nvSpPr>
        <p:spPr>
          <a:xfrm>
            <a:off x="-381000" y="0"/>
            <a:ext cx="10134600" cy="523220"/>
          </a:xfrm>
          <a:prstGeom prst="rect">
            <a:avLst/>
          </a:prstGeom>
        </p:spPr>
        <p:txBody>
          <a:bodyPr wrap="square">
            <a:spAutoFit/>
          </a:bodyPr>
          <a:lstStyle/>
          <a:p>
            <a:pPr algn="ctr"/>
            <a:r>
              <a:rPr lang="en-US" sz="2800" dirty="0" smtClean="0">
                <a:solidFill>
                  <a:srgbClr val="AD23AD"/>
                </a:solidFill>
              </a:rPr>
              <a:t>ENDANGERED SPECIES IN INDIA</a:t>
            </a:r>
          </a:p>
        </p:txBody>
      </p:sp>
      <p:sp>
        <p:nvSpPr>
          <p:cNvPr id="5" name="Rectangle 4"/>
          <p:cNvSpPr/>
          <p:nvPr/>
        </p:nvSpPr>
        <p:spPr>
          <a:xfrm>
            <a:off x="0" y="762000"/>
            <a:ext cx="8839200" cy="1938992"/>
          </a:xfrm>
          <a:prstGeom prst="rect">
            <a:avLst/>
          </a:prstGeom>
        </p:spPr>
        <p:txBody>
          <a:bodyPr wrap="square">
            <a:spAutoFit/>
          </a:bodyPr>
          <a:lstStyle/>
          <a:p>
            <a:pPr lvl="0" algn="just"/>
            <a:r>
              <a:rPr lang="en-US" sz="2400" dirty="0" smtClean="0"/>
              <a:t>According to The International Union of Conservation of Nature and Natural Resources (</a:t>
            </a:r>
            <a:r>
              <a:rPr lang="en-US" sz="2400" dirty="0" smtClean="0">
                <a:solidFill>
                  <a:srgbClr val="AD23AD"/>
                </a:solidFill>
              </a:rPr>
              <a:t>IUCN</a:t>
            </a:r>
            <a:r>
              <a:rPr lang="en-US" sz="2400" dirty="0" smtClean="0"/>
              <a:t>), the species that considered in </a:t>
            </a:r>
            <a:r>
              <a:rPr lang="en-US" sz="2400" dirty="0" smtClean="0">
                <a:solidFill>
                  <a:srgbClr val="2D14EA"/>
                </a:solidFill>
              </a:rPr>
              <a:t>imminent danger of extinction </a:t>
            </a:r>
          </a:p>
          <a:p>
            <a:pPr lvl="0" algn="just"/>
            <a:r>
              <a:rPr lang="en-US" sz="2400" dirty="0" smtClean="0"/>
              <a:t>and </a:t>
            </a:r>
            <a:r>
              <a:rPr lang="en-US" sz="2400" dirty="0" smtClean="0">
                <a:solidFill>
                  <a:srgbClr val="2D14EA"/>
                </a:solidFill>
              </a:rPr>
              <a:t>whose survival is unlikely</a:t>
            </a:r>
            <a:r>
              <a:rPr lang="en-US" sz="2400" dirty="0" smtClean="0"/>
              <a:t>, if factors causing their decline continue to operate.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229600" cy="6172200"/>
          </a:xfrm>
        </p:spPr>
        <p:txBody>
          <a:bodyPr>
            <a:normAutofit fontScale="92500" lnSpcReduction="10000"/>
          </a:bodyPr>
          <a:lstStyle/>
          <a:p>
            <a:r>
              <a:rPr lang="en-US" dirty="0" smtClean="0">
                <a:solidFill>
                  <a:srgbClr val="FF3300"/>
                </a:solidFill>
              </a:rPr>
              <a:t>Endangered (E): </a:t>
            </a:r>
            <a:r>
              <a:rPr lang="en-US" sz="2000" dirty="0" smtClean="0"/>
              <a:t>Species whose   </a:t>
            </a:r>
            <a:r>
              <a:rPr lang="en-US" sz="2000" dirty="0" smtClean="0">
                <a:solidFill>
                  <a:srgbClr val="7030A0"/>
                </a:solidFill>
              </a:rPr>
              <a:t>numbers have been  reduced to  a critical level </a:t>
            </a:r>
            <a:r>
              <a:rPr lang="en-US" sz="2000" dirty="0" smtClean="0"/>
              <a:t>or  whose   habitats have been  so drastically reduced that they are  deemed to be in  immediate danger of  extinction.</a:t>
            </a:r>
          </a:p>
          <a:p>
            <a:pPr algn="just"/>
            <a:r>
              <a:rPr lang="en-US" dirty="0" smtClean="0">
                <a:solidFill>
                  <a:srgbClr val="FF3300"/>
                </a:solidFill>
              </a:rPr>
              <a:t>Vulnerable (V): </a:t>
            </a:r>
            <a:r>
              <a:rPr lang="en-US" sz="2200" dirty="0" smtClean="0"/>
              <a:t>Species believed likely   to  move   into   the   endangered category in  the   near future if  the casual factors continue operating.</a:t>
            </a:r>
            <a:endParaRPr lang="en-US" sz="2200" dirty="0" smtClean="0">
              <a:solidFill>
                <a:srgbClr val="33CC33"/>
              </a:solidFill>
            </a:endParaRPr>
          </a:p>
          <a:p>
            <a:pPr algn="just"/>
            <a:r>
              <a:rPr lang="en-US" dirty="0" smtClean="0">
                <a:solidFill>
                  <a:srgbClr val="FF3300"/>
                </a:solidFill>
              </a:rPr>
              <a:t>Rare (R): </a:t>
            </a:r>
            <a:r>
              <a:rPr lang="en-US" sz="2100" dirty="0" smtClean="0"/>
              <a:t>Species with, </a:t>
            </a:r>
            <a:r>
              <a:rPr lang="en-US" sz="2100" dirty="0" smtClean="0">
                <a:solidFill>
                  <a:srgbClr val="AD23AD"/>
                </a:solidFill>
              </a:rPr>
              <a:t>small world  populations </a:t>
            </a:r>
            <a:r>
              <a:rPr lang="en-US" sz="2100" dirty="0" smtClean="0"/>
              <a:t>that are  not  at  present endangered or  vulnerable, but   are   at  risk. </a:t>
            </a:r>
            <a:endParaRPr lang="en-US" sz="2100" dirty="0" smtClean="0">
              <a:solidFill>
                <a:srgbClr val="33CC33"/>
              </a:solidFill>
            </a:endParaRPr>
          </a:p>
          <a:p>
            <a:pPr algn="just"/>
            <a:r>
              <a:rPr lang="en-US" dirty="0" smtClean="0">
                <a:solidFill>
                  <a:srgbClr val="FF3300"/>
                </a:solidFill>
              </a:rPr>
              <a:t>Threatened (T): </a:t>
            </a:r>
            <a:r>
              <a:rPr lang="en-US" sz="2200" dirty="0" smtClean="0"/>
              <a:t>Threatened is  used in   the   conservation  context for   species which    are   in   </a:t>
            </a:r>
            <a:r>
              <a:rPr lang="en-US" sz="2200" dirty="0" smtClean="0">
                <a:solidFill>
                  <a:srgbClr val="AD23AD"/>
                </a:solidFill>
              </a:rPr>
              <a:t>one   of  the categories  Endangered,  Vulnerable  and   Rare.</a:t>
            </a:r>
          </a:p>
          <a:p>
            <a:pPr algn="just"/>
            <a:r>
              <a:rPr lang="en-US" dirty="0" smtClean="0">
                <a:solidFill>
                  <a:srgbClr val="FF3300"/>
                </a:solidFill>
              </a:rPr>
              <a:t>Out of danger (O): </a:t>
            </a:r>
            <a:r>
              <a:rPr lang="en-US" sz="2400" dirty="0" smtClean="0"/>
              <a:t>Species formerly included in  one  of the  above   categories, but  which   are  </a:t>
            </a:r>
            <a:r>
              <a:rPr lang="en-US" sz="2400" dirty="0" smtClean="0">
                <a:solidFill>
                  <a:srgbClr val="2D14EA"/>
                </a:solidFill>
              </a:rPr>
              <a:t>now  considered relatively secure because effective conservation </a:t>
            </a:r>
            <a:r>
              <a:rPr lang="en-US" sz="2400" dirty="0" smtClean="0"/>
              <a:t>measures  have been   taken </a:t>
            </a:r>
            <a:endParaRPr lang="en-US" sz="2400" dirty="0" smtClean="0">
              <a:solidFill>
                <a:srgbClr val="33CC33"/>
              </a:solidFill>
            </a:endParaRPr>
          </a:p>
          <a:p>
            <a:pPr algn="just"/>
            <a:r>
              <a:rPr lang="en-US" dirty="0" err="1" smtClean="0">
                <a:solidFill>
                  <a:srgbClr val="FF3300"/>
                </a:solidFill>
              </a:rPr>
              <a:t>Inderterminate</a:t>
            </a:r>
            <a:r>
              <a:rPr lang="en-US" dirty="0" smtClean="0">
                <a:solidFill>
                  <a:srgbClr val="FF3300"/>
                </a:solidFill>
              </a:rPr>
              <a:t> (I): </a:t>
            </a:r>
            <a:r>
              <a:rPr lang="en-US" sz="2400" dirty="0" smtClean="0"/>
              <a:t>Species that are  suspected of belonging to one  of the  first three categories, but  for  which insufficient information is  currently available.</a:t>
            </a:r>
          </a:p>
          <a:p>
            <a:endParaRPr lang="en-US" dirty="0" smtClean="0">
              <a:solidFill>
                <a:srgbClr val="33CC33"/>
              </a:solidFill>
            </a:endParaRP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533400"/>
            <a:ext cx="8534400" cy="1292662"/>
          </a:xfrm>
          <a:prstGeom prst="rect">
            <a:avLst/>
          </a:prstGeom>
        </p:spPr>
        <p:txBody>
          <a:bodyPr wrap="square">
            <a:spAutoFit/>
          </a:bodyPr>
          <a:lstStyle/>
          <a:p>
            <a:endParaRPr lang="en-US" dirty="0" smtClean="0"/>
          </a:p>
          <a:p>
            <a:r>
              <a:rPr lang="en-US" sz="2000" dirty="0" smtClean="0"/>
              <a:t>450 plant species  are endangered, threatened or rare in India</a:t>
            </a:r>
          </a:p>
          <a:p>
            <a:r>
              <a:rPr lang="en-US" sz="2000" dirty="0" smtClean="0"/>
              <a:t>about 150 mammals and 150 species of birds are threatened </a:t>
            </a:r>
          </a:p>
          <a:p>
            <a:r>
              <a:rPr lang="en-US" sz="2000" dirty="0" smtClean="0"/>
              <a:t>unknown number of species of insects are endangered</a:t>
            </a:r>
            <a:endParaRPr lang="en-US" sz="2000" dirty="0"/>
          </a:p>
        </p:txBody>
      </p:sp>
      <p:pic>
        <p:nvPicPr>
          <p:cNvPr id="1026" name="Picture 2"/>
          <p:cNvPicPr>
            <a:picLocks noChangeAspect="1" noChangeArrowheads="1"/>
          </p:cNvPicPr>
          <p:nvPr/>
        </p:nvPicPr>
        <p:blipFill>
          <a:blip r:embed="rId2"/>
          <a:srcRect/>
          <a:stretch>
            <a:fillRect/>
          </a:stretch>
        </p:blipFill>
        <p:spPr bwMode="auto">
          <a:xfrm>
            <a:off x="304801" y="2035223"/>
            <a:ext cx="6553199" cy="121384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595745" y="3124200"/>
            <a:ext cx="6629400" cy="2749141"/>
          </a:xfrm>
          <a:prstGeom prst="rect">
            <a:avLst/>
          </a:prstGeom>
          <a:noFill/>
          <a:ln w="9525">
            <a:noFill/>
            <a:miter lim="800000"/>
            <a:headEnd/>
            <a:tailEnd/>
          </a:ln>
          <a:effectLst/>
        </p:spPr>
      </p:pic>
      <p:sp>
        <p:nvSpPr>
          <p:cNvPr id="5" name="Rectangle 4"/>
          <p:cNvSpPr/>
          <p:nvPr/>
        </p:nvSpPr>
        <p:spPr>
          <a:xfrm>
            <a:off x="152400" y="0"/>
            <a:ext cx="9144000" cy="523220"/>
          </a:xfrm>
          <a:prstGeom prst="rect">
            <a:avLst/>
          </a:prstGeom>
        </p:spPr>
        <p:txBody>
          <a:bodyPr wrap="square">
            <a:spAutoFit/>
          </a:bodyPr>
          <a:lstStyle/>
          <a:p>
            <a:pPr algn="ctr"/>
            <a:r>
              <a:rPr lang="en-US" sz="2800" b="1" dirty="0" smtClean="0">
                <a:solidFill>
                  <a:srgbClr val="FF3300"/>
                </a:solidFill>
              </a:rPr>
              <a:t>ENDANGERED SPECIES IN INDIA</a:t>
            </a:r>
          </a:p>
        </p:txBody>
      </p:sp>
      <p:sp>
        <p:nvSpPr>
          <p:cNvPr id="6" name="Rectangle 5"/>
          <p:cNvSpPr/>
          <p:nvPr/>
        </p:nvSpPr>
        <p:spPr>
          <a:xfrm>
            <a:off x="609600" y="6019800"/>
            <a:ext cx="7924800" cy="646331"/>
          </a:xfrm>
          <a:prstGeom prst="rect">
            <a:avLst/>
          </a:prstGeom>
          <a:solidFill>
            <a:schemeClr val="accent6">
              <a:lumMod val="20000"/>
              <a:lumOff val="80000"/>
            </a:schemeClr>
          </a:solidFill>
        </p:spPr>
        <p:txBody>
          <a:bodyPr wrap="square">
            <a:spAutoFit/>
          </a:bodyPr>
          <a:lstStyle/>
          <a:p>
            <a:r>
              <a:rPr lang="en-US" dirty="0" smtClean="0"/>
              <a:t>The Zoological Survey of India reported that </a:t>
            </a:r>
            <a:r>
              <a:rPr lang="en-US" dirty="0" err="1" smtClean="0">
                <a:solidFill>
                  <a:srgbClr val="AD23AD"/>
                </a:solidFill>
              </a:rPr>
              <a:t>Dudo</a:t>
            </a:r>
            <a:r>
              <a:rPr lang="en-US" dirty="0" smtClean="0">
                <a:solidFill>
                  <a:srgbClr val="AD23AD"/>
                </a:solidFill>
              </a:rPr>
              <a:t>, Passenger pigeon, Pink headed duck </a:t>
            </a:r>
            <a:r>
              <a:rPr lang="en-US" dirty="0" smtClean="0"/>
              <a:t>and mountain quail have already become extinct from India.</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953000" y="914400"/>
            <a:ext cx="3733800" cy="1923923"/>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0" y="713185"/>
            <a:ext cx="4572000" cy="6144815"/>
          </a:xfrm>
          <a:prstGeom prst="rect">
            <a:avLst/>
          </a:prstGeom>
          <a:noFill/>
          <a:ln w="9525">
            <a:noFill/>
            <a:miter lim="800000"/>
            <a:headEnd/>
            <a:tailEnd/>
          </a:ln>
          <a:effectLst/>
        </p:spPr>
      </p:pic>
      <p:sp>
        <p:nvSpPr>
          <p:cNvPr id="5" name="TextBox 4"/>
          <p:cNvSpPr txBox="1"/>
          <p:nvPr/>
        </p:nvSpPr>
        <p:spPr>
          <a:xfrm>
            <a:off x="0" y="0"/>
            <a:ext cx="9395970" cy="646331"/>
          </a:xfrm>
          <a:prstGeom prst="rect">
            <a:avLst/>
          </a:prstGeom>
          <a:noFill/>
        </p:spPr>
        <p:txBody>
          <a:bodyPr wrap="none" rtlCol="0">
            <a:spAutoFit/>
          </a:bodyPr>
          <a:lstStyle/>
          <a:p>
            <a:r>
              <a:rPr lang="en-US" sz="3600" dirty="0" smtClean="0">
                <a:solidFill>
                  <a:srgbClr val="FF3300"/>
                </a:solidFill>
              </a:rPr>
              <a:t>Some important endangered &amp; extinct species </a:t>
            </a:r>
            <a:endParaRPr lang="en-US" sz="3600" dirty="0">
              <a:solidFill>
                <a:srgbClr val="FF3300"/>
              </a:solidFill>
            </a:endParaRPr>
          </a:p>
        </p:txBody>
      </p:sp>
      <p:sp>
        <p:nvSpPr>
          <p:cNvPr id="7" name="Rectangle 6"/>
          <p:cNvSpPr/>
          <p:nvPr/>
        </p:nvSpPr>
        <p:spPr>
          <a:xfrm>
            <a:off x="4876800" y="3429000"/>
            <a:ext cx="3733800" cy="2308324"/>
          </a:xfrm>
          <a:prstGeom prst="rect">
            <a:avLst/>
          </a:prstGeom>
        </p:spPr>
        <p:txBody>
          <a:bodyPr wrap="square">
            <a:spAutoFit/>
          </a:bodyPr>
          <a:lstStyle/>
          <a:p>
            <a:pPr lvl="0" algn="just">
              <a:buFont typeface="Wingdings" pitchFamily="2" charset="2"/>
              <a:buChar char="Ø"/>
            </a:pPr>
            <a:r>
              <a:rPr lang="en-US" dirty="0" smtClean="0"/>
              <a:t>In India, 53 species of mammals, 69 birds, 23 reptiles and 3 amphibians are considered as threatened species.</a:t>
            </a:r>
          </a:p>
          <a:p>
            <a:pPr lvl="0" algn="just">
              <a:buFont typeface="Wingdings" pitchFamily="2" charset="2"/>
              <a:buChar char="Ø"/>
            </a:pPr>
            <a:endParaRPr lang="en-US" dirty="0" smtClean="0"/>
          </a:p>
          <a:p>
            <a:pPr lvl="0" algn="just">
              <a:buFont typeface="Wingdings" pitchFamily="2" charset="2"/>
              <a:buChar char="Ø"/>
            </a:pPr>
            <a:r>
              <a:rPr lang="en-US" dirty="0" smtClean="0"/>
              <a:t>As many as 3,000- 4,000 higher plants may be under high degree of threat in India.</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0"/>
            <a:ext cx="5821209" cy="584775"/>
          </a:xfrm>
          <a:prstGeom prst="rect">
            <a:avLst/>
          </a:prstGeom>
        </p:spPr>
        <p:txBody>
          <a:bodyPr wrap="none">
            <a:spAutoFit/>
          </a:bodyPr>
          <a:lstStyle/>
          <a:p>
            <a:r>
              <a:rPr lang="en-US" sz="3200" b="1" dirty="0" smtClean="0">
                <a:solidFill>
                  <a:srgbClr val="FF3300"/>
                </a:solidFill>
              </a:rPr>
              <a:t>ENDEMIC SPECIES OF INDIA</a:t>
            </a:r>
            <a:endParaRPr lang="en-US" sz="3200" dirty="0">
              <a:solidFill>
                <a:srgbClr val="FF3300"/>
              </a:solidFill>
            </a:endParaRPr>
          </a:p>
        </p:txBody>
      </p:sp>
      <p:sp>
        <p:nvSpPr>
          <p:cNvPr id="3" name="Rectangle 2"/>
          <p:cNvSpPr/>
          <p:nvPr/>
        </p:nvSpPr>
        <p:spPr>
          <a:xfrm>
            <a:off x="152400" y="685800"/>
            <a:ext cx="9296400" cy="4093428"/>
          </a:xfrm>
          <a:prstGeom prst="rect">
            <a:avLst/>
          </a:prstGeom>
        </p:spPr>
        <p:txBody>
          <a:bodyPr wrap="square">
            <a:spAutoFit/>
          </a:bodyPr>
          <a:lstStyle/>
          <a:p>
            <a:r>
              <a:rPr lang="en-US" sz="2000" dirty="0" smtClean="0"/>
              <a:t>Out of about 47,000 species of  plants in India 7000 are endemic. </a:t>
            </a:r>
          </a:p>
          <a:p>
            <a:r>
              <a:rPr lang="en-US" sz="2000" dirty="0" smtClean="0"/>
              <a:t>62% endemic flora, restricted mainly to Himalayas, </a:t>
            </a:r>
            <a:r>
              <a:rPr lang="en-US" sz="2000" dirty="0" err="1" smtClean="0"/>
              <a:t>Khasi</a:t>
            </a:r>
            <a:r>
              <a:rPr lang="en-US" sz="2000" dirty="0" smtClean="0"/>
              <a:t> Hills and</a:t>
            </a:r>
          </a:p>
          <a:p>
            <a:r>
              <a:rPr lang="en-US" sz="2000" dirty="0" smtClean="0"/>
              <a:t> Western Ghats. Example:, </a:t>
            </a:r>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r>
              <a:rPr lang="en-US" sz="2000" dirty="0" smtClean="0"/>
              <a:t>About 62% amphibians and  50% lizards are endemic to Western Ghats.</a:t>
            </a:r>
          </a:p>
          <a:p>
            <a:r>
              <a:rPr lang="en-US" sz="2000" dirty="0" smtClean="0"/>
              <a:t> Different species in India as below</a:t>
            </a:r>
            <a:endParaRPr lang="en-US" sz="2000" dirty="0"/>
          </a:p>
        </p:txBody>
      </p:sp>
      <p:grpSp>
        <p:nvGrpSpPr>
          <p:cNvPr id="16" name="Group 15"/>
          <p:cNvGrpSpPr/>
          <p:nvPr/>
        </p:nvGrpSpPr>
        <p:grpSpPr>
          <a:xfrm>
            <a:off x="152400" y="1752600"/>
            <a:ext cx="8534400" cy="2198132"/>
            <a:chOff x="381000" y="4191000"/>
            <a:chExt cx="8534400" cy="2198132"/>
          </a:xfrm>
        </p:grpSpPr>
        <p:grpSp>
          <p:nvGrpSpPr>
            <p:cNvPr id="14" name="Group 13"/>
            <p:cNvGrpSpPr/>
            <p:nvPr/>
          </p:nvGrpSpPr>
          <p:grpSpPr>
            <a:xfrm>
              <a:off x="381000" y="4191000"/>
              <a:ext cx="8534400" cy="2198132"/>
              <a:chOff x="381000" y="4191000"/>
              <a:chExt cx="8534400" cy="2198132"/>
            </a:xfrm>
          </p:grpSpPr>
          <p:grpSp>
            <p:nvGrpSpPr>
              <p:cNvPr id="12" name="Group 11"/>
              <p:cNvGrpSpPr/>
              <p:nvPr/>
            </p:nvGrpSpPr>
            <p:grpSpPr>
              <a:xfrm>
                <a:off x="381000" y="4191000"/>
                <a:ext cx="8534400" cy="2198132"/>
                <a:chOff x="381000" y="4191000"/>
                <a:chExt cx="8534400" cy="2198132"/>
              </a:xfrm>
            </p:grpSpPr>
            <p:sp>
              <p:nvSpPr>
                <p:cNvPr id="7" name="Rectangle 6"/>
                <p:cNvSpPr/>
                <p:nvPr/>
              </p:nvSpPr>
              <p:spPr>
                <a:xfrm>
                  <a:off x="381000" y="5943600"/>
                  <a:ext cx="2193357" cy="369332"/>
                </a:xfrm>
                <a:prstGeom prst="rect">
                  <a:avLst/>
                </a:prstGeom>
              </p:spPr>
              <p:txBody>
                <a:bodyPr wrap="none">
                  <a:spAutoFit/>
                </a:bodyPr>
                <a:lstStyle/>
                <a:p>
                  <a:r>
                    <a:rPr lang="en-US" dirty="0" smtClean="0"/>
                    <a:t>Nepenthes </a:t>
                  </a:r>
                  <a:r>
                    <a:rPr lang="en-US" dirty="0" err="1" smtClean="0"/>
                    <a:t>khasiana</a:t>
                  </a:r>
                  <a:endParaRPr lang="en-US" dirty="0"/>
                </a:p>
              </p:txBody>
            </p:sp>
            <p:grpSp>
              <p:nvGrpSpPr>
                <p:cNvPr id="11" name="Group 10"/>
                <p:cNvGrpSpPr/>
                <p:nvPr/>
              </p:nvGrpSpPr>
              <p:grpSpPr>
                <a:xfrm>
                  <a:off x="457200" y="4191000"/>
                  <a:ext cx="8458200" cy="2198132"/>
                  <a:chOff x="457200" y="4191000"/>
                  <a:chExt cx="8458200" cy="2198132"/>
                </a:xfrm>
              </p:grpSpPr>
              <p:pic>
                <p:nvPicPr>
                  <p:cNvPr id="4098" name="Picture 2" descr="C:\Users\NARESH\Desktop\download (1).jpg"/>
                  <p:cNvPicPr>
                    <a:picLocks noChangeAspect="1" noChangeArrowheads="1"/>
                  </p:cNvPicPr>
                  <p:nvPr/>
                </p:nvPicPr>
                <p:blipFill>
                  <a:blip r:embed="rId2"/>
                  <a:srcRect/>
                  <a:stretch>
                    <a:fillRect/>
                  </a:stretch>
                </p:blipFill>
                <p:spPr bwMode="auto">
                  <a:xfrm>
                    <a:off x="457200" y="4191000"/>
                    <a:ext cx="2057400" cy="1828800"/>
                  </a:xfrm>
                  <a:prstGeom prst="rect">
                    <a:avLst/>
                  </a:prstGeom>
                  <a:noFill/>
                </p:spPr>
              </p:pic>
              <p:pic>
                <p:nvPicPr>
                  <p:cNvPr id="4099" name="Picture 3" descr="C:\Users\NARESH\Desktop\download.jpg"/>
                  <p:cNvPicPr>
                    <a:picLocks noChangeAspect="1" noChangeArrowheads="1"/>
                  </p:cNvPicPr>
                  <p:nvPr/>
                </p:nvPicPr>
                <p:blipFill>
                  <a:blip r:embed="rId3"/>
                  <a:srcRect l="9231" r="9231"/>
                  <a:stretch>
                    <a:fillRect/>
                  </a:stretch>
                </p:blipFill>
                <p:spPr bwMode="auto">
                  <a:xfrm>
                    <a:off x="2438400" y="4191000"/>
                    <a:ext cx="2019266" cy="1847850"/>
                  </a:xfrm>
                  <a:prstGeom prst="rect">
                    <a:avLst/>
                  </a:prstGeom>
                  <a:noFill/>
                </p:spPr>
              </p:pic>
              <p:pic>
                <p:nvPicPr>
                  <p:cNvPr id="4100" name="Picture 4" descr="C:\Users\NARESH\Desktop\download (2).jpg"/>
                  <p:cNvPicPr>
                    <a:picLocks noChangeAspect="1" noChangeArrowheads="1"/>
                  </p:cNvPicPr>
                  <p:nvPr/>
                </p:nvPicPr>
                <p:blipFill>
                  <a:blip r:embed="rId4"/>
                  <a:srcRect/>
                  <a:stretch>
                    <a:fillRect/>
                  </a:stretch>
                </p:blipFill>
                <p:spPr bwMode="auto">
                  <a:xfrm>
                    <a:off x="4419600" y="4191000"/>
                    <a:ext cx="1981200" cy="1828800"/>
                  </a:xfrm>
                  <a:prstGeom prst="rect">
                    <a:avLst/>
                  </a:prstGeom>
                  <a:noFill/>
                </p:spPr>
              </p:pic>
              <p:grpSp>
                <p:nvGrpSpPr>
                  <p:cNvPr id="10" name="Group 9"/>
                  <p:cNvGrpSpPr/>
                  <p:nvPr/>
                </p:nvGrpSpPr>
                <p:grpSpPr>
                  <a:xfrm>
                    <a:off x="6400800" y="4191000"/>
                    <a:ext cx="2514600" cy="2198132"/>
                    <a:chOff x="6400800" y="4191000"/>
                    <a:chExt cx="2514600" cy="2198132"/>
                  </a:xfrm>
                </p:grpSpPr>
                <p:pic>
                  <p:nvPicPr>
                    <p:cNvPr id="4101" name="Picture 5" descr="C:\Users\NARESH\Desktop\download (3).jpg"/>
                    <p:cNvPicPr>
                      <a:picLocks noChangeAspect="1" noChangeArrowheads="1"/>
                    </p:cNvPicPr>
                    <p:nvPr/>
                  </p:nvPicPr>
                  <p:blipFill>
                    <a:blip r:embed="rId5"/>
                    <a:srcRect/>
                    <a:stretch>
                      <a:fillRect/>
                    </a:stretch>
                  </p:blipFill>
                  <p:spPr bwMode="auto">
                    <a:xfrm>
                      <a:off x="6400800" y="4191000"/>
                      <a:ext cx="2514600" cy="1810512"/>
                    </a:xfrm>
                    <a:prstGeom prst="rect">
                      <a:avLst/>
                    </a:prstGeom>
                    <a:noFill/>
                  </p:spPr>
                </p:pic>
                <p:sp>
                  <p:nvSpPr>
                    <p:cNvPr id="9" name="Rectangle 8"/>
                    <p:cNvSpPr/>
                    <p:nvPr/>
                  </p:nvSpPr>
                  <p:spPr>
                    <a:xfrm>
                      <a:off x="6858000" y="6019800"/>
                      <a:ext cx="2002921" cy="369332"/>
                    </a:xfrm>
                    <a:prstGeom prst="rect">
                      <a:avLst/>
                    </a:prstGeom>
                  </p:spPr>
                  <p:txBody>
                    <a:bodyPr wrap="none">
                      <a:spAutoFit/>
                    </a:bodyPr>
                    <a:lstStyle/>
                    <a:p>
                      <a:r>
                        <a:rPr lang="en-US" dirty="0" err="1" smtClean="0"/>
                        <a:t>Sapria</a:t>
                      </a:r>
                      <a:r>
                        <a:rPr lang="en-US" dirty="0" smtClean="0"/>
                        <a:t> </a:t>
                      </a:r>
                      <a:r>
                        <a:rPr lang="en-US" dirty="0" err="1" smtClean="0"/>
                        <a:t>himalayana</a:t>
                      </a:r>
                      <a:endParaRPr lang="en-US" dirty="0"/>
                    </a:p>
                  </p:txBody>
                </p:sp>
              </p:grpSp>
            </p:grpSp>
          </p:grpSp>
          <p:sp>
            <p:nvSpPr>
              <p:cNvPr id="13" name="Rectangle 12"/>
              <p:cNvSpPr/>
              <p:nvPr/>
            </p:nvSpPr>
            <p:spPr>
              <a:xfrm>
                <a:off x="4419600" y="5943600"/>
                <a:ext cx="2333075" cy="369332"/>
              </a:xfrm>
              <a:prstGeom prst="rect">
                <a:avLst/>
              </a:prstGeom>
            </p:spPr>
            <p:txBody>
              <a:bodyPr wrap="none">
                <a:spAutoFit/>
              </a:bodyPr>
              <a:lstStyle/>
              <a:p>
                <a:r>
                  <a:rPr lang="en-US" dirty="0" err="1" smtClean="0"/>
                  <a:t>Platycerium</a:t>
                </a:r>
                <a:r>
                  <a:rPr lang="en-US" dirty="0" smtClean="0"/>
                  <a:t> </a:t>
                </a:r>
                <a:r>
                  <a:rPr lang="en-US" dirty="0" err="1" smtClean="0"/>
                  <a:t>alcicorne</a:t>
                </a:r>
                <a:endParaRPr lang="en-US" dirty="0"/>
              </a:p>
            </p:txBody>
          </p:sp>
        </p:grpSp>
        <p:sp>
          <p:nvSpPr>
            <p:cNvPr id="15" name="Rectangle 14"/>
            <p:cNvSpPr/>
            <p:nvPr/>
          </p:nvSpPr>
          <p:spPr>
            <a:xfrm>
              <a:off x="2438400" y="5955268"/>
              <a:ext cx="184731" cy="369332"/>
            </a:xfrm>
            <a:prstGeom prst="rect">
              <a:avLst/>
            </a:prstGeom>
          </p:spPr>
          <p:txBody>
            <a:bodyPr wrap="none">
              <a:spAutoFit/>
            </a:bodyPr>
            <a:lstStyle/>
            <a:p>
              <a:endParaRPr lang="en-US" dirty="0"/>
            </a:p>
          </p:txBody>
        </p:sp>
      </p:grpSp>
      <p:grpSp>
        <p:nvGrpSpPr>
          <p:cNvPr id="5" name="Group 4"/>
          <p:cNvGrpSpPr/>
          <p:nvPr/>
        </p:nvGrpSpPr>
        <p:grpSpPr>
          <a:xfrm>
            <a:off x="76200" y="4953000"/>
            <a:ext cx="8839200" cy="1828800"/>
            <a:chOff x="76200" y="4953000"/>
            <a:chExt cx="8839200" cy="1828800"/>
          </a:xfrm>
        </p:grpSpPr>
        <p:sp>
          <p:nvSpPr>
            <p:cNvPr id="27" name="Rectangle 26"/>
            <p:cNvSpPr/>
            <p:nvPr/>
          </p:nvSpPr>
          <p:spPr>
            <a:xfrm>
              <a:off x="76200" y="6400800"/>
              <a:ext cx="1752600" cy="369332"/>
            </a:xfrm>
            <a:prstGeom prst="rect">
              <a:avLst/>
            </a:prstGeom>
            <a:solidFill>
              <a:schemeClr val="bg1"/>
            </a:solidFill>
          </p:spPr>
          <p:txBody>
            <a:bodyPr wrap="square">
              <a:spAutoFit/>
            </a:bodyPr>
            <a:lstStyle/>
            <a:p>
              <a:r>
                <a:rPr lang="en-US" dirty="0" smtClean="0"/>
                <a:t>Viviparous toad</a:t>
              </a:r>
              <a:endParaRPr lang="en-US" dirty="0"/>
            </a:p>
          </p:txBody>
        </p:sp>
        <p:grpSp>
          <p:nvGrpSpPr>
            <p:cNvPr id="4" name="Group 3"/>
            <p:cNvGrpSpPr/>
            <p:nvPr/>
          </p:nvGrpSpPr>
          <p:grpSpPr>
            <a:xfrm>
              <a:off x="152401" y="4953000"/>
              <a:ext cx="8762999" cy="1828800"/>
              <a:chOff x="152401" y="4953000"/>
              <a:chExt cx="8762999" cy="1828800"/>
            </a:xfrm>
          </p:grpSpPr>
          <p:grpSp>
            <p:nvGrpSpPr>
              <p:cNvPr id="21" name="Group 20"/>
              <p:cNvGrpSpPr/>
              <p:nvPr/>
            </p:nvGrpSpPr>
            <p:grpSpPr>
              <a:xfrm>
                <a:off x="3657600" y="5029200"/>
                <a:ext cx="2857500" cy="1752600"/>
                <a:chOff x="3657600" y="5029200"/>
                <a:chExt cx="2857500" cy="1752600"/>
              </a:xfrm>
            </p:grpSpPr>
            <p:pic>
              <p:nvPicPr>
                <p:cNvPr id="4104" name="Picture 8" descr="C:\Users\NARESH\Desktop\download (7).jpg"/>
                <p:cNvPicPr>
                  <a:picLocks noChangeAspect="1" noChangeArrowheads="1"/>
                </p:cNvPicPr>
                <p:nvPr/>
              </p:nvPicPr>
              <p:blipFill>
                <a:blip r:embed="rId6"/>
                <a:srcRect/>
                <a:stretch>
                  <a:fillRect/>
                </a:stretch>
              </p:blipFill>
              <p:spPr bwMode="auto">
                <a:xfrm>
                  <a:off x="3657600" y="5029200"/>
                  <a:ext cx="2857500" cy="1600200"/>
                </a:xfrm>
                <a:prstGeom prst="rect">
                  <a:avLst/>
                </a:prstGeom>
                <a:noFill/>
              </p:spPr>
            </p:pic>
            <p:sp>
              <p:nvSpPr>
                <p:cNvPr id="20" name="Rectangle 19"/>
                <p:cNvSpPr/>
                <p:nvPr/>
              </p:nvSpPr>
              <p:spPr>
                <a:xfrm>
                  <a:off x="4114800" y="6412468"/>
                  <a:ext cx="2197205" cy="369332"/>
                </a:xfrm>
                <a:prstGeom prst="rect">
                  <a:avLst/>
                </a:prstGeom>
                <a:solidFill>
                  <a:schemeClr val="bg1"/>
                </a:solidFill>
              </p:spPr>
              <p:txBody>
                <a:bodyPr wrap="none">
                  <a:spAutoFit/>
                </a:bodyPr>
                <a:lstStyle/>
                <a:p>
                  <a:r>
                    <a:rPr lang="en-US" dirty="0" smtClean="0"/>
                    <a:t>Reticulated  python </a:t>
                  </a:r>
                  <a:endParaRPr lang="en-US" dirty="0"/>
                </a:p>
              </p:txBody>
            </p:sp>
          </p:grpSp>
          <p:grpSp>
            <p:nvGrpSpPr>
              <p:cNvPr id="23" name="Group 22"/>
              <p:cNvGrpSpPr/>
              <p:nvPr/>
            </p:nvGrpSpPr>
            <p:grpSpPr>
              <a:xfrm>
                <a:off x="6553200" y="4953000"/>
                <a:ext cx="2362200" cy="1740568"/>
                <a:chOff x="6553200" y="4953000"/>
                <a:chExt cx="2362200" cy="1740568"/>
              </a:xfrm>
            </p:grpSpPr>
            <p:pic>
              <p:nvPicPr>
                <p:cNvPr id="4102" name="Picture 6" descr="C:\Users\NARESH\Desktop\download (5).jpg"/>
                <p:cNvPicPr>
                  <a:picLocks noChangeAspect="1" noChangeArrowheads="1"/>
                </p:cNvPicPr>
                <p:nvPr/>
              </p:nvPicPr>
              <p:blipFill>
                <a:blip r:embed="rId7"/>
                <a:srcRect l="24000"/>
                <a:stretch>
                  <a:fillRect/>
                </a:stretch>
              </p:blipFill>
              <p:spPr bwMode="auto">
                <a:xfrm>
                  <a:off x="6553200" y="4953000"/>
                  <a:ext cx="2362200" cy="1740568"/>
                </a:xfrm>
                <a:prstGeom prst="rect">
                  <a:avLst/>
                </a:prstGeom>
                <a:noFill/>
              </p:spPr>
            </p:pic>
            <p:sp>
              <p:nvSpPr>
                <p:cNvPr id="22" name="Rectangle 21"/>
                <p:cNvSpPr/>
                <p:nvPr/>
              </p:nvSpPr>
              <p:spPr>
                <a:xfrm>
                  <a:off x="6629400" y="4953000"/>
                  <a:ext cx="2122632" cy="369332"/>
                </a:xfrm>
                <a:prstGeom prst="rect">
                  <a:avLst/>
                </a:prstGeom>
                <a:solidFill>
                  <a:schemeClr val="bg1"/>
                </a:solidFill>
              </p:spPr>
              <p:txBody>
                <a:bodyPr wrap="none">
                  <a:spAutoFit/>
                </a:bodyPr>
                <a:lstStyle/>
                <a:p>
                  <a:r>
                    <a:rPr lang="en-US" dirty="0" smtClean="0"/>
                    <a:t>Indian Salamander </a:t>
                  </a:r>
                  <a:endParaRPr lang="en-US" dirty="0"/>
                </a:p>
              </p:txBody>
            </p:sp>
          </p:grpSp>
          <p:pic>
            <p:nvPicPr>
              <p:cNvPr id="4103" name="Picture 7" descr="C:\Users\NARESH\Desktop\download (4).jpg"/>
              <p:cNvPicPr>
                <a:picLocks noChangeAspect="1" noChangeArrowheads="1"/>
              </p:cNvPicPr>
              <p:nvPr/>
            </p:nvPicPr>
            <p:blipFill>
              <a:blip r:embed="rId8"/>
              <a:srcRect/>
              <a:stretch>
                <a:fillRect/>
              </a:stretch>
            </p:blipFill>
            <p:spPr bwMode="auto">
              <a:xfrm>
                <a:off x="152401" y="5029200"/>
                <a:ext cx="1687706" cy="1371600"/>
              </a:xfrm>
              <a:prstGeom prst="rect">
                <a:avLst/>
              </a:prstGeom>
              <a:noFill/>
            </p:spPr>
          </p:pic>
          <p:grpSp>
            <p:nvGrpSpPr>
              <p:cNvPr id="29" name="Group 28"/>
              <p:cNvGrpSpPr/>
              <p:nvPr/>
            </p:nvGrpSpPr>
            <p:grpSpPr>
              <a:xfrm>
                <a:off x="1752600" y="5029200"/>
                <a:ext cx="1932493" cy="1752600"/>
                <a:chOff x="1752600" y="5029200"/>
                <a:chExt cx="1932493" cy="1752600"/>
              </a:xfrm>
            </p:grpSpPr>
            <p:pic>
              <p:nvPicPr>
                <p:cNvPr id="4105" name="Picture 9" descr="C:\Users\NARESH\Desktop\330px-A_Monitor_Lizard.jpg"/>
                <p:cNvPicPr>
                  <a:picLocks noChangeAspect="1" noChangeArrowheads="1"/>
                </p:cNvPicPr>
                <p:nvPr/>
              </p:nvPicPr>
              <p:blipFill>
                <a:blip r:embed="rId9"/>
                <a:srcRect t="29455" r="32727"/>
                <a:stretch>
                  <a:fillRect/>
                </a:stretch>
              </p:blipFill>
              <p:spPr bwMode="auto">
                <a:xfrm>
                  <a:off x="1752600" y="5029200"/>
                  <a:ext cx="1932493" cy="1600200"/>
                </a:xfrm>
                <a:prstGeom prst="rect">
                  <a:avLst/>
                </a:prstGeom>
                <a:noFill/>
              </p:spPr>
            </p:pic>
            <p:sp>
              <p:nvSpPr>
                <p:cNvPr id="28" name="Rectangle 27"/>
                <p:cNvSpPr/>
                <p:nvPr/>
              </p:nvSpPr>
              <p:spPr>
                <a:xfrm>
                  <a:off x="1828800" y="6412468"/>
                  <a:ext cx="1823000" cy="369332"/>
                </a:xfrm>
                <a:prstGeom prst="rect">
                  <a:avLst/>
                </a:prstGeom>
                <a:solidFill>
                  <a:schemeClr val="bg1"/>
                </a:solidFill>
              </p:spPr>
              <p:txBody>
                <a:bodyPr wrap="none">
                  <a:spAutoFit/>
                </a:bodyPr>
                <a:lstStyle/>
                <a:p>
                  <a:r>
                    <a:rPr lang="en-US" dirty="0" smtClean="0"/>
                    <a:t>monitor  lizards </a:t>
                  </a:r>
                  <a:endParaRPr lang="en-US" dirty="0"/>
                </a:p>
              </p:txBody>
            </p:sp>
          </p:grpSp>
        </p:grpSp>
      </p:grpSp>
      <p:sp>
        <p:nvSpPr>
          <p:cNvPr id="30" name="Rectangle 29"/>
          <p:cNvSpPr/>
          <p:nvPr/>
        </p:nvSpPr>
        <p:spPr>
          <a:xfrm>
            <a:off x="2188079" y="3505200"/>
            <a:ext cx="2023246" cy="338554"/>
          </a:xfrm>
          <a:prstGeom prst="rect">
            <a:avLst/>
          </a:prstGeom>
        </p:spPr>
        <p:txBody>
          <a:bodyPr wrap="none">
            <a:spAutoFit/>
          </a:bodyPr>
          <a:lstStyle/>
          <a:p>
            <a:r>
              <a:rPr lang="en-US" sz="1600" dirty="0" err="1" smtClean="0"/>
              <a:t>Trooth</a:t>
            </a:r>
            <a:r>
              <a:rPr lang="en-US" sz="1600" dirty="0" smtClean="0"/>
              <a:t> brush Orchid</a:t>
            </a:r>
            <a:endParaRPr lang="en-US" sz="16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NARESH\Desktop\Environmental study part 2 AKV\BIODIVERSITY PPT\ppt-of-biodiversity-21-1024.jpg"/>
          <p:cNvPicPr>
            <a:picLocks noChangeAspect="1" noChangeArrowheads="1"/>
          </p:cNvPicPr>
          <p:nvPr/>
        </p:nvPicPr>
        <p:blipFill>
          <a:blip r:embed="rId2"/>
          <a:srcRect t="10938"/>
          <a:stretch>
            <a:fillRect/>
          </a:stretch>
        </p:blipFill>
        <p:spPr bwMode="auto">
          <a:xfrm>
            <a:off x="0" y="794063"/>
            <a:ext cx="9078029" cy="6063937"/>
          </a:xfrm>
          <a:prstGeom prst="rect">
            <a:avLst/>
          </a:prstGeom>
          <a:noFill/>
        </p:spPr>
      </p:pic>
      <p:sp>
        <p:nvSpPr>
          <p:cNvPr id="5" name="TextBox 4"/>
          <p:cNvSpPr txBox="1"/>
          <p:nvPr/>
        </p:nvSpPr>
        <p:spPr>
          <a:xfrm>
            <a:off x="2057400" y="76200"/>
            <a:ext cx="5182701" cy="646331"/>
          </a:xfrm>
          <a:prstGeom prst="rect">
            <a:avLst/>
          </a:prstGeom>
          <a:noFill/>
        </p:spPr>
        <p:txBody>
          <a:bodyPr wrap="none" rtlCol="0">
            <a:spAutoFit/>
          </a:bodyPr>
          <a:lstStyle/>
          <a:p>
            <a:r>
              <a:rPr lang="en-US" sz="3600" dirty="0" smtClean="0">
                <a:solidFill>
                  <a:srgbClr val="FF3300"/>
                </a:solidFill>
              </a:rPr>
              <a:t>Biodiversity </a:t>
            </a:r>
            <a:r>
              <a:rPr lang="en-US" sz="3600" dirty="0" err="1" smtClean="0">
                <a:solidFill>
                  <a:srgbClr val="FF3300"/>
                </a:solidFill>
              </a:rPr>
              <a:t>Convensions</a:t>
            </a:r>
            <a:endParaRPr lang="en-US" sz="3600" dirty="0">
              <a:solidFill>
                <a:srgbClr val="FF33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1143000"/>
          </a:xfrm>
        </p:spPr>
        <p:txBody>
          <a:bodyPr>
            <a:normAutofit fontScale="90000"/>
          </a:bodyPr>
          <a:lstStyle/>
          <a:p>
            <a:r>
              <a:rPr lang="en-US" sz="4000" b="1" dirty="0" smtClean="0">
                <a:solidFill>
                  <a:srgbClr val="FF3300"/>
                </a:solidFill>
              </a:rPr>
              <a:t>CONSERVATION OF BIODIVERSITY</a:t>
            </a:r>
            <a:r>
              <a:rPr lang="en-US" sz="5400" b="1" dirty="0" smtClean="0">
                <a:solidFill>
                  <a:srgbClr val="00B050"/>
                </a:solidFill>
              </a:rPr>
              <a:t/>
            </a:r>
            <a:br>
              <a:rPr lang="en-US" sz="5400" b="1" dirty="0" smtClean="0">
                <a:solidFill>
                  <a:srgbClr val="00B050"/>
                </a:solidFill>
              </a:rPr>
            </a:br>
            <a:endParaRPr lang="en-US" dirty="0"/>
          </a:p>
        </p:txBody>
      </p:sp>
      <p:pic>
        <p:nvPicPr>
          <p:cNvPr id="4" name="Picture 2" descr="C:\Users\NARESH\Desktop\Environmental study part 2 AKV\BIODIVERSITY PPT\ppt-of-biodiversity-19-1024.jpg"/>
          <p:cNvPicPr>
            <a:picLocks noGrp="1" noChangeAspect="1" noChangeArrowheads="1"/>
          </p:cNvPicPr>
          <p:nvPr>
            <p:ph idx="1"/>
          </p:nvPr>
        </p:nvPicPr>
        <p:blipFill>
          <a:blip r:embed="rId2"/>
          <a:srcRect/>
          <a:stretch>
            <a:fillRect/>
          </a:stretch>
        </p:blipFill>
        <p:spPr bwMode="auto">
          <a:xfrm>
            <a:off x="0" y="2057400"/>
            <a:ext cx="9144000" cy="4800600"/>
          </a:xfrm>
          <a:prstGeom prst="rect">
            <a:avLst/>
          </a:prstGeom>
          <a:noFill/>
        </p:spPr>
      </p:pic>
      <p:sp>
        <p:nvSpPr>
          <p:cNvPr id="5" name="Rectangle 4"/>
          <p:cNvSpPr/>
          <p:nvPr/>
        </p:nvSpPr>
        <p:spPr>
          <a:xfrm>
            <a:off x="0" y="609600"/>
            <a:ext cx="8839200" cy="1323439"/>
          </a:xfrm>
          <a:prstGeom prst="rect">
            <a:avLst/>
          </a:prstGeom>
          <a:solidFill>
            <a:schemeClr val="accent4">
              <a:lumMod val="20000"/>
              <a:lumOff val="80000"/>
            </a:schemeClr>
          </a:solidFill>
        </p:spPr>
        <p:txBody>
          <a:bodyPr wrap="square">
            <a:spAutoFit/>
          </a:bodyPr>
          <a:lstStyle/>
          <a:p>
            <a:pPr lvl="1" algn="just"/>
            <a:r>
              <a:rPr lang="en-US" sz="2000" dirty="0" smtClean="0"/>
              <a:t>Conservation is defined as “the management of human use of the biosphere so that it may yield the greatest sustainable benefit to the present generation while maintaining its potential to meet the needs and aspirations of the future generations”.</a:t>
            </a:r>
          </a:p>
        </p:txBody>
      </p:sp>
      <p:sp>
        <p:nvSpPr>
          <p:cNvPr id="7" name="Rectangle 6"/>
          <p:cNvSpPr/>
          <p:nvPr/>
        </p:nvSpPr>
        <p:spPr>
          <a:xfrm>
            <a:off x="0" y="1905000"/>
            <a:ext cx="3048000" cy="1200329"/>
          </a:xfrm>
          <a:prstGeom prst="rect">
            <a:avLst/>
          </a:prstGeom>
          <a:solidFill>
            <a:schemeClr val="accent6">
              <a:lumMod val="20000"/>
              <a:lumOff val="80000"/>
            </a:schemeClr>
          </a:solidFill>
        </p:spPr>
        <p:txBody>
          <a:bodyPr wrap="square">
            <a:spAutoFit/>
          </a:bodyPr>
          <a:lstStyle/>
          <a:p>
            <a:pPr algn="just"/>
            <a:r>
              <a:rPr lang="en-US" dirty="0" smtClean="0"/>
              <a:t>(a)  </a:t>
            </a:r>
            <a:r>
              <a:rPr lang="en-US" dirty="0" smtClean="0">
                <a:solidFill>
                  <a:srgbClr val="2D14EA"/>
                </a:solidFill>
              </a:rPr>
              <a:t>In situ  </a:t>
            </a:r>
            <a:r>
              <a:rPr lang="en-US" dirty="0" smtClean="0"/>
              <a:t>conservation (within natural habitat): protection of  wild flora and fauna in nature itself. </a:t>
            </a:r>
            <a:endParaRPr lang="en-US" dirty="0"/>
          </a:p>
        </p:txBody>
      </p:sp>
      <p:sp>
        <p:nvSpPr>
          <p:cNvPr id="8" name="Rectangle 7"/>
          <p:cNvSpPr/>
          <p:nvPr/>
        </p:nvSpPr>
        <p:spPr>
          <a:xfrm>
            <a:off x="6248400" y="1981200"/>
            <a:ext cx="2895600" cy="646331"/>
          </a:xfrm>
          <a:prstGeom prst="rect">
            <a:avLst/>
          </a:prstGeom>
          <a:solidFill>
            <a:schemeClr val="accent6">
              <a:lumMod val="20000"/>
              <a:lumOff val="80000"/>
            </a:schemeClr>
          </a:solidFill>
        </p:spPr>
        <p:txBody>
          <a:bodyPr wrap="square">
            <a:spAutoFit/>
          </a:bodyPr>
          <a:lstStyle/>
          <a:p>
            <a:r>
              <a:rPr lang="en-US" dirty="0" smtClean="0"/>
              <a:t>(b)  </a:t>
            </a:r>
            <a:r>
              <a:rPr lang="en-US" dirty="0" smtClean="0">
                <a:solidFill>
                  <a:srgbClr val="2D14EA"/>
                </a:solidFill>
              </a:rPr>
              <a:t>Ex situ  </a:t>
            </a:r>
            <a:r>
              <a:rPr lang="en-US" dirty="0" smtClean="0"/>
              <a:t>conservation (outside habitats)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1" y="381000"/>
            <a:ext cx="8534400" cy="5755422"/>
          </a:xfrm>
          <a:prstGeom prst="rect">
            <a:avLst/>
          </a:prstGeom>
          <a:noFill/>
        </p:spPr>
        <p:txBody>
          <a:bodyPr wrap="square" rtlCol="0">
            <a:spAutoFit/>
          </a:bodyPr>
          <a:lstStyle/>
          <a:p>
            <a:pPr algn="ctr"/>
            <a:r>
              <a:rPr lang="en-US" sz="2800" b="1" dirty="0">
                <a:solidFill>
                  <a:srgbClr val="00B0F0"/>
                </a:solidFill>
              </a:rPr>
              <a:t>In- </a:t>
            </a:r>
            <a:r>
              <a:rPr lang="en-US" sz="2800" b="1" dirty="0" smtClean="0">
                <a:solidFill>
                  <a:srgbClr val="00B0F0"/>
                </a:solidFill>
              </a:rPr>
              <a:t>Situ conservation</a:t>
            </a:r>
            <a:endParaRPr lang="en-US" sz="2800" dirty="0">
              <a:solidFill>
                <a:srgbClr val="00B0F0"/>
              </a:solidFill>
            </a:endParaRPr>
          </a:p>
          <a:p>
            <a:pPr lvl="0" algn="just"/>
            <a:r>
              <a:rPr lang="en-US" sz="2400" dirty="0"/>
              <a:t>It simply means conservation of species </a:t>
            </a:r>
            <a:r>
              <a:rPr lang="en-US" sz="2400" dirty="0">
                <a:solidFill>
                  <a:srgbClr val="2D14EA"/>
                </a:solidFill>
              </a:rPr>
              <a:t>in its natural ecosystem or </a:t>
            </a:r>
            <a:r>
              <a:rPr lang="en-US" sz="2400" dirty="0" smtClean="0">
                <a:solidFill>
                  <a:srgbClr val="2D14EA"/>
                </a:solidFill>
              </a:rPr>
              <a:t>habitat </a:t>
            </a:r>
            <a:r>
              <a:rPr lang="en-US" sz="2400" dirty="0" smtClean="0"/>
              <a:t>through a network of “protected </a:t>
            </a:r>
            <a:r>
              <a:rPr lang="en-US" sz="2400" dirty="0" err="1" smtClean="0"/>
              <a:t>area”.diversity</a:t>
            </a:r>
            <a:r>
              <a:rPr lang="en-US" sz="2400" dirty="0" smtClean="0"/>
              <a:t> </a:t>
            </a:r>
            <a:r>
              <a:rPr lang="en-US" sz="2400" dirty="0"/>
              <a:t>and managed </a:t>
            </a:r>
            <a:r>
              <a:rPr lang="en-US" sz="2400" dirty="0">
                <a:solidFill>
                  <a:srgbClr val="2D14EA"/>
                </a:solidFill>
              </a:rPr>
              <a:t>through legal </a:t>
            </a:r>
            <a:r>
              <a:rPr lang="en-US" sz="2400" dirty="0"/>
              <a:t>effective means</a:t>
            </a:r>
            <a:r>
              <a:rPr lang="en-US" sz="2400" dirty="0" smtClean="0"/>
              <a:t>.</a:t>
            </a:r>
          </a:p>
          <a:p>
            <a:r>
              <a:rPr lang="en-US" sz="2400" dirty="0" smtClean="0"/>
              <a:t>At present we have </a:t>
            </a:r>
            <a:r>
              <a:rPr lang="en-US" sz="2400" dirty="0" smtClean="0">
                <a:solidFill>
                  <a:srgbClr val="FF3300"/>
                </a:solidFill>
              </a:rPr>
              <a:t>7</a:t>
            </a:r>
            <a:r>
              <a:rPr lang="en-US" sz="2400" dirty="0" smtClean="0"/>
              <a:t> major Biosphere reserves, </a:t>
            </a:r>
            <a:r>
              <a:rPr lang="en-US" sz="2400" dirty="0" smtClean="0">
                <a:solidFill>
                  <a:srgbClr val="FF3300"/>
                </a:solidFill>
              </a:rPr>
              <a:t>80</a:t>
            </a:r>
            <a:r>
              <a:rPr lang="en-US" sz="2400" dirty="0" smtClean="0"/>
              <a:t> National Parks, </a:t>
            </a:r>
            <a:r>
              <a:rPr lang="en-US" sz="2400" dirty="0" smtClean="0">
                <a:solidFill>
                  <a:srgbClr val="FF3300"/>
                </a:solidFill>
              </a:rPr>
              <a:t>420</a:t>
            </a:r>
            <a:r>
              <a:rPr lang="en-US" sz="2400" dirty="0" smtClean="0"/>
              <a:t> wild-life sanctuaries and </a:t>
            </a:r>
            <a:r>
              <a:rPr lang="en-US" sz="2400" dirty="0" smtClean="0">
                <a:solidFill>
                  <a:srgbClr val="FF3300"/>
                </a:solidFill>
              </a:rPr>
              <a:t>120</a:t>
            </a:r>
            <a:r>
              <a:rPr lang="en-US" sz="2400" dirty="0" smtClean="0"/>
              <a:t> Botanical gardens in our country covering 4% of the geographic area.</a:t>
            </a:r>
          </a:p>
          <a:p>
            <a:pPr lvl="0" algn="just"/>
            <a:endParaRPr lang="en-US" sz="2400" dirty="0" smtClean="0"/>
          </a:p>
          <a:p>
            <a:pPr lvl="0" algn="just"/>
            <a:endParaRPr lang="en-US" sz="2400" dirty="0"/>
          </a:p>
          <a:p>
            <a:pPr lvl="0"/>
            <a:r>
              <a:rPr lang="en-US" sz="2400" dirty="0" smtClean="0"/>
              <a:t>These include:-</a:t>
            </a:r>
          </a:p>
          <a:p>
            <a:pPr lvl="0">
              <a:buFont typeface="Wingdings" pitchFamily="2" charset="2"/>
              <a:buChar char="Ø"/>
            </a:pPr>
            <a:r>
              <a:rPr lang="en-US" sz="2400" dirty="0" smtClean="0"/>
              <a:t>Biosphere reserves</a:t>
            </a:r>
          </a:p>
          <a:p>
            <a:pPr lvl="0">
              <a:buFont typeface="Wingdings" pitchFamily="2" charset="2"/>
              <a:buChar char="Ø"/>
            </a:pPr>
            <a:r>
              <a:rPr lang="en-US" sz="2400" dirty="0" smtClean="0"/>
              <a:t>National parks</a:t>
            </a:r>
          </a:p>
          <a:p>
            <a:pPr lvl="0">
              <a:buFont typeface="Wingdings" pitchFamily="2" charset="2"/>
              <a:buChar char="Ø"/>
            </a:pPr>
            <a:endParaRPr lang="en-US" sz="2400" dirty="0" smtClean="0"/>
          </a:p>
          <a:p>
            <a:pPr lvl="0">
              <a:buFont typeface="Wingdings" pitchFamily="2" charset="2"/>
              <a:buChar char="Ø"/>
            </a:pPr>
            <a:r>
              <a:rPr lang="en-US" sz="2400" dirty="0" smtClean="0"/>
              <a:t>Wild </a:t>
            </a:r>
            <a:r>
              <a:rPr lang="en-US" sz="2400" dirty="0"/>
              <a:t>Life Sanctuaries etc.</a:t>
            </a:r>
          </a:p>
          <a:p>
            <a:endParaRPr lang="en-US" sz="2800" dirty="0"/>
          </a:p>
        </p:txBody>
      </p:sp>
      <p:pic>
        <p:nvPicPr>
          <p:cNvPr id="4" name="Picture 3" descr="C:\Users\NARESH\Desktop\Environmental study part 2 AKV\BIODIVERSITY PPT\ppt-of-biodiversity-17-1024.jpg"/>
          <p:cNvPicPr>
            <a:picLocks noChangeAspect="1" noChangeArrowheads="1"/>
          </p:cNvPicPr>
          <p:nvPr/>
        </p:nvPicPr>
        <p:blipFill>
          <a:blip r:embed="rId2"/>
          <a:srcRect l="57422" t="56250" b="3125"/>
          <a:stretch>
            <a:fillRect/>
          </a:stretch>
        </p:blipFill>
        <p:spPr bwMode="auto">
          <a:xfrm>
            <a:off x="4352737" y="3047999"/>
            <a:ext cx="4791264" cy="3429001"/>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52400"/>
            <a:ext cx="8686800" cy="6001643"/>
          </a:xfrm>
          <a:prstGeom prst="rect">
            <a:avLst/>
          </a:prstGeom>
          <a:noFill/>
        </p:spPr>
        <p:txBody>
          <a:bodyPr wrap="square" rtlCol="0">
            <a:spAutoFit/>
          </a:bodyPr>
          <a:lstStyle/>
          <a:p>
            <a:pPr algn="just"/>
            <a:endParaRPr lang="en-US" sz="2400" dirty="0" smtClean="0">
              <a:solidFill>
                <a:srgbClr val="92D050"/>
              </a:solidFill>
            </a:endParaRPr>
          </a:p>
          <a:p>
            <a:pPr algn="just"/>
            <a:endParaRPr lang="en-US" sz="2000" dirty="0" smtClean="0">
              <a:solidFill>
                <a:srgbClr val="92D050"/>
              </a:solidFill>
            </a:endParaRPr>
          </a:p>
          <a:p>
            <a:pPr algn="just"/>
            <a:r>
              <a:rPr lang="en-US" sz="2000" dirty="0" smtClean="0"/>
              <a:t>Biosphere  Reserves  have  been    described  as   undisturbed  natural  areas for   scientific study as  well  as  areas in  which   conditions of disturbance are   under  control. These serve as the centre for ecological research and habitat  protection, The "Biosphere Reserve  consists of  two main zones  as:</a:t>
            </a:r>
          </a:p>
          <a:p>
            <a:r>
              <a:rPr lang="en-US" sz="2000" dirty="0" smtClean="0"/>
              <a:t>as a whole for long-term in situ conservation. </a:t>
            </a:r>
          </a:p>
          <a:p>
            <a:pPr marL="228600" indent="-228600">
              <a:buAutoNum type="arabicPeriod"/>
            </a:pPr>
            <a:r>
              <a:rPr lang="en-US" sz="2000" dirty="0" smtClean="0"/>
              <a:t>Core zone (</a:t>
            </a:r>
            <a:r>
              <a:rPr lang="en-US" sz="2000" dirty="0" smtClean="0">
                <a:solidFill>
                  <a:srgbClr val="FF3300"/>
                </a:solidFill>
              </a:rPr>
              <a:t>undisturbed area</a:t>
            </a:r>
            <a:r>
              <a:rPr lang="en-US" sz="2000" dirty="0" smtClean="0"/>
              <a:t>)</a:t>
            </a:r>
          </a:p>
          <a:p>
            <a:pPr marL="228600" indent="-228600"/>
            <a:r>
              <a:rPr lang="en-US" sz="2000" dirty="0" smtClean="0"/>
              <a:t>2. Buffer zone( open for tourism)</a:t>
            </a:r>
          </a:p>
          <a:p>
            <a:pPr marL="457200" indent="-457200" algn="just"/>
            <a:r>
              <a:rPr lang="en-US" sz="2000" b="1" dirty="0" smtClean="0">
                <a:solidFill>
                  <a:srgbClr val="FF3300"/>
                </a:solidFill>
              </a:rPr>
              <a:t>. Objectives :</a:t>
            </a:r>
          </a:p>
          <a:p>
            <a:pPr>
              <a:buNone/>
            </a:pPr>
            <a:r>
              <a:rPr lang="en-US" sz="2000" dirty="0" smtClean="0"/>
              <a:t>• Conserve biological diversity</a:t>
            </a:r>
          </a:p>
          <a:p>
            <a:pPr>
              <a:buNone/>
            </a:pPr>
            <a:r>
              <a:rPr lang="en-US" sz="2000" dirty="0" smtClean="0"/>
              <a:t>• Safeguard genetic diversity</a:t>
            </a:r>
          </a:p>
          <a:p>
            <a:pPr>
              <a:buNone/>
            </a:pPr>
            <a:r>
              <a:rPr lang="en-US" sz="2000" dirty="0" smtClean="0"/>
              <a:t>• Provide areas for  basic   and   applied research</a:t>
            </a:r>
          </a:p>
          <a:p>
            <a:pPr>
              <a:buNone/>
            </a:pPr>
            <a:r>
              <a:rPr lang="en-US" sz="2000" dirty="0" smtClean="0"/>
              <a:t>• Opportunity for  Environmental  Science and   training</a:t>
            </a:r>
          </a:p>
          <a:p>
            <a:pPr>
              <a:buNone/>
            </a:pPr>
            <a:r>
              <a:rPr lang="en-US" sz="2000" dirty="0" smtClean="0"/>
              <a:t>• Promote international  cooperation</a:t>
            </a:r>
          </a:p>
          <a:p>
            <a:pPr>
              <a:buNone/>
            </a:pPr>
            <a:r>
              <a:rPr lang="en-US" sz="2000" dirty="0" smtClean="0"/>
              <a:t>• Promote management  of  biotic   resources.</a:t>
            </a:r>
          </a:p>
          <a:p>
            <a:pPr>
              <a:buNone/>
            </a:pPr>
            <a:r>
              <a:rPr lang="en-US" sz="2000" dirty="0" smtClean="0"/>
              <a:t>Preserve and protection of local tribal people</a:t>
            </a:r>
          </a:p>
          <a:p>
            <a:pPr>
              <a:buNone/>
            </a:pPr>
            <a:endParaRPr lang="en-US" sz="2000" dirty="0" smtClean="0"/>
          </a:p>
          <a:p>
            <a:pPr lvl="0"/>
            <a:endParaRPr lang="en-US" sz="2000" dirty="0"/>
          </a:p>
        </p:txBody>
      </p:sp>
      <p:sp>
        <p:nvSpPr>
          <p:cNvPr id="3" name="Rectangle 2"/>
          <p:cNvSpPr/>
          <p:nvPr/>
        </p:nvSpPr>
        <p:spPr>
          <a:xfrm>
            <a:off x="3581400" y="381000"/>
            <a:ext cx="1895262" cy="1077218"/>
          </a:xfrm>
          <a:prstGeom prst="rect">
            <a:avLst/>
          </a:prstGeom>
        </p:spPr>
        <p:txBody>
          <a:bodyPr wrap="none">
            <a:spAutoFit/>
          </a:bodyPr>
          <a:lstStyle/>
          <a:p>
            <a:r>
              <a:rPr lang="en-US" sz="3200" b="1" dirty="0" smtClean="0"/>
              <a:t>Biosphere</a:t>
            </a:r>
          </a:p>
          <a:p>
            <a:endParaRPr lang="en-US" sz="3200" dirty="0"/>
          </a:p>
        </p:txBody>
      </p:sp>
      <p:sp>
        <p:nvSpPr>
          <p:cNvPr id="4" name="Rectangle 3"/>
          <p:cNvSpPr/>
          <p:nvPr/>
        </p:nvSpPr>
        <p:spPr>
          <a:xfrm>
            <a:off x="228600" y="5562600"/>
            <a:ext cx="8915400" cy="1200329"/>
          </a:xfrm>
          <a:prstGeom prst="rect">
            <a:avLst/>
          </a:prstGeom>
          <a:solidFill>
            <a:schemeClr val="accent6">
              <a:lumMod val="20000"/>
              <a:lumOff val="80000"/>
            </a:schemeClr>
          </a:solidFill>
        </p:spPr>
        <p:txBody>
          <a:bodyPr wrap="square">
            <a:spAutoFit/>
          </a:bodyPr>
          <a:lstStyle/>
          <a:p>
            <a:pPr algn="just"/>
            <a:r>
              <a:rPr lang="en-US" dirty="0" smtClean="0">
                <a:solidFill>
                  <a:srgbClr val="FF3300"/>
                </a:solidFill>
              </a:rPr>
              <a:t>Indian Government has established 18 Biosphere Reserves</a:t>
            </a:r>
          </a:p>
          <a:p>
            <a:pPr algn="just"/>
            <a:r>
              <a:rPr lang="en-US" dirty="0" smtClean="0"/>
              <a:t>Nanda Devi (U.P.),  </a:t>
            </a:r>
            <a:r>
              <a:rPr lang="en-US" dirty="0" err="1" smtClean="0"/>
              <a:t>Nokrek</a:t>
            </a:r>
            <a:r>
              <a:rPr lang="en-US" dirty="0" smtClean="0"/>
              <a:t> (Meghalaya), </a:t>
            </a:r>
            <a:r>
              <a:rPr lang="en-US" dirty="0" err="1" smtClean="0"/>
              <a:t>Manas</a:t>
            </a:r>
            <a:r>
              <a:rPr lang="en-US" dirty="0" smtClean="0"/>
              <a:t> (Assam), </a:t>
            </a:r>
            <a:r>
              <a:rPr lang="en-US" dirty="0" err="1" smtClean="0"/>
              <a:t>Sunderbans</a:t>
            </a:r>
            <a:r>
              <a:rPr lang="en-US" dirty="0" smtClean="0"/>
              <a:t> (West Bengal), Gulf  of </a:t>
            </a:r>
            <a:r>
              <a:rPr lang="en-US" dirty="0" err="1" smtClean="0"/>
              <a:t>Mannar</a:t>
            </a:r>
            <a:r>
              <a:rPr lang="en-US" dirty="0" smtClean="0"/>
              <a:t> (Tamil Nadu), </a:t>
            </a:r>
            <a:r>
              <a:rPr lang="en-US" dirty="0" err="1" smtClean="0"/>
              <a:t>Nilgiri</a:t>
            </a:r>
            <a:r>
              <a:rPr lang="en-US" dirty="0" smtClean="0"/>
              <a:t> (Karnataka, Kerala, Tamil Nadu), Great </a:t>
            </a:r>
            <a:r>
              <a:rPr lang="en-US" dirty="0" err="1" smtClean="0"/>
              <a:t>Nicobars</a:t>
            </a:r>
            <a:r>
              <a:rPr lang="en-US" dirty="0" smtClean="0"/>
              <a:t> and </a:t>
            </a:r>
            <a:r>
              <a:rPr lang="en-US" dirty="0" err="1" smtClean="0"/>
              <a:t>Similipal</a:t>
            </a:r>
            <a:r>
              <a:rPr lang="en-US" dirty="0" smtClean="0"/>
              <a:t> (</a:t>
            </a:r>
            <a:r>
              <a:rPr lang="en-US" dirty="0" err="1" smtClean="0"/>
              <a:t>Orrisa</a:t>
            </a:r>
            <a:r>
              <a:rPr lang="en-US" dirty="0" smtClean="0"/>
              <a:t>) biosphere Reserves.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NARESH\Desktop\Environmental study part 2 AKV\BIODIVERSITY PPT\ppt-of-biodiversity-17-1024.jpg"/>
          <p:cNvPicPr>
            <a:picLocks noChangeAspect="1" noChangeArrowheads="1"/>
          </p:cNvPicPr>
          <p:nvPr/>
        </p:nvPicPr>
        <p:blipFill>
          <a:blip r:embed="rId2"/>
          <a:srcRect l="58594" t="56250" b="3125"/>
          <a:stretch>
            <a:fillRect/>
          </a:stretch>
        </p:blipFill>
        <p:spPr bwMode="auto">
          <a:xfrm>
            <a:off x="6705600" y="0"/>
            <a:ext cx="2438400" cy="1794452"/>
          </a:xfrm>
          <a:prstGeom prst="rect">
            <a:avLst/>
          </a:prstGeom>
          <a:noFill/>
        </p:spPr>
      </p:pic>
      <p:pic>
        <p:nvPicPr>
          <p:cNvPr id="5122" name="Picture 2"/>
          <p:cNvPicPr>
            <a:picLocks noChangeAspect="1" noChangeArrowheads="1"/>
          </p:cNvPicPr>
          <p:nvPr/>
        </p:nvPicPr>
        <p:blipFill>
          <a:blip r:embed="rId3"/>
          <a:srcRect/>
          <a:stretch>
            <a:fillRect/>
          </a:stretch>
        </p:blipFill>
        <p:spPr bwMode="auto">
          <a:xfrm>
            <a:off x="228600" y="2972230"/>
            <a:ext cx="6705600" cy="3885770"/>
          </a:xfrm>
          <a:prstGeom prst="rect">
            <a:avLst/>
          </a:prstGeom>
          <a:noFill/>
          <a:ln w="9525">
            <a:noFill/>
            <a:miter lim="800000"/>
            <a:headEnd/>
            <a:tailEnd/>
          </a:ln>
          <a:effectLst/>
        </p:spPr>
      </p:pic>
      <p:sp>
        <p:nvSpPr>
          <p:cNvPr id="5" name="Rectangle 4"/>
          <p:cNvSpPr/>
          <p:nvPr/>
        </p:nvSpPr>
        <p:spPr>
          <a:xfrm>
            <a:off x="1219200" y="304800"/>
            <a:ext cx="4471224" cy="584775"/>
          </a:xfrm>
          <a:prstGeom prst="rect">
            <a:avLst/>
          </a:prstGeom>
        </p:spPr>
        <p:txBody>
          <a:bodyPr wrap="none">
            <a:spAutoFit/>
          </a:bodyPr>
          <a:lstStyle/>
          <a:p>
            <a:pPr>
              <a:buNone/>
            </a:pPr>
            <a:r>
              <a:rPr lang="en-US" sz="3200" b="1" dirty="0" smtClean="0">
                <a:solidFill>
                  <a:srgbClr val="FF3300"/>
                </a:solidFill>
              </a:rPr>
              <a:t>National park in India</a:t>
            </a:r>
          </a:p>
        </p:txBody>
      </p:sp>
      <p:sp>
        <p:nvSpPr>
          <p:cNvPr id="7" name="Rectangle 6"/>
          <p:cNvSpPr/>
          <p:nvPr/>
        </p:nvSpPr>
        <p:spPr>
          <a:xfrm>
            <a:off x="0" y="2057400"/>
            <a:ext cx="9372600" cy="707886"/>
          </a:xfrm>
          <a:prstGeom prst="rect">
            <a:avLst/>
          </a:prstGeom>
        </p:spPr>
        <p:txBody>
          <a:bodyPr wrap="square">
            <a:spAutoFit/>
          </a:bodyPr>
          <a:lstStyle/>
          <a:p>
            <a:r>
              <a:rPr lang="en-US" sz="2000" dirty="0" smtClean="0">
                <a:solidFill>
                  <a:srgbClr val="33CC33"/>
                </a:solidFill>
              </a:rPr>
              <a:t>Grazing of domestic animals, all private rights and forestry activities </a:t>
            </a:r>
            <a:r>
              <a:rPr lang="en-US" sz="2000" dirty="0" smtClean="0"/>
              <a:t>are prohibited</a:t>
            </a:r>
          </a:p>
          <a:p>
            <a:r>
              <a:rPr lang="en-US" sz="2000" dirty="0" smtClean="0"/>
              <a:t>. conservation specifically of some </a:t>
            </a:r>
            <a:r>
              <a:rPr lang="en-US" sz="2000" dirty="0" smtClean="0">
                <a:solidFill>
                  <a:srgbClr val="FF3300"/>
                </a:solidFill>
              </a:rPr>
              <a:t>particular species of  wildlife along with </a:t>
            </a:r>
            <a:r>
              <a:rPr lang="en-US" sz="2000" dirty="0" smtClean="0"/>
              <a:t>others. </a:t>
            </a:r>
            <a:endParaRPr lang="en-US" sz="2000" dirty="0"/>
          </a:p>
        </p:txBody>
      </p:sp>
      <p:sp>
        <p:nvSpPr>
          <p:cNvPr id="8" name="Rectangle 7"/>
          <p:cNvSpPr/>
          <p:nvPr/>
        </p:nvSpPr>
        <p:spPr>
          <a:xfrm>
            <a:off x="152400" y="1143000"/>
            <a:ext cx="6400800" cy="1015663"/>
          </a:xfrm>
          <a:prstGeom prst="rect">
            <a:avLst/>
          </a:prstGeom>
        </p:spPr>
        <p:txBody>
          <a:bodyPr wrap="square">
            <a:spAutoFit/>
          </a:bodyPr>
          <a:lstStyle/>
          <a:p>
            <a:pPr algn="just"/>
            <a:r>
              <a:rPr lang="en-US" sz="2000" dirty="0" smtClean="0"/>
              <a:t>A  National  Park  is  an  area  dedicated  for  the  conservation  of wildlife  along  with  its  environment facilitate truism </a:t>
            </a:r>
            <a:endParaRPr lang="en-US" sz="2000" dirty="0"/>
          </a:p>
        </p:txBody>
      </p:sp>
      <p:sp>
        <p:nvSpPr>
          <p:cNvPr id="9" name="Rectangle 8"/>
          <p:cNvSpPr/>
          <p:nvPr/>
        </p:nvSpPr>
        <p:spPr>
          <a:xfrm>
            <a:off x="7010400" y="3200400"/>
            <a:ext cx="1676400" cy="2585323"/>
          </a:xfrm>
          <a:prstGeom prst="rect">
            <a:avLst/>
          </a:prstGeom>
          <a:solidFill>
            <a:schemeClr val="accent4">
              <a:lumMod val="20000"/>
              <a:lumOff val="80000"/>
            </a:schemeClr>
          </a:solidFill>
        </p:spPr>
        <p:txBody>
          <a:bodyPr wrap="square">
            <a:spAutoFit/>
          </a:bodyPr>
          <a:lstStyle/>
          <a:p>
            <a:pPr algn="just"/>
            <a:r>
              <a:rPr lang="en-US" dirty="0" smtClean="0"/>
              <a:t>India’s first national park was established  in 1936 as Hailey National Park, now known as Jim Corbett National Park.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15400" cy="3200400"/>
          </a:xfrm>
        </p:spPr>
        <p:txBody>
          <a:bodyPr>
            <a:normAutofit fontScale="92500" lnSpcReduction="20000"/>
          </a:bodyPr>
          <a:lstStyle/>
          <a:p>
            <a:pPr lvl="0" algn="just"/>
            <a:endParaRPr lang="en-US" dirty="0" smtClean="0"/>
          </a:p>
          <a:p>
            <a:pPr lvl="0" algn="ctr">
              <a:buNone/>
            </a:pPr>
            <a:r>
              <a:rPr lang="en-US" sz="4500" b="1" dirty="0" smtClean="0"/>
              <a:t>Wildlife  sanctuary</a:t>
            </a:r>
          </a:p>
          <a:p>
            <a:pPr lvl="0" algn="just">
              <a:buNone/>
            </a:pPr>
            <a:r>
              <a:rPr lang="en-US" sz="2200" dirty="0" smtClean="0">
                <a:latin typeface="Arial" pitchFamily="34" charset="0"/>
                <a:cs typeface="Arial" pitchFamily="34" charset="0"/>
              </a:rPr>
              <a:t>The   Indian  Board for  Wild   Life  has   defined a  sanctuary as,   'An area  where </a:t>
            </a:r>
            <a:r>
              <a:rPr lang="en-US" sz="2200" dirty="0" smtClean="0">
                <a:solidFill>
                  <a:srgbClr val="AD23AD"/>
                </a:solidFill>
                <a:latin typeface="Arial" pitchFamily="34" charset="0"/>
                <a:cs typeface="Arial" pitchFamily="34" charset="0"/>
              </a:rPr>
              <a:t>killing, hunting, shooting or  capturing of  any   </a:t>
            </a:r>
            <a:r>
              <a:rPr lang="en-US" sz="2200" dirty="0" smtClean="0">
                <a:latin typeface="Arial" pitchFamily="34" charset="0"/>
                <a:cs typeface="Arial" pitchFamily="34" charset="0"/>
              </a:rPr>
              <a:t>species of  bird   or  animal is  </a:t>
            </a:r>
            <a:r>
              <a:rPr lang="en-US" sz="2200" dirty="0" smtClean="0">
                <a:solidFill>
                  <a:srgbClr val="AD23AD"/>
                </a:solidFill>
                <a:latin typeface="Arial" pitchFamily="34" charset="0"/>
                <a:cs typeface="Arial" pitchFamily="34" charset="0"/>
              </a:rPr>
              <a:t>prohibited </a:t>
            </a:r>
            <a:r>
              <a:rPr lang="en-US" sz="2200" dirty="0" smtClean="0">
                <a:latin typeface="Arial" pitchFamily="34" charset="0"/>
                <a:cs typeface="Arial" pitchFamily="34" charset="0"/>
              </a:rPr>
              <a:t> except by  or under the   control of  highest authority in  the   department  responsible for  the   management of the  sanctuary and  whose  boundaries and  character should be very important as  far  as  possible.</a:t>
            </a:r>
          </a:p>
          <a:p>
            <a:pPr>
              <a:buNone/>
            </a:pPr>
            <a:r>
              <a:rPr lang="en-US" b="1" dirty="0" smtClean="0"/>
              <a:t> </a:t>
            </a:r>
          </a:p>
          <a:p>
            <a:endParaRPr lang="en-US" b="1" dirty="0" smtClean="0"/>
          </a:p>
        </p:txBody>
      </p:sp>
      <p:pic>
        <p:nvPicPr>
          <p:cNvPr id="6146" name="Picture 2"/>
          <p:cNvPicPr>
            <a:picLocks noChangeAspect="1" noChangeArrowheads="1"/>
          </p:cNvPicPr>
          <p:nvPr/>
        </p:nvPicPr>
        <p:blipFill>
          <a:blip r:embed="rId2"/>
          <a:srcRect/>
          <a:stretch>
            <a:fillRect/>
          </a:stretch>
        </p:blipFill>
        <p:spPr bwMode="auto">
          <a:xfrm>
            <a:off x="0" y="2490413"/>
            <a:ext cx="6172200" cy="4367587"/>
          </a:xfrm>
          <a:prstGeom prst="rect">
            <a:avLst/>
          </a:prstGeom>
          <a:noFill/>
          <a:ln w="9525">
            <a:noFill/>
            <a:miter lim="800000"/>
            <a:headEnd/>
            <a:tailEnd/>
          </a:ln>
          <a:effectLst/>
        </p:spPr>
      </p:pic>
      <p:sp>
        <p:nvSpPr>
          <p:cNvPr id="4" name="Rectangle 3"/>
          <p:cNvSpPr/>
          <p:nvPr/>
        </p:nvSpPr>
        <p:spPr>
          <a:xfrm>
            <a:off x="6324600" y="2819400"/>
            <a:ext cx="2819400" cy="1754326"/>
          </a:xfrm>
          <a:prstGeom prst="rect">
            <a:avLst/>
          </a:prstGeom>
          <a:solidFill>
            <a:schemeClr val="accent6">
              <a:lumMod val="20000"/>
              <a:lumOff val="80000"/>
            </a:schemeClr>
          </a:solidFill>
        </p:spPr>
        <p:txBody>
          <a:bodyPr wrap="square">
            <a:spAutoFit/>
          </a:bodyPr>
          <a:lstStyle/>
          <a:p>
            <a:pPr algn="just"/>
            <a:r>
              <a:rPr lang="en-US" dirty="0" smtClean="0">
                <a:solidFill>
                  <a:srgbClr val="AD23AD"/>
                </a:solidFill>
              </a:rPr>
              <a:t>Private ownership </a:t>
            </a:r>
            <a:r>
              <a:rPr lang="en-US" dirty="0" smtClean="0"/>
              <a:t>rights are permissible and forestry operations are also permitted to an extent that they do not affect the wildlife adversely</a:t>
            </a:r>
            <a:endParaRPr lang="en-US" dirty="0"/>
          </a:p>
        </p:txBody>
      </p:sp>
      <p:sp>
        <p:nvSpPr>
          <p:cNvPr id="5" name="Rectangle 4"/>
          <p:cNvSpPr/>
          <p:nvPr/>
        </p:nvSpPr>
        <p:spPr>
          <a:xfrm>
            <a:off x="228600" y="2209800"/>
            <a:ext cx="5943600" cy="369332"/>
          </a:xfrm>
          <a:prstGeom prst="rect">
            <a:avLst/>
          </a:prstGeom>
        </p:spPr>
        <p:txBody>
          <a:bodyPr wrap="square">
            <a:spAutoFit/>
          </a:bodyPr>
          <a:lstStyle/>
          <a:p>
            <a:r>
              <a:rPr lang="en-US" dirty="0" smtClean="0">
                <a:solidFill>
                  <a:srgbClr val="FF3300"/>
                </a:solidFill>
              </a:rPr>
              <a:t>Some major wildlife sanctuaries of our country</a:t>
            </a:r>
            <a:endParaRPr lang="en-US" dirty="0">
              <a:solidFill>
                <a:srgbClr val="FF33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228600"/>
            <a:ext cx="3505200" cy="1143000"/>
          </a:xfrm>
        </p:spPr>
        <p:txBody>
          <a:bodyPr/>
          <a:lstStyle/>
          <a:p>
            <a:r>
              <a:rPr lang="en-US" dirty="0" smtClean="0">
                <a:solidFill>
                  <a:srgbClr val="FF3300"/>
                </a:solidFill>
              </a:rPr>
              <a:t>Sanctuary</a:t>
            </a:r>
            <a:endParaRPr lang="en-US" dirty="0">
              <a:solidFill>
                <a:srgbClr val="FF3300"/>
              </a:solidFill>
            </a:endParaRPr>
          </a:p>
        </p:txBody>
      </p:sp>
      <p:sp>
        <p:nvSpPr>
          <p:cNvPr id="3" name="Content Placeholder 2"/>
          <p:cNvSpPr>
            <a:spLocks noGrp="1"/>
          </p:cNvSpPr>
          <p:nvPr>
            <p:ph idx="1"/>
          </p:nvPr>
        </p:nvSpPr>
        <p:spPr>
          <a:xfrm>
            <a:off x="228600" y="1752600"/>
            <a:ext cx="8763000" cy="4389120"/>
          </a:xfrm>
        </p:spPr>
        <p:txBody>
          <a:bodyPr>
            <a:normAutofit/>
          </a:bodyPr>
          <a:lstStyle/>
          <a:p>
            <a:r>
              <a:rPr lang="en-US" b="1" dirty="0" smtClean="0">
                <a:solidFill>
                  <a:srgbClr val="AD23AD"/>
                </a:solidFill>
              </a:rPr>
              <a:t>For plants, </a:t>
            </a:r>
            <a:r>
              <a:rPr lang="en-US" dirty="0" smtClean="0"/>
              <a:t>there is one gene sanctuary for </a:t>
            </a:r>
            <a:r>
              <a:rPr lang="en-US" dirty="0" smtClean="0">
                <a:solidFill>
                  <a:schemeClr val="accent3">
                    <a:lumMod val="75000"/>
                  </a:schemeClr>
                </a:solidFill>
              </a:rPr>
              <a:t>Citrus </a:t>
            </a:r>
            <a:r>
              <a:rPr lang="en-US" dirty="0" smtClean="0"/>
              <a:t>(Lemon family) and one for </a:t>
            </a:r>
            <a:r>
              <a:rPr lang="en-US" dirty="0" smtClean="0">
                <a:solidFill>
                  <a:schemeClr val="accent3">
                    <a:lumMod val="75000"/>
                  </a:schemeClr>
                </a:solidFill>
              </a:rPr>
              <a:t>pitcher plant </a:t>
            </a:r>
            <a:r>
              <a:rPr lang="en-US" dirty="0" smtClean="0"/>
              <a:t>(an insect eating plant) in Northeast India.</a:t>
            </a:r>
          </a:p>
          <a:p>
            <a:r>
              <a:rPr lang="en-US" dirty="0" smtClean="0">
                <a:solidFill>
                  <a:srgbClr val="FF3300"/>
                </a:solidFill>
              </a:rPr>
              <a:t>Project for the protection and conservation of certain animals, e.g. </a:t>
            </a:r>
          </a:p>
          <a:p>
            <a:r>
              <a:rPr lang="en-US" dirty="0" smtClean="0"/>
              <a:t>Project Tiger, </a:t>
            </a:r>
            <a:r>
              <a:rPr lang="en-US" dirty="0" err="1" smtClean="0"/>
              <a:t>Gir</a:t>
            </a:r>
            <a:r>
              <a:rPr lang="en-US" dirty="0" smtClean="0"/>
              <a:t> Lion Project,</a:t>
            </a:r>
          </a:p>
          <a:p>
            <a:r>
              <a:rPr lang="en-US" dirty="0" smtClean="0"/>
              <a:t>Crocodile Breeding Project, </a:t>
            </a:r>
          </a:p>
          <a:p>
            <a:r>
              <a:rPr lang="en-US" dirty="0" smtClean="0"/>
              <a:t>Project Elephant,</a:t>
            </a:r>
          </a:p>
          <a:p>
            <a:r>
              <a:rPr lang="en-US" dirty="0" smtClean="0"/>
              <a:t> Snow Leopard Project</a:t>
            </a:r>
            <a:endParaRPr lang="en-US" dirty="0"/>
          </a:p>
        </p:txBody>
      </p:sp>
      <p:pic>
        <p:nvPicPr>
          <p:cNvPr id="4" name="Picture 3" descr="C:\Users\NARESH\Desktop\Environmental study part 2 AKV\BIODIVERSITY PPT\ppt-of-biodiversity-17-1024.jpg"/>
          <p:cNvPicPr>
            <a:picLocks noChangeAspect="1" noChangeArrowheads="1"/>
          </p:cNvPicPr>
          <p:nvPr/>
        </p:nvPicPr>
        <p:blipFill>
          <a:blip r:embed="rId2"/>
          <a:srcRect l="70313" t="20313" b="43750"/>
          <a:stretch>
            <a:fillRect/>
          </a:stretch>
        </p:blipFill>
        <p:spPr bwMode="auto">
          <a:xfrm>
            <a:off x="4928616" y="3657600"/>
            <a:ext cx="4145280" cy="304800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764024"/>
            <a:ext cx="8610600" cy="6093976"/>
          </a:xfrm>
          <a:prstGeom prst="rect">
            <a:avLst/>
          </a:prstGeom>
          <a:noFill/>
        </p:spPr>
        <p:txBody>
          <a:bodyPr wrap="square" rtlCol="0">
            <a:spAutoFit/>
          </a:bodyPr>
          <a:lstStyle/>
          <a:p>
            <a:pPr algn="ctr"/>
            <a:r>
              <a:rPr lang="en-US" sz="3600" b="1" dirty="0">
                <a:solidFill>
                  <a:srgbClr val="FF3300"/>
                </a:solidFill>
              </a:rPr>
              <a:t>Ex- </a:t>
            </a:r>
            <a:r>
              <a:rPr lang="en-US" sz="3600" b="1" dirty="0" smtClean="0">
                <a:solidFill>
                  <a:srgbClr val="FF3300"/>
                </a:solidFill>
              </a:rPr>
              <a:t>Situ conservation</a:t>
            </a:r>
            <a:endParaRPr lang="en-US" sz="3600" dirty="0">
              <a:solidFill>
                <a:srgbClr val="FF3300"/>
              </a:solidFill>
            </a:endParaRPr>
          </a:p>
          <a:p>
            <a:pPr lvl="0" algn="just"/>
            <a:r>
              <a:rPr lang="en-US" sz="2400" dirty="0"/>
              <a:t>It is defined as “the conservation of component of biological diversity (Sample of </a:t>
            </a:r>
            <a:r>
              <a:rPr lang="en-US" sz="2400" dirty="0">
                <a:solidFill>
                  <a:srgbClr val="33CC33"/>
                </a:solidFill>
              </a:rPr>
              <a:t>genetic diversity, particularly of endangered species) outside their natural habitats</a:t>
            </a:r>
            <a:r>
              <a:rPr lang="en-US" sz="2400" dirty="0" smtClean="0"/>
              <a:t>”.</a:t>
            </a:r>
          </a:p>
          <a:p>
            <a:pPr marL="457200" lvl="0" indent="-457200" algn="just">
              <a:buAutoNum type="arabicPeriod"/>
            </a:pPr>
            <a:r>
              <a:rPr lang="en-US" sz="2400" dirty="0" smtClean="0">
                <a:solidFill>
                  <a:srgbClr val="AD23AD"/>
                </a:solidFill>
              </a:rPr>
              <a:t>Botanical/ zoological gardens, aquarium and research centre.</a:t>
            </a:r>
          </a:p>
          <a:p>
            <a:pPr marL="400050" indent="-400050">
              <a:buAutoNum type="romanLcParenBoth"/>
            </a:pPr>
            <a:r>
              <a:rPr lang="en-US" dirty="0" smtClean="0"/>
              <a:t>	There are more than 1500 Botanical gardens in the world containing 	more than 	80,000 species. There are more than 800 zoos around the world with about 	3,000 species of mammals, birds, reptiles and amphibians.</a:t>
            </a:r>
            <a:r>
              <a:rPr lang="en-US" b="1" dirty="0" smtClean="0">
                <a:solidFill>
                  <a:srgbClr val="00B0F0"/>
                </a:solidFill>
              </a:rPr>
              <a:t> </a:t>
            </a:r>
          </a:p>
          <a:p>
            <a:pPr marL="400050" indent="-400050">
              <a:buAutoNum type="romanLcParenBoth"/>
            </a:pPr>
            <a:r>
              <a:rPr lang="en-US" b="1" dirty="0" smtClean="0">
                <a:solidFill>
                  <a:srgbClr val="00B0F0"/>
                </a:solidFill>
              </a:rPr>
              <a:t>National Bureau of Plant Genetic Resources (NBPGR)</a:t>
            </a:r>
            <a:r>
              <a:rPr lang="en-US" dirty="0" smtClean="0">
                <a:solidFill>
                  <a:srgbClr val="00B0F0"/>
                </a:solidFill>
              </a:rPr>
              <a:t> </a:t>
            </a:r>
            <a:r>
              <a:rPr lang="en-US" dirty="0" smtClean="0"/>
              <a:t>New Delhi. Here agricultural and horticultural crops and their wild relatives are preserved by </a:t>
            </a:r>
            <a:r>
              <a:rPr lang="en-US" dirty="0" err="1" smtClean="0"/>
              <a:t>cryo</a:t>
            </a:r>
            <a:r>
              <a:rPr lang="en-US" dirty="0" smtClean="0"/>
              <a:t>-preservation of </a:t>
            </a:r>
            <a:r>
              <a:rPr lang="en-US" dirty="0" smtClean="0">
                <a:solidFill>
                  <a:srgbClr val="AD23AD"/>
                </a:solidFill>
              </a:rPr>
              <a:t>seeds, pollen etc. by using liquid nitrogen </a:t>
            </a:r>
            <a:r>
              <a:rPr lang="en-US" dirty="0" smtClean="0"/>
              <a:t>at a temperature as low as -196°C. </a:t>
            </a:r>
          </a:p>
          <a:p>
            <a:r>
              <a:rPr lang="en-US" dirty="0" smtClean="0"/>
              <a:t>(iii) </a:t>
            </a:r>
            <a:r>
              <a:rPr lang="en-US" b="1" dirty="0" smtClean="0">
                <a:solidFill>
                  <a:srgbClr val="00B0F0"/>
                </a:solidFill>
              </a:rPr>
              <a:t>National Bureau of Animal Genetic Resources (NBAGR)</a:t>
            </a:r>
            <a:r>
              <a:rPr lang="en-US" b="1" dirty="0" smtClean="0"/>
              <a:t> </a:t>
            </a:r>
            <a:r>
              <a:rPr lang="en-US" dirty="0" err="1" smtClean="0"/>
              <a:t>Karnal</a:t>
            </a:r>
            <a:r>
              <a:rPr lang="en-US" dirty="0" smtClean="0"/>
              <a:t>, Haryana. It preserves the </a:t>
            </a:r>
            <a:r>
              <a:rPr lang="en-US" dirty="0" smtClean="0">
                <a:solidFill>
                  <a:srgbClr val="AD23AD"/>
                </a:solidFill>
              </a:rPr>
              <a:t>semen of domesticated bovine </a:t>
            </a:r>
            <a:r>
              <a:rPr lang="en-US" dirty="0" smtClean="0"/>
              <a:t>animals.</a:t>
            </a:r>
          </a:p>
          <a:p>
            <a:r>
              <a:rPr lang="en-US" dirty="0" smtClean="0"/>
              <a:t>(iv) </a:t>
            </a:r>
            <a:r>
              <a:rPr lang="en-US" b="1" dirty="0" smtClean="0">
                <a:solidFill>
                  <a:srgbClr val="00B0F0"/>
                </a:solidFill>
              </a:rPr>
              <a:t>National Facility for Plant Tissue Culture Repository (NFPTCR) </a:t>
            </a:r>
            <a:r>
              <a:rPr lang="en-US" dirty="0" smtClean="0"/>
              <a:t>for the development of a facility of conservation of varieties of crop plants/trees by tissue culture. </a:t>
            </a:r>
          </a:p>
        </p:txBody>
      </p:sp>
      <p:pic>
        <p:nvPicPr>
          <p:cNvPr id="3" name="Picture 2" descr="C:\Users\NARESH\Desktop\Environmental study part 2 AKV\BIODIVERSITY PPT\ppt-of-biodiversity-17-1024.jpg"/>
          <p:cNvPicPr>
            <a:picLocks noChangeAspect="1" noChangeArrowheads="1"/>
          </p:cNvPicPr>
          <p:nvPr/>
        </p:nvPicPr>
        <p:blipFill>
          <a:blip r:embed="rId2"/>
          <a:srcRect l="3516" t="56250" r="48047" b="3125"/>
          <a:stretch>
            <a:fillRect/>
          </a:stretch>
        </p:blipFill>
        <p:spPr bwMode="auto">
          <a:xfrm>
            <a:off x="6947767" y="0"/>
            <a:ext cx="2196233" cy="1381699"/>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endParaRPr lang="en-US" b="1" i="1" dirty="0" smtClean="0">
              <a:solidFill>
                <a:srgbClr val="00B050"/>
              </a:solidFill>
            </a:endParaRPr>
          </a:p>
          <a:p>
            <a:pPr algn="ctr">
              <a:buNone/>
            </a:pPr>
            <a:endParaRPr lang="en-US" b="1" i="1" dirty="0" smtClean="0">
              <a:solidFill>
                <a:srgbClr val="00B050"/>
              </a:solidFill>
            </a:endParaRPr>
          </a:p>
          <a:p>
            <a:pPr algn="ctr">
              <a:buNone/>
            </a:pPr>
            <a:endParaRPr lang="en-US" b="1" i="1" dirty="0" smtClean="0">
              <a:solidFill>
                <a:srgbClr val="00B050"/>
              </a:solidFill>
            </a:endParaRPr>
          </a:p>
          <a:p>
            <a:pPr algn="ctr">
              <a:buNone/>
            </a:pPr>
            <a:r>
              <a:rPr lang="en-US" sz="4000" b="1" i="1" dirty="0" smtClean="0">
                <a:solidFill>
                  <a:srgbClr val="00B050"/>
                </a:solidFill>
              </a:rPr>
              <a:t>Thank You</a:t>
            </a:r>
            <a:endParaRPr lang="en-US" sz="4000" b="1" i="1" dirty="0">
              <a:solidFill>
                <a:srgbClr val="00B050"/>
              </a:solidFill>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1438</TotalTime>
  <Words>1260</Words>
  <Application>Microsoft Office PowerPoint</Application>
  <PresentationFormat>On-screen Show (4:3)</PresentationFormat>
  <Paragraphs>170</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CONSERVATION OF BIODIVERSITY </vt:lpstr>
      <vt:lpstr>PowerPoint Presentation</vt:lpstr>
      <vt:lpstr>PowerPoint Presentation</vt:lpstr>
      <vt:lpstr>PowerPoint Presentation</vt:lpstr>
      <vt:lpstr>PowerPoint Presentation</vt:lpstr>
      <vt:lpstr>Sanctuary</vt:lpstr>
      <vt:lpstr>PowerPoint Presentation</vt:lpstr>
      <vt:lpstr>PowerPoint Presentation</vt:lpstr>
    </vt:vector>
  </TitlesOfParts>
  <Company>QUALITY ANALYTICS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BIODIVERSITY</dc:title>
  <dc:creator>Sudeesh</dc:creator>
  <cp:lastModifiedBy>user</cp:lastModifiedBy>
  <cp:revision>172</cp:revision>
  <cp:lastPrinted>2024-09-19T13:02:15Z</cp:lastPrinted>
  <dcterms:created xsi:type="dcterms:W3CDTF">2013-11-24T16:54:36Z</dcterms:created>
  <dcterms:modified xsi:type="dcterms:W3CDTF">2025-08-30T09:18:07Z</dcterms:modified>
</cp:coreProperties>
</file>